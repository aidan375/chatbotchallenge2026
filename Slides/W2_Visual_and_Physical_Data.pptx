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87" r:id="rId38"/>
    <p:sldId id="263" r:id="rId9"/>
    <p:sldId id="264" r:id="rId10"/>
    <p:sldId id="265" r:id="rId11"/>
    <p:sldId id="266" r:id="rId12"/>
    <p:sldId id="267" r:id="rId13"/>
    <p:sldId id="268" r:id="rId14"/>
    <p:sldId id="269" r:id="rId15"/>
    <p:sldId id="270" r:id="rId16"/>
    <p:sldId id="271" r:id="rId17"/>
    <p:sldId id="272" r:id="rId18"/>
    <p:sldId id="273" r:id="rId19"/>
    <p:sldId id="275" r:id="rId21"/>
    <p:sldId id="276" r:id="rId22"/>
    <p:sldId id="274" r:id="rId20"/>
    <p:sldId id="288" r:id="rId39"/>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  <Relationship Id="rId38" Type="http://schemas.openxmlformats.org/officeDocument/2006/relationships/slide" Target="slides/slide32.xml"/>
  <Relationship Id="rId39" Type="http://schemas.openxmlformats.org/officeDocument/2006/relationships/slide" Target="slides/slide33.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Before start / 1 min</a:t>
            </a:r>
          </a:p>
          <a:p>
            <a:r>
              <a:rPr lang="en-US" dirty="0" i="1"/>
              <a:t>Facilitator note: Three of the five blocks are labs. Teams should have their own bots running. If a team has nothing working, put them with a mentor in block 1 rather than letting them watch.</a:t>
            </a:r>
          </a:p>
          <a:p>
            <a:r>
              <a:rPr lang="en-US" dirty="0"/>
              <a:t>Okay, let's get started. Welcome back.</a:t>
            </a:r>
          </a:p>
          <a:p>
            <a:r>
              <a:rPr lang="en-US" dirty="0"/>
              <a:t>Two weeks ago, in Workshop 1, we built the basic loop: scrape, chunk, embed, retrieve, answer, then score it against the fifteen dev questions. The homework for the 23rd was your own scraper on both websites and a bot scoring above zero on Levels 1 and 2. Most of you should be there now.</a:t>
            </a:r>
          </a:p>
          <a:p>
            <a:r>
              <a:rPr lang="en-US" dirty="0"/>
              <a:t>Today is about the three levels that loop can't do on its own. Level 3 is answers that only exist inside images. Level 4 is questions where the answer isn't written down anywhere, so your bot has to put it together. Level 5 is data that isn't online at all. You collect it yourselves, in this building.</a:t>
            </a:r>
          </a:p>
          <a:p>
            <a:r>
              <a:rPr lang="en-US" dirty="0"/>
              <a:t>Same format as last time. Five blocks, ninety minutes, and three of the blocks are labs, so keep your laptops open and your bot ready to run. If your team has nothing running right now, put your hand up and a mentor will sit with you. The labs assume you can run your bot and get a score. After this there's a thirty-minute open lab, same as last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2 min</a:t>
            </a:r>
          </a:p>
          <a:p>
            <a:r>
              <a:rPr lang="en-US" dirty="0"/>
              <a:t>Here's why today matters for your score.</a:t>
            </a:r>
          </a:p>
          <a:p>
            <a:r>
              <a:rPr lang="en-US" dirty="0" i="1"/>
              <a:t>[Point at each column.]</a:t>
            </a:r>
            <a:r>
              <a:rPr lang="en-US" dirty="0"/>
              <a:t xml:space="preserve"> Level 3, visual retrieval, is 40% of the preliminary round. That's blocks 2 and 3. Level 4, reasoning, is about 30% of the final. That's block 4. Level 5, the physical world, is about 40% of the final. Most of that happens in your own time. We'll just set it up in block 5.</a:t>
            </a:r>
          </a:p>
          <a:p>
            <a:r>
              <a:rPr lang="en-US" dirty="0"/>
              <a:t>Look at the line at the bottom. If your bot only handles Levels 1 and 2, which is roughly where Workshop 1 left you, you're capped at 60% of the preliminary and you get nothing in the final. So what you built last time is the base. It isn't enough by itself. Today covers the other three levels.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BLOCK 1: 15 min total</a:t>
            </a:r>
          </a:p>
          <a:p>
            <a:r>
              <a:rPr lang="en-US" dirty="0"/>
              <a:t>Block 1. Fifteen minutes, and it's mostly you talking.</a:t>
            </a:r>
          </a:p>
          <a:p>
            <a:r>
              <a:rPr lang="en-US" dirty="0"/>
              <a:t>The homework due today was to get your bot answering questions where the answer is only in an image. We gave you no method and said we didn't expect it to work. So this block is about what you tried and where it broke.</a:t>
            </a:r>
          </a:p>
          <a:p>
            <a:r>
              <a:rPr lang="en-US" dirty="0"/>
              <a:t>First, everyone posts a score for each level. Then three teams report back.</a:t>
            </a:r>
          </a:p>
          <a:p>
            <a:r>
              <a:rPr lang="en-US" dirty="0" i="1"/>
              <a:t>[Share the scoreboard link or sheet. Give teams about 3 minutes to fill in their row.]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~12 min</a:t>
            </a:r>
          </a:p>
          <a:p>
            <a:r>
              <a:rPr lang="en-US" dirty="0" i="1"/>
              <a:t>Facilitator note: Pick the three teams during the break beforehand, not on the spot. Choose one that got something working and two that failed differently.</a:t>
            </a:r>
          </a:p>
          <a:p>
            <a:r>
              <a:rPr lang="en-US" dirty="0" i="1"/>
              <a:t>[The dotted rows are placeholders. Replace them with the real sheet, or show the live sheet instead.]</a:t>
            </a:r>
          </a:p>
          <a:p>
            <a:r>
              <a:rPr lang="en-US" dirty="0"/>
              <a:t>Take two or three minutes. If you haven't run the dev set today, run it now and fill in your row, one score per level.</a:t>
            </a:r>
          </a:p>
          <a:p>
            <a:r>
              <a:rPr lang="en-US" dirty="0" i="1"/>
              <a:t>[When most rows are in:]</a:t>
            </a:r>
            <a:r>
              <a:rPr lang="en-US" dirty="0"/>
              <a:t xml:space="preserve"> Look at the Level 3 column. Mostly zeros. That's what we expected. The homework asked you to try something we hadn't taught, so zero here doesn't mean you did anything wrong. It's where block 2 starts.</a:t>
            </a:r>
          </a:p>
          <a:p>
            <a:r>
              <a:rPr lang="en-US" dirty="0"/>
              <a:t xml:space="preserve">Now three teams, two minutes each. </a:t>
            </a:r>
            <a:r>
              <a:rPr lang="en-US" dirty="0" i="1"/>
              <a:t>[Call the three teams you picked.]</a:t>
            </a:r>
            <a:r>
              <a:rPr lang="en-US" dirty="0"/>
              <a:t xml:space="preserve"> I want three things from you. What approach did you take with the images? Where exactly did it break? And what did the score do? Tell us what you actually tried and what happened, not what you were planning to build. The point where it broke is the useful part.</a:t>
            </a:r>
          </a:p>
          <a:p>
            <a:r>
              <a:rPr lang="en-US" dirty="0" i="1"/>
              <a:t>[After each team, sum it up in one line and write it on the board, e.g. "so the scraper never saved the images", or "you had the URLs but nothing turned them into text". You'll map these onto the three columns on slide 7.]</a:t>
            </a:r>
          </a:p>
          <a:p>
            <a:r>
              <a:rPr lang="en-US" dirty="0"/>
              <a:t>Thanks, all three of you. Keep those failure points in mind, because we're about to sort everyone's into three kinds.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BLOCK 2: 25 min total</a:t>
            </a:r>
          </a:p>
          <a:p>
            <a:r>
              <a:rPr lang="en-US" dirty="0"/>
              <a:t>Block 2, twenty-five minutes. Diagnosing image failures.</a:t>
            </a:r>
          </a:p>
          <a:p>
            <a:r>
              <a:rPr lang="en-US" dirty="0"/>
              <a:t>We just heard three ways it breaks. First, one slide on what a vision model actually does, because it explains a couple of the failures. Then you'll go through your own wrong Level 3 answers and work out why each one failed. After that we look at the two fixes: collecting the images properly, and describing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2 min, keep it short</a:t>
            </a:r>
          </a:p>
          <a:p>
            <a:r>
              <a:rPr lang="en-US" dirty="0" i="1"/>
              <a:t>Facilitator note: Keep this to a gloss. It exists so the verbatim instruction in block 3 and the OCR suggestion both make sense rather than sounding arbitrary.</a:t>
            </a:r>
          </a:p>
          <a:p>
            <a:r>
              <a:rPr lang="en-US" dirty="0"/>
              <a:t>Quick bit of theory. Last time we said a language model predicts the next token. A vision model is the same thing with one step added at the front.</a:t>
            </a:r>
          </a:p>
          <a:p>
            <a:r>
              <a:rPr lang="en-US" dirty="0" i="1"/>
              <a:t>[Walk left to right.]</a:t>
            </a:r>
            <a:r>
              <a:rPr lang="en-US" dirty="0"/>
              <a:t xml:space="preserve"> One: the photo is cut into a grid of patches. This is the brainstorming area, cut 12 by 9, and the red square is one patch. Two: every patch becomes a vector, so this photo is 108 vectors. Three: those vectors go through the same transformer that handles text, treated like tokens. There is no separate part that reads text. Four: it generates text word by word. What you see on the right is what gpt-5-mini actually wrote about this photo.</a:t>
            </a:r>
          </a:p>
          <a:p>
            <a:r>
              <a:rPr lang="en-US" dirty="0"/>
              <a:t xml:space="preserve">Two consequences. </a:t>
            </a:r>
            <a:r>
              <a:rPr lang="en-US" dirty="0" i="1"/>
              <a:t>[Left card.]</a:t>
            </a:r>
            <a:r>
              <a:rPr lang="en-US" dirty="0"/>
              <a:t xml:space="preserve"> The description is a prediction, with everything we said about hallucination in Workshop 1. In our own test run it read a screen that says Building RAG with Image Data as Building PAG.</a:t>
            </a:r>
          </a:p>
          <a:p>
            <a:r>
              <a:rPr lang="en-US" dirty="0" i="1"/>
              <a:t>[Right card.]</a:t>
            </a:r>
            <a:r>
              <a:rPr lang="en-US" dirty="0"/>
              <a:t xml:space="preserve"> And anything smaller than a patch can't be read. Left is what the camera saw. Right is roughly what's left once the image is shrunk to fit. The slide title survives, the small print doesn't. That's why tiling comes up later.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3 min + lab</a:t>
            </a:r>
          </a:p>
          <a:p>
            <a:r>
              <a:rPr lang="en-US" dirty="0"/>
              <a:t>So why did Level 3 score zero, not just low? Because when the answer is only in an image, nothing from Workshop 1 reaches it. It breaks in one of three places, and each needs a different fix.</a:t>
            </a:r>
          </a:p>
          <a:p>
            <a:r>
              <a:rPr lang="en-US" dirty="0" i="1"/>
              <a:t>[Column A.]</a:t>
            </a:r>
            <a:r>
              <a:rPr lang="en-US" dirty="0"/>
              <a:t xml:space="preserve"> Never collected. Here's a page: a heading and an img tag with the winners. Run get_text on it and you get the heading. The image is gone, and the winners' names with it.</a:t>
            </a:r>
          </a:p>
          <a:p>
            <a:r>
              <a:rPr lang="en-US" dirty="0" i="1"/>
              <a:t>[Column B.]</a:t>
            </a:r>
            <a:r>
              <a:rPr lang="en-US" dirty="0"/>
              <a:t xml:space="preserve"> Never described. This is a real record from lab 3's scraper, a poster from the Inno Wing page. We have the URL, and the alt text is empty. A URL means nothing to the embedding model, so there's nothing for a question to match.</a:t>
            </a:r>
          </a:p>
          <a:p>
            <a:r>
              <a:rPr lang="en-US" dirty="0" i="1"/>
              <a:t>[Column C.]</a:t>
            </a:r>
            <a:r>
              <a:rPr lang="en-US" dirty="0"/>
              <a:t xml:space="preserve"> Described badly. This is the makerspace, and this is what the model wrote: large open lab, wooden worktables, people on laptops. Reads fine. Now ask how many tables are in Makerspace A. It never counted them.</a:t>
            </a:r>
          </a:p>
          <a:p>
            <a:r>
              <a:rPr lang="en-US" dirty="0" i="1"/>
              <a:t>[Lab transition.]</a:t>
            </a:r>
            <a:r>
              <a:rPr lang="en-US" dirty="0"/>
              <a:t xml:space="preserve"> That's the lab. Take every Level 3 question your bot gets wrong and put it in a column. Check it the same way as the retrieval lab: retrieve, print the chunks, look. Is the image in your data? Is there a description? Does it contain the answer? Fix in order A, B, C, because a better description is useless for an image you never collected.</a:t>
            </a:r>
          </a:p>
          <a:p>
            <a:r>
              <a:rPr lang="en-US" dirty="0" i="1"/>
              <a:t>[Before sending them off, show slide 8. It takes two minutes and gives them something concrete to compare against.]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2 min</a:t>
            </a:r>
          </a:p>
          <a:p>
            <a:r>
              <a:rPr lang="en-US" dirty="0"/>
              <a:t>Column A: collecting. This is the actual code from build/scrape.py in your repo, the extract function. For every img tag it keeps four things: the full src, the alt text, the figcaption, and the page it came from.</a:t>
            </a:r>
          </a:p>
          <a:p>
            <a:r>
              <a:rPr lang="en-US" dirty="0"/>
              <a:t>The two comments in red are the ones people get wrong. urljoin makes a relative path absolute, otherwise the link won't load later. And page lets you trace a wrong answer back to the image it came from.</a:t>
            </a:r>
          </a:p>
          <a:p>
            <a:r>
              <a:rPr lang="en-US" dirty="0" i="1"/>
              <a:t>[Right side.]</a:t>
            </a:r>
            <a:r>
              <a:rPr lang="en-US" dirty="0"/>
              <a:t xml:space="preserve"> This is what it returned when we ran it on one real Inno Wing page in lab 3. Seven images. One has alt text, and it's the logo. The other six have nothing. So on this site you can't lean on alt text. A vision model is the only way into those images.</a:t>
            </a:r>
          </a:p>
          <a:p>
            <a:r>
              <a:rPr lang="en-US" dirty="0"/>
              <a:t>And do it in the same pass as the text. Otherwise you crawl both sites twice.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2 min</a:t>
            </a:r>
          </a:p>
          <a:p>
            <a:r>
              <a:rPr lang="en-US" dirty="0"/>
              <a:t>Columns B and C: describing. One route, and it reuses everything you already built.</a:t>
            </a:r>
          </a:p>
          <a:p>
            <a:r>
              <a:rPr lang="en-US" dirty="0" i="1"/>
              <a:t>[Walk left to right.]</a:t>
            </a:r>
            <a:r>
              <a:rPr lang="en-US" dirty="0"/>
              <a:t xml:space="preserve"> One: the collected image. Two: describe_image with your DESCRIPTION_PROMPT, in build/images.py, once per image, at build time. Three: what comes back is plain text. Four: that text goes into the same store as your scraped chunks, tagged kind image, with the page and the image URL.</a:t>
            </a:r>
          </a:p>
          <a:p>
            <a:r>
              <a:rPr lang="en-US" dirty="0"/>
              <a:t>Why it works: it's embedded like any other chunk, so the retriever doesn't care that a picture was involved. Where it happens matters: at build time, never while answering. One vision call at query time can blow the 30 seconds by itself.</a:t>
            </a:r>
          </a:p>
          <a:p>
            <a:r>
              <a:rPr lang="en-US" dirty="0"/>
              <a:t>What goes in box three, and the metadata in box four, is the next block.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BLOCK 3: 20 min total</a:t>
            </a:r>
          </a:p>
          <a:p>
            <a:r>
              <a:rPr lang="en-US" dirty="0"/>
              <a:t>Block 3, twenty minutes. Descriptions and metadata.</a:t>
            </a:r>
          </a:p>
          <a:p>
            <a:r>
              <a:rPr lang="en-US" dirty="0"/>
              <a:t>Two parts. First, making the description contain the facts questions actually ask about. Second, tagging each description with metadata so you can filter on it, which block 4 depends on.</a:t>
            </a:r>
          </a:p>
          <a:p>
            <a:r>
              <a:rPr lang="en-US" dirty="0"/>
              <a:t>This covers Level 5 as well. Your own photos go through exactly the same step later.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2 min</a:t>
            </a:r>
          </a:p>
          <a:p>
            <a:r>
              <a:rPr lang="en-US" dirty="0"/>
              <a:t>Here's the brainstorming area again, and two descriptions of it.</a:t>
            </a:r>
          </a:p>
          <a:p>
            <a:r>
              <a:rPr lang="en-US" dirty="0" i="1"/>
              <a:t>[Top.]</a:t>
            </a:r>
            <a:r>
              <a:rPr lang="en-US" dirty="0"/>
              <a:t xml:space="preserve"> Bad, and this one's real model output: bright, flexible seating for engineering innovation. Nice caption.</a:t>
            </a:r>
          </a:p>
          <a:p>
            <a:r>
              <a:rPr lang="en-US" dirty="0" i="1"/>
              <a:t>[Pink box.]</a:t>
            </a:r>
            <a:r>
              <a:rPr lang="en-US" dirty="0"/>
              <a:t xml:space="preserve"> Good: the area, the exact wall sign, three cushions on the low bench, the cube stools, and glass doors directly to the right with a NOTICE sign. Every one of those facts is checkable in the photo.</a:t>
            </a:r>
          </a:p>
          <a:p>
            <a:r>
              <a:rPr lang="en-US" dirty="0" i="1"/>
              <a:t>[Table.]</a:t>
            </a:r>
            <a:r>
              <a:rPr lang="en-US" dirty="0"/>
              <a:t xml:space="preserve"> Now the questions. How many cushions on the bench? Bad can't say. Good says 3. What's to the right of the tiered seating? Bad can't say. Good says glass doors. These two are the actual test questions in lab 4.</a:t>
            </a:r>
          </a:p>
          <a:p>
            <a:r>
              <a:rPr lang="en-US" dirty="0"/>
              <a:t>The wall one is interesting. The bad caption does contain the words engineering innovation, but as marketing, not as the sign. A string match might even call it a hit. That's luck, and you can't build on luck.</a:t>
            </a:r>
          </a:p>
          <a:p>
            <a:r>
              <a:rPr lang="en-US" dirty="0"/>
              <a:t>The rule: whatever the description doesn't mention can't be retrieved. The prompt sets the ceiling for Level 3 and Level 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2 min</a:t>
            </a:r>
          </a:p>
          <a:p>
            <a:r>
              <a:rPr lang="en-US" dirty="0"/>
              <a:t>So what do you ask for? Five fields, by name. The numbers on the photo match the list.</a:t>
            </a:r>
          </a:p>
          <a:p>
            <a:r>
              <a:rPr lang="en-US" dirty="0" i="1"/>
              <a:t>[1.]</a:t>
            </a:r>
            <a:r>
              <a:rPr lang="en-US" dirty="0"/>
              <a:t xml:space="preserve"> Location, as the sign names it. The sign on that blue wall says Open Event Area. That's the name to use, not study room or classroom. Remember, the model called this a study space.</a:t>
            </a:r>
          </a:p>
          <a:p>
            <a:r>
              <a:rPr lang="en-US" dirty="0" i="1"/>
              <a:t>[2.]</a:t>
            </a:r>
            <a:r>
              <a:rPr lang="en-US" dirty="0"/>
              <a:t xml:space="preserve"> Objects with counts. Twelve chairs, never some chairs. Counting questions come up a lot.</a:t>
            </a:r>
          </a:p>
          <a:p>
            <a:r>
              <a:rPr lang="en-US" dirty="0" i="1"/>
              <a:t>[3, the one in red.]</a:t>
            </a:r>
            <a:r>
              <a:rPr lang="en-US" dirty="0"/>
              <a:t xml:space="preserve"> Visible text, word for word. KEEP CLEAN. DO NOT REARRANGE THE TABLE SET. Exactly as written. This is the field people lose.</a:t>
            </a:r>
          </a:p>
          <a:p>
            <a:r>
              <a:rPr lang="en-US" dirty="0" i="1"/>
              <a:t>[4.]</a:t>
            </a:r>
            <a:r>
              <a:rPr lang="en-US" dirty="0"/>
              <a:t xml:space="preserve"> Spatial relations. The model aircraft hangs above the storage rack on the right. Questions ask what's behind or next to what.</a:t>
            </a:r>
          </a:p>
          <a:p>
            <a:r>
              <a:rPr lang="en-US" dirty="0" i="1"/>
              <a:t>[5.]</a:t>
            </a:r>
            <a:r>
              <a:rPr lang="en-US" dirty="0"/>
              <a:t xml:space="preserve"> Colours and materials, only when they tell rooms apart.</a:t>
            </a:r>
          </a:p>
          <a:p>
            <a:r>
              <a:rPr lang="en-US" dirty="0" i="1"/>
              <a:t>[Pink box.]</a:t>
            </a:r>
            <a:r>
              <a:rPr lang="en-US" dirty="0"/>
              <a:t xml:space="preserve"> Anything you don't ask for won't be in the description. Tell it to copy text exactly and to write </a:t>
            </a:r>
            <a:r>
              <a:rPr lang="en-US" dirty="0" i="1"/>
              <a:t>[unreadable]</a:t>
            </a:r>
            <a:r>
              <a:rPr lang="en-US" dirty="0"/>
              <a:t xml:space="preserve"> rather than guess.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~13 min lab</a:t>
            </a:r>
          </a:p>
          <a:p>
            <a:r>
              <a:rPr lang="en-US" dirty="0" i="1"/>
              <a:t>Facilitator note: Step 2 is the one to enforce. Teams want to index immediately and then wonder why the score did not move.</a:t>
            </a:r>
          </a:p>
          <a:p>
            <a:r>
              <a:rPr lang="en-US" dirty="0" i="1"/>
              <a:t>[Lab transition.]</a:t>
            </a:r>
            <a:r>
              <a:rPr lang="en-US" dirty="0"/>
              <a:t xml:space="preserve"> Lab time. In the workshop folder there are five Inno Wing photos and three questions about them.</a:t>
            </a:r>
          </a:p>
          <a:p>
            <a:r>
              <a:rPr lang="en-US" dirty="0"/>
              <a:t>Step one. Write your instructions in DESCRIPTION_PROMPT in build/images.py. Use the five fields as a checklist. Write it as instructions, like "List every object with its count". Not a polite request like "Could you describe this image?"</a:t>
            </a:r>
          </a:p>
          <a:p>
            <a:r>
              <a:rPr lang="en-US" dirty="0"/>
              <a:t>Step two, and this is the one I'll be checking. Generate descriptions for the five images. Before you index anything, read them and try to answer the three questions from the descriptions alone. If you can't answer it by reading, the retriever can't either. It takes two minutes and saves you rebuilding the index again and again.</a:t>
            </a:r>
          </a:p>
          <a:p>
            <a:r>
              <a:rPr lang="en-US" dirty="0"/>
              <a:t>Step three. Revise the instructions and regenerate. Most teams need two or three goes. The first descriptions are nearly always too general.</a:t>
            </a:r>
          </a:p>
          <a:p>
            <a:r>
              <a:rPr lang="en-US" dirty="0"/>
              <a:t>Step four. Index them as ordinary text chunks in your existing store, with metadata, then re-score Level 3. I'll show the metadata part when most of you get there.</a:t>
            </a:r>
          </a:p>
          <a:p>
            <a:r>
              <a:rPr lang="en-US" dirty="0"/>
              <a:t>Step five. Swap with the team next to you and run their instructions on your images. Which questions do theirs answer that yours miss?</a:t>
            </a:r>
          </a:p>
          <a:p>
            <a:r>
              <a:rPr lang="en-US" dirty="0"/>
              <a:t>Go ahead.</a:t>
            </a:r>
          </a:p>
          <a:p>
            <a:r>
              <a:rPr lang="en-US" dirty="0" i="1"/>
              <a:t>[Walk round. Ask every team: "Can you answer the three questions from these descriptions?" before they index. When most teams reach step 4, around 8 to 10 minutes in, get everyone's attention and go to slide 15 for about 90 seconds.]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90 sec, mid-lab</a:t>
            </a:r>
          </a:p>
          <a:p>
            <a:r>
              <a:rPr lang="en-US" dirty="0"/>
              <a:t>Quick interrupt, eyes up for a minute. This matters for step four.</a:t>
            </a:r>
          </a:p>
          <a:p>
            <a:r>
              <a:rPr lang="en-US" dirty="0" i="1"/>
              <a:t>[Left.]</a:t>
            </a:r>
            <a:r>
              <a:rPr lang="en-US" dirty="0"/>
              <a:t xml:space="preserve"> This is index_descriptions in build/images.py, straight from your repo. The template stores three fields: url, image and kind. The red lines are yours to add: type, year, and for your own photos, zone.</a:t>
            </a:r>
          </a:p>
          <a:p>
            <a:r>
              <a:rPr lang="en-US" dirty="0" i="1"/>
              <a:t>[Right.]</a:t>
            </a:r>
            <a:r>
              <a:rPr lang="en-US" dirty="0"/>
              <a:t xml:space="preserve"> Here's what one stored record looks like with them. The description text on top, then the fields. It's an example, not real output. The description finds the image by meaning; the fields find it by fact.</a:t>
            </a:r>
          </a:p>
          <a:p>
            <a:r>
              <a:rPr lang="en-US" dirty="0" i="1"/>
              <a:t>[If asked about re-running: Chroma won't overwrite an id that already exists. Lab 4 deletes the old image chunks first. In your own build, rebuild into an empty data/chroma when you change the prompt.]</a:t>
            </a:r>
          </a:p>
          <a:p>
            <a:r>
              <a:rPr lang="en-US" dirty="0"/>
              <a:t>Why now: block 4 filters on exactly these fields to count things. A field you skip now means rebuilding the index later. Okay, carry 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1 min, during step 5</a:t>
            </a:r>
          </a:p>
          <a:p>
            <a:r>
              <a:rPr lang="en-US" dirty="0" i="1"/>
              <a:t>[Put this up while teams are on step 5.]</a:t>
            </a:r>
          </a:p>
          <a:p>
            <a:r>
              <a:rPr lang="en-US" dirty="0"/>
              <a:t>Some patterns from last year. They're not rules.</a:t>
            </a:r>
          </a:p>
          <a:p>
            <a:r>
              <a:rPr lang="en-US" dirty="0"/>
              <a:t>What tended to help: asking for counts in so many words, saying "copy the text exactly", naming the room or area, and saying what to do when something's unreadable.</a:t>
            </a:r>
          </a:p>
          <a:p>
            <a:r>
              <a:rPr lang="en-US" dirty="0"/>
              <a:t>What tended not to: just "Describe this image", asking for a summary or a caption, not mentioning text at all, and leaving the model to decide what mattered.</a:t>
            </a:r>
          </a:p>
          <a:p>
            <a:r>
              <a:rPr lang="en-US" dirty="0"/>
              <a:t>The pattern underneath is that the model writes about whatever you name and skips whatever you don't. That's held every time. The exact wording is yours to work out, which is why you're swapping with the team next to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1 min, optional</a:t>
            </a:r>
          </a:p>
          <a:p>
            <a:r>
              <a:rPr lang="en-US" dirty="0" i="1"/>
              <a:t>[Overlaps with slide 18. If time is tight, show this one and skip 18.]</a:t>
            </a:r>
          </a:p>
          <a:p>
            <a:r>
              <a:rPr lang="en-US" dirty="0"/>
              <a:t>None of this is needed to score on Level 3. It's for once your basic prompt works.</a:t>
            </a:r>
          </a:p>
          <a:p>
            <a:r>
              <a:rPr lang="en-US" dirty="0" i="1"/>
              <a:t>[Left.]</a:t>
            </a:r>
            <a:r>
              <a:rPr lang="en-US" dirty="0"/>
              <a:t xml:space="preserve"> Two prompts per image. One asks for objects and layout, one asks only for text. You get two focused answers instead of one that tries to do everything.</a:t>
            </a:r>
          </a:p>
          <a:p>
            <a:r>
              <a:rPr lang="en-US" dirty="0" i="1"/>
              <a:t>[Middle.]</a:t>
            </a:r>
            <a:r>
              <a:rPr lang="en-US" dirty="0"/>
              <a:t xml:space="preserve"> Split large images. This is the makerspace screen photo cut into four overlapping tiles. Each tile goes to the model separately, so small text is still big enough to read. Same reason as slide 6.</a:t>
            </a:r>
          </a:p>
          <a:p>
            <a:r>
              <a:rPr lang="en-US" dirty="0" i="1"/>
              <a:t>[Right.]</a:t>
            </a:r>
            <a:r>
              <a:rPr lang="en-US" dirty="0"/>
              <a:t xml:space="preserve"> Cache. This is describe_all from build/images.py. If the URL is already in the cache, skip it. So you pay for each image once. If you change the prompt, clear the cache; if you change anything else, keep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1 min, end of block 3</a:t>
            </a:r>
          </a:p>
          <a:p>
            <a:r>
              <a:rPr lang="en-US" dirty="0"/>
              <a:t>Last notes on images.</a:t>
            </a:r>
          </a:p>
          <a:p>
            <a:r>
              <a:rPr lang="en-US" dirty="0"/>
              <a:t>Run OCR alongside. A vision model paraphrases text. An OCR engine like Tesseract or PaddleOCR copies it character by character. For dense signage, that difference is the answer. Both run locally and both are allowed.</a:t>
            </a:r>
          </a:p>
          <a:p>
            <a:r>
              <a:rPr lang="en-US" dirty="0"/>
              <a:t>Index the alt text regardless. It's free, and sometimes the answer is in it.</a:t>
            </a:r>
          </a:p>
          <a:p>
            <a:r>
              <a:rPr lang="en-US" dirty="0"/>
              <a:t>Describe once, cache forever. Key the cache by image URL. Without it, every time you change chunking or anything else downstream, you re-describe every image. Experimenting gets slow enough that you stop doing it, and the experiment log from last time only works if runs are cheap.</a:t>
            </a:r>
          </a:p>
          <a:p>
            <a:r>
              <a:rPr lang="en-US" dirty="0" i="1"/>
              <a:t>[Transition.]</a:t>
            </a:r>
            <a:r>
              <a:rPr lang="en-US" dirty="0"/>
              <a:t xml:space="preserve"> Okay, wrap up where you are. If you didn't get to re-scoring, do that first in the open lab. Let's move to Level 4.</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BLOCK 4: 25 min total</a:t>
            </a:r>
          </a:p>
          <a:p>
            <a:r>
              <a:rPr lang="en-US" dirty="0"/>
              <a:t>Block 4, twenty-five minutes. Reasoning and synthesis.</a:t>
            </a:r>
          </a:p>
          <a:p>
            <a:r>
              <a:rPr lang="en-US" dirty="0"/>
              <a:t>The Level 4 questions you'll see are mostly counts. How many posters, how many workshops, how many of something. The answer isn't written on any page. Your bot has to find every matching item and count them itself.</a:t>
            </a:r>
          </a:p>
          <a:p>
            <a:r>
              <a:rPr lang="en-US" dirty="0"/>
              <a:t>Three short slides on why the normal pipeline can't do that and what can, then a lab in lab 5.</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2 min</a:t>
            </a:r>
          </a:p>
          <a:p>
            <a:r>
              <a:rPr lang="en-US" dirty="0"/>
              <a:t>So here's the full path for our poster question, four steps.</a:t>
            </a:r>
          </a:p>
          <a:p>
            <a:r>
              <a:rPr lang="en-US" dirty="0" i="1"/>
              <a:t>[1.]</a:t>
            </a:r>
            <a:r>
              <a:rPr lang="en-US" dirty="0"/>
              <a:t xml:space="preserve"> Spot the count. The question says how many, so it goes down the counting path. In lab 5 that's route(), one cheap call that says level 4.</a:t>
            </a:r>
          </a:p>
          <a:p>
            <a:r>
              <a:rPr lang="en-US" dirty="0" i="1"/>
              <a:t>[2, in pink.]</a:t>
            </a:r>
            <a:r>
              <a:rPr lang="en-US" dirty="0"/>
              <a:t xml:space="preserve"> Filter, don't search. Year 2025, type poster. Every one of them, not the nearest five.</a:t>
            </a:r>
          </a:p>
          <a:p>
            <a:r>
              <a:rPr lang="en-US" dirty="0" i="1"/>
              <a:t>[3.]</a:t>
            </a:r>
            <a:r>
              <a:rPr lang="en-US" dirty="0"/>
              <a:t xml:space="preserve"> List the evidence. The model writes out each item it was given before it answers.</a:t>
            </a:r>
          </a:p>
          <a:p>
            <a:r>
              <a:rPr lang="en-US" dirty="0" i="1"/>
              <a:t>[4.]</a:t>
            </a:r>
            <a:r>
              <a:rPr lang="en-US" dirty="0"/>
              <a:t xml:space="preserve"> Count the list. 31, and you can check it against the list.</a:t>
            </a:r>
          </a:p>
          <a:p>
            <a:r>
              <a:rPr lang="en-US" dirty="0" i="1"/>
              <a:t>[Code.]</a:t>
            </a:r>
            <a:r>
              <a:rPr lang="en-US" dirty="0"/>
              <a:t xml:space="preserve"> This is answer_by_counting from lab 5, step 4. Query with the filter and k=200, list the items, and the system prompt in red: count the items, list what you counted, number on the last line.</a:t>
            </a:r>
          </a:p>
          <a:p>
            <a:r>
              <a:rPr lang="en-US" dirty="0"/>
              <a:t>Two things on the right. Listing first means when the count is wrong you can see which poster was missed or counted twice. And k is still a ceiling. It's 200 here. Keep it above any answer you expect.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1.5 min</a:t>
            </a:r>
          </a:p>
          <a:p>
            <a:r>
              <a:rPr lang="en-US" dirty="0" i="1"/>
              <a:t>Facilitator note: let this land before offering the fix. It reframes Lv4 from a hard retrieval problem into a different kind of question.</a:t>
            </a:r>
          </a:p>
          <a:p>
            <a:r>
              <a:rPr lang="en-US" dirty="0"/>
              <a:t>Here's the question we'll use for the whole block. How many workshop posters are on the Innovation Academy website for 2025? The answer is 31.</a:t>
            </a:r>
          </a:p>
          <a:p>
            <a:r>
              <a:rPr lang="en-US" dirty="0" i="1"/>
              <a:t>[Right.]</a:t>
            </a:r>
            <a:r>
              <a:rPr lang="en-US" dirty="0"/>
              <a:t xml:space="preserve"> Here are the 31. No chunk anywhere contains the number 31. Nobody wrote it down. You have to find all of them and count.</a:t>
            </a:r>
          </a:p>
          <a:p>
            <a:r>
              <a:rPr lang="en-US" dirty="0"/>
              <a:t>Now remember what vector search does. It returns the k nearest. With k equals 5, your bot sees these five red ones, and nothing else. It will say 5, or it will guess.</a:t>
            </a:r>
          </a:p>
          <a:p>
            <a:r>
              <a:rPr lang="en-US" dirty="0" i="1"/>
              <a:t>[Pause.]</a:t>
            </a:r>
            <a:r>
              <a:rPr lang="en-US" dirty="0"/>
              <a:t xml:space="preserve"> So k is a ceiling. A better embedding model doesn't fix it. A better prompt doesn't fix it. It's a different kind of question, and it needs a different tool.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2 min</a:t>
            </a:r>
          </a:p>
          <a:p>
            <a:r>
              <a:rPr lang="en-US" dirty="0"/>
              <a:t>Here's the tool. Same dots in both panels. Red dots are 2025 posters, grey dots are everything else.</a:t>
            </a:r>
          </a:p>
          <a:p>
            <a:r>
              <a:rPr lang="en-US" dirty="0" i="1"/>
              <a:t>[Left.]</a:t>
            </a:r>
            <a:r>
              <a:rPr lang="en-US" dirty="0"/>
              <a:t xml:space="preserve"> Semantic search. The star is the question. It returns the five nearest, the dashed circle, posters or not. Always returns something, never tells you it found everything.</a:t>
            </a:r>
          </a:p>
          <a:p>
            <a:r>
              <a:rPr lang="en-US" dirty="0" i="1"/>
              <a:t>[Right.]</a:t>
            </a:r>
            <a:r>
              <a:rPr lang="en-US" dirty="0"/>
              <a:t xml:space="preserve"> Metadata filter. Year 2025 and type poster. It returns every red dot and nothing else. Exact, so you can count it.</a:t>
            </a:r>
          </a:p>
          <a:p>
            <a:r>
              <a:rPr lang="en-US" dirty="0" i="1"/>
              <a:t>[Code.]</a:t>
            </a:r>
            <a:r>
              <a:rPr lang="en-US" dirty="0"/>
              <a:t xml:space="preserve"> Same query function, with a where argument and a big k. If all you need is the number, Chroma's get with the same where filter returns every match without a k at all.</a:t>
            </a:r>
          </a:p>
          <a:p>
            <a:r>
              <a:rPr lang="en-US" dirty="0"/>
              <a:t>And this only works on fields you stored when you built the index. That's the whole reason we kept going on about metadata in block 3.</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1 min</a:t>
            </a:r>
          </a:p>
          <a:p>
            <a:r>
              <a:rPr lang="en-US" dirty="0"/>
              <a:t>Four ways to answer a count, in the order to try them.</a:t>
            </a:r>
          </a:p>
          <a:p>
            <a:r>
              <a:rPr lang="en-US" dirty="0"/>
              <a:t>One, filter by metadata. Cheap, exact, no extra model call, but only on fields you stored. Two, list then count, which is the answer_by_counting pattern. One and two together answer most counting questions.</a:t>
            </a:r>
          </a:p>
          <a:p>
            <a:r>
              <a:rPr lang="en-US" dirty="0"/>
              <a:t>Three, retrieve wide then judge, the fallback when a field is missing. Four, split the count, only when the question counts two things. That's the slide after the lab.</a:t>
            </a:r>
          </a:p>
          <a:p>
            <a:r>
              <a:rPr lang="en-US" dirty="0" i="1"/>
              <a:t>[Lab transition.]</a:t>
            </a:r>
            <a:r>
              <a:rPr lang="en-US" dirty="0"/>
              <a:t xml:space="preserve"> Right, lab.</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~15 min lab</a:t>
            </a:r>
          </a:p>
          <a:p>
            <a:r>
              <a:rPr lang="en-US" dirty="0" i="1"/>
              <a:t>[Lab transition.]</a:t>
            </a:r>
            <a:r>
              <a:rPr lang="en-US" dirty="0"/>
              <a:t xml:space="preserve"> Lab 5, about fifteen minutes. You need the image chunks you added in lab 4.</a:t>
            </a:r>
          </a:p>
          <a:p>
            <a:r>
              <a:rPr lang="en-US" dirty="0"/>
              <a:t>Step one. Run the baseline, answer_simple, on the Level 4 counting question. Write down the answer and the seconds.</a:t>
            </a:r>
          </a:p>
          <a:p>
            <a:r>
              <a:rPr lang="en-US" dirty="0"/>
              <a:t>Step two. Go to Step 4 in the notebook, answer_by_counting with where kind equals image. It should list your five images and say 5. If it says 0, you skipped lab 4's indexing step.</a:t>
            </a:r>
          </a:p>
          <a:p>
            <a:r>
              <a:rPr lang="en-US" dirty="0"/>
              <a:t>Step three. Break it on purpose. Drop the filter and set k to 3. The count falls to whatever it was shown. That's the ceiling from the start of the block, and now you've seen it happen.</a:t>
            </a:r>
          </a:p>
          <a:p>
            <a:r>
              <a:rPr lang="en-US" dirty="0"/>
              <a:t>Step four. For your own bot: what fields would 2025 workshop posters need? Open your build/images.py and check you actually store them.</a:t>
            </a:r>
          </a:p>
          <a:p>
            <a:r>
              <a:rPr lang="en-US" dirty="0"/>
              <a:t>Step five. Counting costs time. Run steps 5 and 6 in the notebook. route() is how you send only the counts down this path.</a:t>
            </a:r>
          </a:p>
          <a:p>
            <a:r>
              <a:rPr lang="en-US" dirty="0" i="1"/>
              <a:t>[Notebook steps 2 and 3, the splitting ones, are for counts with two parts. Teams that finish early can do them with slide 26 up.]</a:t>
            </a:r>
          </a:p>
          <a:p>
            <a:r>
              <a:rPr lang="en-US" dirty="0" i="1"/>
              <a:t>[Walk round. Most common problem: 0 items matched, because lab 4's image chunks were never indexed.]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Show during or after the lab</a:t>
            </a:r>
          </a:p>
          <a:p>
            <a:r>
              <a:rPr lang="en-US" dirty="0"/>
              <a:t>Last case. How many more workshop posters were there in 2025 than in 2024? That's two counts.</a:t>
            </a:r>
          </a:p>
          <a:p>
            <a:r>
              <a:rPr lang="en-US" dirty="0" i="1"/>
              <a:t>[Walk top to bottom.]</a:t>
            </a:r>
            <a:r>
              <a:rPr lang="en-US" dirty="0"/>
              <a:t xml:space="preserve"> split_question makes one call and gives two questions, one per year. Each goes through answer_by_counting with its own year in the filter. 31 for 2025, N for 2024.</a:t>
            </a:r>
          </a:p>
          <a:p>
            <a:r>
              <a:rPr lang="en-US" dirty="0"/>
              <a:t>Then subtract, in Python, not in the model. Models slip on arithmetic.</a:t>
            </a:r>
          </a:p>
          <a:p>
            <a:r>
              <a:rPr lang="en-US" dirty="0"/>
              <a:t>And only split when the count really has two parts. Each part is another filtered call, and that adds up against the thirty seconds.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2 min, end of block 4</a:t>
            </a:r>
          </a:p>
          <a:p>
            <a:r>
              <a:rPr lang="en-US" dirty="0" i="1"/>
              <a:t>[Calling time.]</a:t>
            </a:r>
            <a:r>
              <a:rPr lang="en-US" dirty="0"/>
              <a:t xml:space="preserve"> Okay, stop where you are. Four notes before we move on.</a:t>
            </a:r>
          </a:p>
          <a:p>
            <a:r>
              <a:rPr lang="en-US" dirty="0"/>
              <a:t>Route before you reason. One cheap call classifies the question, then dispatch. Most questions aren't counts, so don't pay for a filter-and-list pass on all twenty.</a:t>
            </a:r>
          </a:p>
          <a:p>
            <a:r>
              <a:rPr lang="en-US" dirty="0"/>
              <a:t>Make it list evidence first. That's how you can check a count.</a:t>
            </a:r>
          </a:p>
          <a:p>
            <a:r>
              <a:rPr lang="en-US" dirty="0"/>
              <a:t>Deduplicate before you count. The same poster turns up on a listing page and on its own page. Key on the image URL, or 31 becomes 40.</a:t>
            </a:r>
          </a:p>
          <a:p>
            <a:r>
              <a:rPr lang="en-US" dirty="0"/>
              <a:t>Watch the clock. Listing costs tokens and seconds, and splitting a count doubles it. Thirty seconds is a hard limit.</a:t>
            </a:r>
          </a:p>
          <a:p>
            <a:r>
              <a:rPr lang="en-US" dirty="0" i="1"/>
              <a:t>[Transition.]</a:t>
            </a:r>
            <a:r>
              <a:rPr lang="en-US" dirty="0"/>
              <a:t xml:space="preserve"> One last short block, then open lab.</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BLOCK 5: 5 min total</a:t>
            </a:r>
          </a:p>
          <a:p>
            <a:r>
              <a:rPr lang="en-US" dirty="0"/>
              <a:t>Block 5, five minutes, and there's no lab. This is Level 5, the physical data.</a:t>
            </a:r>
          </a:p>
          <a:p>
            <a:r>
              <a:rPr lang="en-US" dirty="0"/>
              <a:t>I'll cover what's in scope and the dates. How you collect is up to you, and the details are in the written kit.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1.5 min</a:t>
            </a:r>
          </a:p>
          <a:p>
            <a:r>
              <a:rPr lang="en-US" dirty="0"/>
              <a:t>Level 5 data isn't on any website, so it can't be scraped. Every team starts from zero, and it's about 40% of the final round. That makes it the biggest part of the score you haven't started on yet.</a:t>
            </a:r>
          </a:p>
          <a:p>
            <a:r>
              <a:rPr lang="en-US" dirty="0"/>
              <a:t>In scope: the gallery outside the office, posters, the venues except the machine workshop and the event hall, and equipment. Your assigned zones are in the kit.</a:t>
            </a:r>
          </a:p>
          <a:p>
            <a:r>
              <a:rPr lang="en-US" dirty="0"/>
              <a:t>The good news is it's the same pipeline as Level 3. Your photos go through the description prompt you wrote in block 3 and into the same index, with metadata, including the zone. No new code.</a:t>
            </a:r>
          </a:p>
          <a:p>
            <a:r>
              <a:rPr lang="en-US" dirty="0"/>
              <a:t>Teams don't share collected data. The collection log only records which zones you've covered, so two teams don't walk the same route.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1 min</a:t>
            </a:r>
          </a:p>
          <a:p>
            <a:r>
              <a:rPr lang="en-US" dirty="0"/>
              <a:t xml:space="preserve">One question to answer as a team before your first visit. </a:t>
            </a:r>
            <a:r>
              <a:rPr lang="en-US" dirty="0" i="1"/>
              <a:t>[Let them read it.]</a:t>
            </a:r>
          </a:p>
          <a:p>
            <a:r>
              <a:rPr lang="en-US" dirty="0"/>
              <a:t>You can't photograph everything. So what would you need to have captured, clearly enough to transcribe, for a question you haven't seen yet to be answerable?</a:t>
            </a:r>
          </a:p>
          <a:p>
            <a:r>
              <a:rPr lang="en-US" dirty="0"/>
              <a:t>Think about the five description fields. Names on the signage, counts, exact text, what's next to what. Your photos have to show those clearly, or the description can't contain them.</a:t>
            </a:r>
          </a:p>
          <a:p>
            <a:r>
              <a:rPr lang="en-US" dirty="0"/>
              <a:t>Zone assignments and the file naming convention are in the kit.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1 min</a:t>
            </a:r>
          </a:p>
          <a:p>
            <a:r>
              <a:rPr lang="en-US" dirty="0"/>
              <a:t>Dates.</a:t>
            </a:r>
          </a:p>
          <a:p>
            <a:r>
              <a:rPr lang="en-US" dirty="0"/>
              <a:t>7 October: a collection log entry for your assigned zones.</a:t>
            </a:r>
          </a:p>
          <a:p>
            <a:r>
              <a:rPr lang="en-US" dirty="0"/>
              <a:t>14 October: image descriptions indexed, and scoring above zero on Level 3.</a:t>
            </a:r>
          </a:p>
          <a:p>
            <a:r>
              <a:rPr lang="en-US" dirty="0"/>
              <a:t>21 October: preliminary submission, code and vector database.</a:t>
            </a:r>
          </a:p>
          <a:p>
            <a:r>
              <a:rPr lang="en-US" dirty="0"/>
              <a:t>28 October: the final, live in the Inno Wing.</a:t>
            </a:r>
          </a:p>
          <a:p>
            <a:r>
              <a:rPr lang="en-US" dirty="0"/>
              <a:t>Plan a second visit. After you've indexed the first batch, write your own Level 5 questions and run them. Note which ones fail, then go back and photograph exactly those things. The building is open and the data doesn't change.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1 min</a:t>
            </a:r>
          </a:p>
          <a:p>
            <a:r>
              <a:rPr lang="en-US" dirty="0"/>
              <a:t>So here's the whole pipeline, with everything from both workshops.</a:t>
            </a:r>
          </a:p>
          <a:p>
            <a:r>
              <a:rPr lang="en-US" dirty="0" i="1"/>
              <a:t>[Top row.]</a:t>
            </a:r>
            <a:r>
              <a:rPr lang="en-US" dirty="0"/>
              <a:t xml:space="preserve"> Built once, in advance: crawl both sites, extract the text and the image URLs, describe the images with a vision model and cache them, add your own photographs, then chunk and embed everything with metadata attached.</a:t>
            </a:r>
          </a:p>
          <a:p>
            <a:r>
              <a:rPr lang="en-US" dirty="0" i="1"/>
              <a:t>[Bottom row.]</a:t>
            </a:r>
            <a:r>
              <a:rPr lang="en-US" dirty="0"/>
              <a:t xml:space="preserve"> Run once per question, inside thirty seconds: classify which level it is, decompose if it needs it, filter and search, assemble the context with the question, and answer. Directly, and always. Same rule as Workshop 1: never "I don't know", because a guess can score and a refusal can't.</a:t>
            </a:r>
          </a:p>
          <a:p>
            <a:r>
              <a:rPr lang="en-US" dirty="0"/>
              <a:t>The main point is at the bottom. Scraped text, website image descriptions and your own photos all go into one index and get retrieved by the same query. Levels 3 and 5 aren't separate systems. It's one bot.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Close</a:t>
            </a:r>
          </a:p>
          <a:p>
            <a:r>
              <a:rPr lang="en-US" dirty="0"/>
              <a:t>That's the taught part. Open lab for thirty minutes, and the mentors are staying.</a:t>
            </a:r>
          </a:p>
          <a:p>
            <a:r>
              <a:rPr lang="en-US" dirty="0"/>
              <a:t>Three things you could do. Finish the block 3 or block 4 lab if you didn't get through it. Start photographing your zones while mentors are around to answer questions, since the zones are in the building around you. Or if you want to try OCR, tiling or routing, grab one of us.</a:t>
            </a:r>
          </a:p>
          <a:p>
            <a:r>
              <a:rPr lang="en-US" dirty="0"/>
              <a:t>Thanks, everyone.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2 min, before the lab</a:t>
            </a:r>
          </a:p>
          <a:p>
            <a:r>
              <a:rPr lang="en-US" dirty="0"/>
              <a:t>Before you start, look at what bad output actually looks like. None of this is made up. These came back from gpt-5-mini when we ran lab 4 ourselves and forgot to fill in the prompt.</a:t>
            </a:r>
          </a:p>
          <a:p>
            <a:r>
              <a:rPr lang="en-US" dirty="0" i="1"/>
              <a:t>[Top left.]</a:t>
            </a:r>
            <a:r>
              <a:rPr lang="en-US" dirty="0"/>
              <a:t xml:space="preserve"> Misread the text. The screen says Building RAG with Image Data. The model wrote PAG. One letter, and a question that wants the exact title scores zero. It then offered four bullet points for the slide that it made up.</a:t>
            </a:r>
          </a:p>
          <a:p>
            <a:r>
              <a:rPr lang="en-US" dirty="0" i="1"/>
              <a:t>[Top right.]</a:t>
            </a:r>
            <a:r>
              <a:rPr lang="en-US" dirty="0"/>
              <a:t xml:space="preserve"> Named the wrong room. It called this a quiet study space for late-night brainstorming. The sign on the wall says Open Event Area. The answer was in the photo, and nobody asked the model to read it.</a:t>
            </a:r>
          </a:p>
          <a:p>
            <a:r>
              <a:rPr lang="en-US" dirty="0" i="1"/>
              <a:t>[Bottom left.]</a:t>
            </a:r>
            <a:r>
              <a:rPr lang="en-US" dirty="0"/>
              <a:t xml:space="preserve"> Paraphrased a sign. The sign says KEEP CLEAN, DO NOT REARRANGE THE TABLE SET. The model gave us please keep this area tidy, return them to their original configuration. Same meaning, useless for a question that wants the words.</a:t>
            </a:r>
          </a:p>
          <a:p>
            <a:r>
              <a:rPr lang="en-US" dirty="0" i="1"/>
              <a:t>[Bottom right.]</a:t>
            </a:r>
            <a:r>
              <a:rPr lang="en-US" dirty="0"/>
              <a:t xml:space="preserve"> Answered the prompt, not the photo. The prompt was still the TODO placeholder, so the model wrote alt text, tweets and signs for us. If your descriptions look like this, check the prompt before anything else.</a:t>
            </a:r>
          </a:p>
          <a:p>
            <a:r>
              <a:rPr lang="en-US" dirty="0"/>
              <a:t xml:space="preserve">The point for sharing: every one of these would have gone into the index and looked fine until a question needed the fact. </a:t>
            </a:r>
            <a:r>
              <a:rPr lang="en-US" dirty="0" i="1"/>
              <a:t>[Ask the room:]</a:t>
            </a:r>
            <a:r>
              <a:rPr lang="en-US" dirty="0"/>
              <a:t xml:space="preserve"> which of these have you already got in yours?</a:t>
            </a:r>
          </a:p>
          <a:p>
            <a:r>
              <a:rPr lang="en-US" dirty="0" i="1"/>
              <a:t>[Lab transition.] Okay, go. Mentors will come round. [Timing: block 2 is 25 minutes. Call time at about 14 so slides 9 and 10 still fit.]</a:t>
            </a:r>
          </a:p>
          <a:p>
            <a:r>
              <a:rPr lang="en-US" dirty="0" i="1"/>
              <a:t>[Calling time:]</a:t>
            </a:r>
            <a:r>
              <a:rPr lang="en-US" dirty="0"/>
              <a:t xml:space="preserve"> Stop there. Show of hands: mostly A? B? C? Good. The next two slides fix A and B.</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TIMING: 1.5 min</a:t>
            </a:r>
          </a:p>
          <a:p>
            <a:r>
              <a:rPr lang="en-US" dirty="0"/>
              <a:t>What if you never tagged the posters with a year? The filter can't see them. Here's the fallback.</a:t>
            </a:r>
          </a:p>
          <a:p>
            <a:r>
              <a:rPr lang="en-US" dirty="0" i="1"/>
              <a:t>[Left.]</a:t>
            </a:r>
            <a:r>
              <a:rPr lang="en-US" dirty="0"/>
              <a:t xml:space="preserve"> Retrieve wide: k of 30 to 50, no filter. This is what comes back, illustrative. Some are 2025 posters, some are news pages, some are 2024 posters, and one is the same poster showing up on a second page.</a:t>
            </a:r>
          </a:p>
          <a:p>
            <a:r>
              <a:rPr lang="en-US" dirty="0" i="1"/>
              <a:t>[Right.]</a:t>
            </a:r>
            <a:r>
              <a:rPr lang="en-US" dirty="0"/>
              <a:t xml:space="preserve"> So: one, retrieve wide. Two, one call that marks every item yes or no: is this a 2025 workshop poster? Three, drop duplicates by image URL. Four, count the yeses, in code, not in the model's head.</a:t>
            </a:r>
          </a:p>
          <a:p>
            <a:r>
              <a:rPr lang="en-US" dirty="0" i="1"/>
              <a:t>[Pink box.]</a:t>
            </a:r>
            <a:r>
              <a:rPr lang="en-US" dirty="0"/>
              <a:t xml:space="preserve"> It's still capped by k. Fifty wide can't count sixty. And it's one long call, so time it. The real fix is to store year and type when you build the index.</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vis_patches.jpg"/><Relationship Id="rId4" Type="http://schemas.openxmlformats.org/officeDocument/2006/relationships/image" Target="../media/vis_screen_crop.jpg"/><Relationship Id="rId5" Type="http://schemas.openxmlformats.org/officeDocument/2006/relationships/image" Target="../media/vis_screen_low.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vis_makerspace_4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vis_brainstorm_4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vis_brainstorm_4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vis_openA_4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vis_brainstorm_43.jpg"/><Relationship Id="rId4" Type="http://schemas.openxmlformats.org/officeDocument/2006/relationships/image" Target="../media/vis_mclose_4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is_screen_crop.jpg"/><Relationship Id="rId3" Type="http://schemas.openxmlformats.org/officeDocument/2006/relationships/image" Target="../media/vis_openB_43.jpg"/><Relationship Id="rId4" Type="http://schemas.openxmlformats.org/officeDocument/2006/relationships/image" Target="../media/vis_oe_sign.jpg"/><Relationship Id="rId5" Type="http://schemas.openxmlformats.org/officeDocument/2006/relationships/image" Target="../media/vis_openA_43.jpg"/><Relationship Id="rIdNotes"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C0402A"/>
          </a:solidFill>
          <a:ln/>
        </p:spPr>
      </p:sp>
      <p:sp>
        <p:nvSpPr>
          <p:cNvPr id="3" name="Text 1"/>
          <p:cNvSpPr/>
          <p:nvPr/>
        </p:nvSpPr>
        <p:spPr>
          <a:xfrm>
            <a:off x="786384" y="1051560"/>
            <a:ext cx="10618927" cy="274320"/>
          </a:xfrm>
          <a:prstGeom prst="rect">
            <a:avLst/>
          </a:prstGeom>
          <a:noFill/>
          <a:ln/>
        </p:spPr>
        <p:txBody>
          <a:bodyPr wrap="square" lIns="0" tIns="0" rIns="0" bIns="0" rtlCol="0" anchor="ctr"/>
          <a:lstStyle/>
          <a:p>
            <a:pPr indent="0" marL="0">
              <a:buNone/>
            </a:pPr>
            <a:r>
              <a:rPr lang="en-US" sz="1200" b="1" spc="260" kern="0" dirty="0">
                <a:solidFill>
                  <a:srgbClr val="6E6A63"/>
                </a:solidFill>
                <a:latin typeface="Arial" pitchFamily="34" charset="0"/>
                <a:ea typeface="Arial" pitchFamily="34" charset="-122"/>
                <a:cs typeface="Arial" pitchFamily="34" charset="-120"/>
              </a:rPr>
              <a:t>WORKSHOP 2  ·  30 SEPTEMBER  ·  90 MINUTES</a:t>
            </a:r>
            <a:endParaRPr lang="en-US" sz="1200" dirty="0"/>
          </a:p>
        </p:txBody>
      </p:sp>
      <p:sp>
        <p:nvSpPr>
          <p:cNvPr id="4" name="Shape 2"/>
          <p:cNvSpPr/>
          <p:nvPr/>
        </p:nvSpPr>
        <p:spPr>
          <a:xfrm>
            <a:off x="786384" y="1444752"/>
            <a:ext cx="10618927" cy="10973"/>
          </a:xfrm>
          <a:prstGeom prst="rect">
            <a:avLst/>
          </a:prstGeom>
          <a:solidFill>
            <a:srgbClr val="D5D1CA"/>
          </a:solidFill>
          <a:ln/>
        </p:spPr>
      </p:sp>
      <p:sp>
        <p:nvSpPr>
          <p:cNvPr id="5" name="Text 3"/>
          <p:cNvSpPr/>
          <p:nvPr/>
        </p:nvSpPr>
        <p:spPr>
          <a:xfrm>
            <a:off x="786384" y="1719072"/>
            <a:ext cx="7923047" cy="1737360"/>
          </a:xfrm>
          <a:prstGeom prst="rect">
            <a:avLst/>
          </a:prstGeom>
          <a:noFill/>
          <a:ln/>
        </p:spPr>
        <p:txBody>
          <a:bodyPr wrap="square" lIns="0" tIns="0" rIns="0" bIns="0" rtlCol="0" anchor="ctr"/>
          <a:lstStyle/>
          <a:p>
            <a:pPr indent="0" marL="0">
              <a:lnSpc>
                <a:spcPts val="5000"/>
              </a:lnSpc>
              <a:buNone/>
            </a:pPr>
            <a:r>
              <a:rPr lang="en-US" sz="4800" b="1" dirty="0">
                <a:solidFill>
                  <a:srgbClr val="141414"/>
                </a:solidFill>
                <a:latin typeface="Arial" pitchFamily="34" charset="0"/>
                <a:ea typeface="Arial" pitchFamily="34" charset="-122"/>
                <a:cs typeface="Arial" pitchFamily="34" charset="-120"/>
              </a:rPr>
              <a:t>Visual &amp; Physical Data</a:t>
            </a:r>
            <a:endParaRPr lang="en-US" sz="4800" dirty="0"/>
          </a:p>
        </p:txBody>
      </p:sp>
      <p:sp>
        <p:nvSpPr>
          <p:cNvPr id="6" name="Text 4"/>
          <p:cNvSpPr/>
          <p:nvPr/>
        </p:nvSpPr>
        <p:spPr>
          <a:xfrm>
            <a:off x="786384" y="3703320"/>
            <a:ext cx="6125794" cy="914400"/>
          </a:xfrm>
          <a:prstGeom prst="rect">
            <a:avLst/>
          </a:prstGeom>
          <a:noFill/>
          <a:ln/>
        </p:spPr>
        <p:txBody>
          <a:bodyPr wrap="square" lIns="0" tIns="0" rIns="0" bIns="0" rtlCol="0" anchor="ctr"/>
          <a:lstStyle/>
          <a:p>
            <a:pPr indent="0" marL="0">
              <a:lnSpc>
                <a:spcPts val="2500"/>
              </a:lnSpc>
              <a:buNone/>
            </a:pPr>
            <a:r>
              <a:rPr lang="en-US" sz="1950" dirty="0">
                <a:solidFill>
                  <a:srgbClr val="6E6A63"/>
                </a:solidFill>
                <a:latin typeface="Arial" pitchFamily="34" charset="0"/>
                <a:ea typeface="Arial" pitchFamily="34" charset="-122"/>
                <a:cs typeface="Arial" pitchFamily="34" charset="-120"/>
              </a:rPr>
              <a:t>Levels 3, 4 and 5. Images, multi-step reasoning, and data you collect yourself.</a:t>
            </a:r>
            <a:endParaRPr lang="en-US" sz="1950" dirty="0"/>
          </a:p>
        </p:txBody>
      </p:sp>
      <p:sp>
        <p:nvSpPr>
          <p:cNvPr id="7" name="Shape 5"/>
          <p:cNvSpPr/>
          <p:nvPr/>
        </p:nvSpPr>
        <p:spPr>
          <a:xfrm>
            <a:off x="786384" y="5760720"/>
            <a:ext cx="10618927" cy="10973"/>
          </a:xfrm>
          <a:prstGeom prst="rect">
            <a:avLst/>
          </a:prstGeom>
          <a:solidFill>
            <a:srgbClr val="D5D1CA"/>
          </a:solidFill>
          <a:ln/>
        </p:spPr>
      </p:sp>
      <p:sp>
        <p:nvSpPr>
          <p:cNvPr id="8" name="Text 6"/>
          <p:cNvSpPr/>
          <p:nvPr/>
        </p:nvSpPr>
        <p:spPr>
          <a:xfrm>
            <a:off x="786384" y="5907024"/>
            <a:ext cx="10618927" cy="274320"/>
          </a:xfrm>
          <a:prstGeom prst="rect">
            <a:avLst/>
          </a:prstGeom>
          <a:noFill/>
          <a:ln/>
        </p:spPr>
        <p:txBody>
          <a:bodyPr wrap="square" lIns="0" tIns="0" rIns="0" bIns="0" rtlCol="0" anchor="ctr"/>
          <a:lstStyle/>
          <a:p>
            <a:pPr indent="0" marL="0">
              <a:buNone/>
            </a:pPr>
            <a:r>
              <a:rPr lang="en-US" sz="1450" dirty="0">
                <a:solidFill>
                  <a:srgbClr val="9C978E"/>
                </a:solidFill>
                <a:latin typeface="Arial" pitchFamily="34" charset="0"/>
                <a:ea typeface="Arial" pitchFamily="34" charset="-122"/>
                <a:cs typeface="Arial" pitchFamily="34" charset="-120"/>
              </a:rPr>
              <a:t>Chatbot Challenge 2026  ·  Open lab for 30 minutes afterwards</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Today's Session</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02</a:t>
            </a:r>
            <a:endParaRPr lang="en-US" sz="1200" dirty="0"/>
          </a:p>
        </p:txBody>
      </p:sp>
      <p:sp>
        <p:nvSpPr>
          <p:cNvPr id="5" name="Shape 3"/>
          <p:cNvSpPr/>
          <p:nvPr/>
        </p:nvSpPr>
        <p:spPr>
          <a:xfrm>
            <a:off x="786384" y="1678580"/>
            <a:ext cx="566928" cy="369860"/>
          </a:xfrm>
          <a:prstGeom prst="roundRect">
            <a:avLst>
              <a:gd name="adj" fmla="val 12361"/>
            </a:avLst>
          </a:prstGeom>
          <a:solidFill>
            <a:srgbClr val="8C5A2B"/>
          </a:solidFill>
          <a:ln/>
        </p:spPr>
      </p:sp>
      <p:sp>
        <p:nvSpPr>
          <p:cNvPr id="6" name="Text 4"/>
          <p:cNvSpPr/>
          <p:nvPr/>
        </p:nvSpPr>
        <p:spPr>
          <a:xfrm>
            <a:off x="786384" y="1678580"/>
            <a:ext cx="566928" cy="3698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Lv3</a:t>
            </a:r>
            <a:endParaRPr lang="en-US" sz="1150" dirty="0"/>
          </a:p>
        </p:txBody>
      </p:sp>
      <p:sp>
        <p:nvSpPr>
          <p:cNvPr id="7" name="Text 5"/>
          <p:cNvSpPr/>
          <p:nvPr/>
        </p:nvSpPr>
        <p:spPr>
          <a:xfrm>
            <a:off x="1563624" y="1642788"/>
            <a:ext cx="2743200" cy="429515"/>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Visual retrieval</a:t>
            </a:r>
            <a:endParaRPr lang="en-US" sz="1700" dirty="0"/>
          </a:p>
        </p:txBody>
      </p:sp>
      <p:sp>
        <p:nvSpPr>
          <p:cNvPr id="8" name="Text 6"/>
          <p:cNvSpPr/>
          <p:nvPr/>
        </p:nvSpPr>
        <p:spPr>
          <a:xfrm>
            <a:off x="4352544" y="1654719"/>
            <a:ext cx="3291840" cy="429515"/>
          </a:xfrm>
          <a:prstGeom prst="rect">
            <a:avLst/>
          </a:prstGeom>
          <a:noFill/>
          <a:ln/>
        </p:spPr>
        <p:txBody>
          <a:bodyPr wrap="square" lIns="0" tIns="0" rIns="0" bIns="0" rtlCol="0" anchor="ctr"/>
          <a:lstStyle/>
          <a:p>
            <a:pPr indent="0" marL="0">
              <a:buNone/>
            </a:pPr>
            <a:r>
              <a:rPr lang="en-US" sz="1500" dirty="0">
                <a:solidFill>
                  <a:srgbClr val="141414"/>
                </a:solidFill>
                <a:latin typeface="Arial" pitchFamily="34" charset="0"/>
                <a:ea typeface="Arial" pitchFamily="34" charset="-122"/>
                <a:cs typeface="Arial" pitchFamily="34" charset="-120"/>
              </a:rPr>
              <a:t>40% of the preliminary round</a:t>
            </a:r>
            <a:endParaRPr lang="en-US" sz="1500" dirty="0"/>
          </a:p>
        </p:txBody>
      </p:sp>
      <p:sp>
        <p:nvSpPr>
          <p:cNvPr id="9" name="Text 7"/>
          <p:cNvSpPr/>
          <p:nvPr/>
        </p:nvSpPr>
        <p:spPr>
          <a:xfrm>
            <a:off x="8662111" y="1654719"/>
            <a:ext cx="2743200" cy="429515"/>
          </a:xfrm>
          <a:prstGeom prst="rect">
            <a:avLst/>
          </a:prstGeom>
          <a:noFill/>
          <a:ln/>
        </p:spPr>
        <p:txBody>
          <a:bodyPr wrap="square" lIns="0" tIns="0" rIns="0" bIns="0" rtlCol="0" anchor="ctr"/>
          <a:lstStyle/>
          <a:p>
            <a:pPr algn="r" indent="0" marL="0">
              <a:buNone/>
            </a:pPr>
            <a:r>
              <a:rPr lang="en-US" sz="1500" dirty="0">
                <a:solidFill>
                  <a:srgbClr val="6E6A63"/>
                </a:solidFill>
                <a:latin typeface="Arial" pitchFamily="34" charset="0"/>
                <a:ea typeface="Arial" pitchFamily="34" charset="-122"/>
                <a:cs typeface="Arial" pitchFamily="34" charset="-120"/>
              </a:rPr>
              <a:t>Block 2 and 3</a:t>
            </a:r>
            <a:endParaRPr lang="en-US" sz="1500" dirty="0"/>
          </a:p>
        </p:txBody>
      </p:sp>
      <p:sp>
        <p:nvSpPr>
          <p:cNvPr id="10" name="Shape 8"/>
          <p:cNvSpPr/>
          <p:nvPr/>
        </p:nvSpPr>
        <p:spPr>
          <a:xfrm>
            <a:off x="786384" y="2537610"/>
            <a:ext cx="566928" cy="369860"/>
          </a:xfrm>
          <a:prstGeom prst="roundRect">
            <a:avLst>
              <a:gd name="adj" fmla="val 12361"/>
            </a:avLst>
          </a:prstGeom>
          <a:solidFill>
            <a:srgbClr val="7A3B52"/>
          </a:solidFill>
          <a:ln/>
        </p:spPr>
      </p:sp>
      <p:sp>
        <p:nvSpPr>
          <p:cNvPr id="11" name="Text 9"/>
          <p:cNvSpPr/>
          <p:nvPr/>
        </p:nvSpPr>
        <p:spPr>
          <a:xfrm>
            <a:off x="786384" y="2537610"/>
            <a:ext cx="566928" cy="3698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Lv4</a:t>
            </a:r>
            <a:endParaRPr lang="en-US" sz="1150" dirty="0"/>
          </a:p>
        </p:txBody>
      </p:sp>
      <p:sp>
        <p:nvSpPr>
          <p:cNvPr id="12" name="Text 10"/>
          <p:cNvSpPr/>
          <p:nvPr/>
        </p:nvSpPr>
        <p:spPr>
          <a:xfrm>
            <a:off x="1563624" y="2501817"/>
            <a:ext cx="2743200" cy="429515"/>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Reasoning</a:t>
            </a:r>
            <a:endParaRPr lang="en-US" sz="1700" dirty="0"/>
          </a:p>
        </p:txBody>
      </p:sp>
      <p:sp>
        <p:nvSpPr>
          <p:cNvPr id="13" name="Text 11"/>
          <p:cNvSpPr/>
          <p:nvPr/>
        </p:nvSpPr>
        <p:spPr>
          <a:xfrm>
            <a:off x="4352544" y="2513748"/>
            <a:ext cx="3291840" cy="429515"/>
          </a:xfrm>
          <a:prstGeom prst="rect">
            <a:avLst/>
          </a:prstGeom>
          <a:noFill/>
          <a:ln/>
        </p:spPr>
        <p:txBody>
          <a:bodyPr wrap="square" lIns="0" tIns="0" rIns="0" bIns="0" rtlCol="0" anchor="ctr"/>
          <a:lstStyle/>
          <a:p>
            <a:pPr indent="0" marL="0">
              <a:buNone/>
            </a:pPr>
            <a:r>
              <a:rPr lang="en-US" sz="1500" dirty="0">
                <a:solidFill>
                  <a:srgbClr val="141414"/>
                </a:solidFill>
                <a:latin typeface="Arial" pitchFamily="34" charset="0"/>
                <a:ea typeface="Arial" pitchFamily="34" charset="-122"/>
                <a:cs typeface="Arial" pitchFamily="34" charset="-120"/>
              </a:rPr>
              <a:t>About 30% of the final</a:t>
            </a:r>
            <a:endParaRPr lang="en-US" sz="1500" dirty="0"/>
          </a:p>
        </p:txBody>
      </p:sp>
      <p:sp>
        <p:nvSpPr>
          <p:cNvPr id="14" name="Text 12"/>
          <p:cNvSpPr/>
          <p:nvPr/>
        </p:nvSpPr>
        <p:spPr>
          <a:xfrm>
            <a:off x="8662111" y="2513748"/>
            <a:ext cx="2743200" cy="429515"/>
          </a:xfrm>
          <a:prstGeom prst="rect">
            <a:avLst/>
          </a:prstGeom>
          <a:noFill/>
          <a:ln/>
        </p:spPr>
        <p:txBody>
          <a:bodyPr wrap="square" lIns="0" tIns="0" rIns="0" bIns="0" rtlCol="0" anchor="ctr"/>
          <a:lstStyle/>
          <a:p>
            <a:pPr algn="r" indent="0" marL="0">
              <a:buNone/>
            </a:pPr>
            <a:r>
              <a:rPr lang="en-US" sz="1500" dirty="0">
                <a:solidFill>
                  <a:srgbClr val="6E6A63"/>
                </a:solidFill>
                <a:latin typeface="Arial" pitchFamily="34" charset="0"/>
                <a:ea typeface="Arial" pitchFamily="34" charset="-122"/>
                <a:cs typeface="Arial" pitchFamily="34" charset="-120"/>
              </a:rPr>
              <a:t>Block 4</a:t>
            </a:r>
            <a:endParaRPr lang="en-US" sz="1500" dirty="0"/>
          </a:p>
        </p:txBody>
      </p:sp>
      <p:sp>
        <p:nvSpPr>
          <p:cNvPr id="15" name="Shape 13"/>
          <p:cNvSpPr/>
          <p:nvPr/>
        </p:nvSpPr>
        <p:spPr>
          <a:xfrm>
            <a:off x="786384" y="3396639"/>
            <a:ext cx="566928" cy="369860"/>
          </a:xfrm>
          <a:prstGeom prst="roundRect">
            <a:avLst>
              <a:gd name="adj" fmla="val 12361"/>
            </a:avLst>
          </a:prstGeom>
          <a:solidFill>
            <a:srgbClr val="4A3C7A"/>
          </a:solidFill>
          <a:ln/>
        </p:spPr>
      </p:sp>
      <p:sp>
        <p:nvSpPr>
          <p:cNvPr id="16" name="Text 14"/>
          <p:cNvSpPr/>
          <p:nvPr/>
        </p:nvSpPr>
        <p:spPr>
          <a:xfrm>
            <a:off x="786384" y="3396639"/>
            <a:ext cx="566928" cy="3698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Lv5</a:t>
            </a:r>
            <a:endParaRPr lang="en-US" sz="1150" dirty="0"/>
          </a:p>
        </p:txBody>
      </p:sp>
      <p:sp>
        <p:nvSpPr>
          <p:cNvPr id="17" name="Text 15"/>
          <p:cNvSpPr/>
          <p:nvPr/>
        </p:nvSpPr>
        <p:spPr>
          <a:xfrm>
            <a:off x="1563624" y="3360846"/>
            <a:ext cx="2743200" cy="429515"/>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Physical world</a:t>
            </a:r>
            <a:endParaRPr lang="en-US" sz="1700" dirty="0"/>
          </a:p>
        </p:txBody>
      </p:sp>
      <p:sp>
        <p:nvSpPr>
          <p:cNvPr id="18" name="Text 16"/>
          <p:cNvSpPr/>
          <p:nvPr/>
        </p:nvSpPr>
        <p:spPr>
          <a:xfrm>
            <a:off x="4352544" y="3372777"/>
            <a:ext cx="3291840" cy="429515"/>
          </a:xfrm>
          <a:prstGeom prst="rect">
            <a:avLst/>
          </a:prstGeom>
          <a:noFill/>
          <a:ln/>
        </p:spPr>
        <p:txBody>
          <a:bodyPr wrap="square" lIns="0" tIns="0" rIns="0" bIns="0" rtlCol="0" anchor="ctr"/>
          <a:lstStyle/>
          <a:p>
            <a:pPr indent="0" marL="0">
              <a:buNone/>
            </a:pPr>
            <a:r>
              <a:rPr lang="en-US" sz="1500" dirty="0">
                <a:solidFill>
                  <a:srgbClr val="141414"/>
                </a:solidFill>
                <a:latin typeface="Arial" pitchFamily="34" charset="0"/>
                <a:ea typeface="Arial" pitchFamily="34" charset="-122"/>
                <a:cs typeface="Arial" pitchFamily="34" charset="-120"/>
              </a:rPr>
              <a:t>About 40% of the final</a:t>
            </a:r>
            <a:endParaRPr lang="en-US" sz="1500" dirty="0"/>
          </a:p>
        </p:txBody>
      </p:sp>
      <p:sp>
        <p:nvSpPr>
          <p:cNvPr id="19" name="Text 17"/>
          <p:cNvSpPr/>
          <p:nvPr/>
        </p:nvSpPr>
        <p:spPr>
          <a:xfrm>
            <a:off x="8662111" y="3372777"/>
            <a:ext cx="2743200" cy="429515"/>
          </a:xfrm>
          <a:prstGeom prst="rect">
            <a:avLst/>
          </a:prstGeom>
          <a:noFill/>
          <a:ln/>
        </p:spPr>
        <p:txBody>
          <a:bodyPr wrap="square" lIns="0" tIns="0" rIns="0" bIns="0" rtlCol="0" anchor="ctr"/>
          <a:lstStyle/>
          <a:p>
            <a:pPr algn="r" indent="0" marL="0">
              <a:buNone/>
            </a:pPr>
            <a:r>
              <a:rPr lang="en-US" sz="1500" dirty="0">
                <a:solidFill>
                  <a:srgbClr val="6E6A63"/>
                </a:solidFill>
                <a:latin typeface="Arial" pitchFamily="34" charset="0"/>
                <a:ea typeface="Arial" pitchFamily="34" charset="-122"/>
                <a:cs typeface="Arial" pitchFamily="34" charset="-120"/>
              </a:rPr>
              <a:t>Your own time</a:t>
            </a:r>
            <a:endParaRPr lang="en-US" sz="1500" dirty="0"/>
          </a:p>
        </p:txBody>
      </p:sp>
      <p:sp>
        <p:nvSpPr>
          <p:cNvPr id="20" name="Text 18"/>
          <p:cNvSpPr/>
          <p:nvPr/>
        </p:nvSpPr>
        <p:spPr>
          <a:xfrm>
            <a:off x="786384" y="4661321"/>
            <a:ext cx="9769413" cy="954477"/>
          </a:xfrm>
          <a:prstGeom prst="rect">
            <a:avLst/>
          </a:prstGeom>
          <a:noFill/>
          <a:ln/>
        </p:spPr>
        <p:txBody>
          <a:bodyPr wrap="square" lIns="0" tIns="0" rIns="0" bIns="0" rtlCol="0" anchor="ctr"/>
          <a:lstStyle/>
          <a:p>
            <a:pPr indent="0" marL="0">
              <a:lnSpc>
                <a:spcPts val="2500"/>
              </a:lnSpc>
              <a:buNone/>
            </a:pPr>
            <a:r>
              <a:rPr lang="en-US" sz="1700" dirty="0">
                <a:solidFill>
                  <a:srgbClr val="141414"/>
                </a:solidFill>
                <a:latin typeface="Arial" pitchFamily="34" charset="0"/>
                <a:ea typeface="Arial" pitchFamily="34" charset="-122"/>
                <a:cs typeface="Arial" pitchFamily="34" charset="-120"/>
              </a:rPr>
              <a:t>A bot that handles only Levels 1 and 2 covers 60% of the preliminary round and none of the final round.</a:t>
            </a:r>
            <a:endParaRPr lang="en-US" sz="1700" dirty="0"/>
          </a:p>
        </p:txBody>
      </p:sp>
      <p:sp>
        <p:nvSpPr>
          <p:cNvPr id="21" name="Text 19"/>
          <p:cNvSpPr/>
          <p:nvPr/>
        </p:nvSpPr>
        <p:spPr>
          <a:xfrm>
            <a:off x="786384" y="5711246"/>
            <a:ext cx="10618927" cy="524962"/>
          </a:xfrm>
          <a:prstGeom prst="rect">
            <a:avLst/>
          </a:prstGeom>
          <a:noFill/>
          <a:ln/>
        </p:spPr>
        <p:txBody>
          <a:bodyPr wrap="square" lIns="0" tIns="0" rIns="0" bIns="0" rtlCol="0" anchor="ctr"/>
          <a:lstStyle/>
          <a:p>
            <a:pPr indent="0" marL="0">
              <a:buNone/>
            </a:pPr>
            <a:r>
              <a:rPr lang="en-US" sz="2100" b="1" dirty="0">
                <a:solidFill>
                  <a:srgbClr val="C0402A"/>
                </a:solidFill>
                <a:latin typeface="Arial" pitchFamily="34" charset="0"/>
                <a:ea typeface="Arial" pitchFamily="34" charset="-122"/>
                <a:cs typeface="Arial" pitchFamily="34" charset="-120"/>
              </a:rPr>
              <a:t>This session covers the remaining three levels.</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212"/>
        </a:solidFill>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algn="r" indent="0" marL="0">
              <a:buNone/>
            </a:pPr>
            <a:r>
              <a:rPr lang="en-US" sz="9600" b="1" dirty="0">
                <a:solidFill>
                  <a:srgbClr val="3D3934"/>
                </a:solidFill>
                <a:latin typeface="Arial" pitchFamily="34" charset="0"/>
                <a:ea typeface="Arial" pitchFamily="34" charset="-122"/>
                <a:cs typeface="Arial" pitchFamily="34" charset="-120"/>
              </a:rPr>
              <a:t>1</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indent="0" marL="0">
              <a:buNone/>
            </a:pPr>
            <a:r>
              <a:rPr lang="en-US" sz="1200" b="1" spc="260" kern="0" dirty="0">
                <a:solidFill>
                  <a:srgbClr val="C0402A"/>
                </a:solidFill>
                <a:latin typeface="Arial" pitchFamily="34" charset="0"/>
                <a:ea typeface="Arial" pitchFamily="34" charset="-122"/>
                <a:cs typeface="Arial" pitchFamily="34" charset="-120"/>
              </a:rPr>
              <a:t>BLOCK 1</a:t>
            </a:r>
            <a:endParaRPr lang="en-US" sz="1200" dirty="0"/>
          </a:p>
        </p:txBody>
      </p:sp>
      <p:sp>
        <p:nvSpPr>
          <p:cNvPr id="4" name="Shape 2"/>
          <p:cNvSpPr/>
          <p:nvPr/>
        </p:nvSpPr>
        <p:spPr>
          <a:xfrm>
            <a:off x="786384" y="2377440"/>
            <a:ext cx="1371600" cy="20117"/>
          </a:xfrm>
          <a:prstGeom prst="rect">
            <a:avLst/>
          </a:prstGeom>
          <a:solidFill>
            <a:srgbClr val="C0402A"/>
          </a:solidFill>
          <a:ln/>
        </p:spPr>
      </p:sp>
      <p:sp>
        <p:nvSpPr>
          <p:cNvPr id="5" name="Text 3"/>
          <p:cNvSpPr/>
          <p:nvPr/>
        </p:nvSpPr>
        <p:spPr>
          <a:xfrm>
            <a:off x="786384" y="2596896"/>
            <a:ext cx="7024421" cy="1188720"/>
          </a:xfrm>
          <a:prstGeom prst="rect">
            <a:avLst/>
          </a:prstGeom>
          <a:noFill/>
          <a:ln/>
        </p:spPr>
        <p:txBody>
          <a:bodyPr wrap="square" lIns="0" tIns="0" rIns="0" bIns="0" rtlCol="0" anchor="ctr"/>
          <a:lstStyle/>
          <a:p>
            <a:pPr indent="0" marL="0">
              <a:lnSpc>
                <a:spcPts val="4000"/>
              </a:lnSpc>
              <a:buNone/>
            </a:pPr>
            <a:r>
              <a:rPr lang="en-US" sz="3600" b="1" dirty="0">
                <a:solidFill>
                  <a:srgbClr val="FAF8F5"/>
                </a:solidFill>
                <a:latin typeface="Arial" pitchFamily="34" charset="0"/>
                <a:ea typeface="Arial" pitchFamily="34" charset="-122"/>
                <a:cs typeface="Arial" pitchFamily="34" charset="-120"/>
              </a:rPr>
              <a:t>Sharing</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indent="0" marL="0">
              <a:lnSpc>
                <a:spcPts val="2300"/>
              </a:lnSpc>
              <a:buNone/>
            </a:pPr>
            <a:r>
              <a:rPr lang="en-US" sz="1750" dirty="0">
                <a:solidFill>
                  <a:srgbClr val="A8A39B"/>
                </a:solidFill>
                <a:latin typeface="Arial" pitchFamily="34" charset="0"/>
                <a:ea typeface="Arial" pitchFamily="34" charset="-122"/>
                <a:cs typeface="Arial" pitchFamily="34" charset="-120"/>
              </a:rPr>
              <a:t>Three teams report on the image-data homework. Everyone posts a per-level score.</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algn="r" indent="0" marL="0">
              <a:buNone/>
            </a:pPr>
            <a:r>
              <a:rPr lang="en-US" sz="1450" b="1" spc="180" kern="0" dirty="0">
                <a:solidFill>
                  <a:srgbClr val="C0402A"/>
                </a:solidFill>
                <a:latin typeface="Arial" pitchFamily="34" charset="0"/>
                <a:ea typeface="Arial" pitchFamily="34" charset="-122"/>
                <a:cs typeface="Arial" pitchFamily="34" charset="-120"/>
              </a:rPr>
              <a:t>15 MIN</a:t>
            </a:r>
            <a:endParaRPr lang="en-US" sz="1450" dirty="0"/>
          </a:p>
        </p:txBody>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56534E"/>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Where Everyone Is</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04</a:t>
            </a:r>
            <a:endParaRPr lang="en-US" sz="1200" dirty="0"/>
          </a:p>
        </p:txBody>
      </p:sp>
      <p:sp>
        <p:nvSpPr>
          <p:cNvPr id="6" name="Shape 3"/>
          <p:cNvSpPr/>
          <p:nvPr/>
        </p:nvSpPr>
        <p:spPr>
          <a:xfrm>
            <a:off x="786384" y="1615657"/>
            <a:ext cx="6583735" cy="2004349"/>
          </a:xfrm>
          <a:prstGeom prst="rect">
            <a:avLst/>
          </a:prstGeom>
          <a:solidFill>
            <a:srgbClr val="F2EFEA"/>
          </a:solidFill>
          <a:ln/>
        </p:spPr>
      </p:sp>
      <p:sp>
        <p:nvSpPr>
          <p:cNvPr id="7" name="Shape 4"/>
          <p:cNvSpPr/>
          <p:nvPr/>
        </p:nvSpPr>
        <p:spPr>
          <a:xfrm>
            <a:off x="786384" y="1615657"/>
            <a:ext cx="27432" cy="2004349"/>
          </a:xfrm>
          <a:prstGeom prst="rect">
            <a:avLst/>
          </a:prstGeom>
          <a:solidFill>
            <a:srgbClr val="C0402A"/>
          </a:solidFill>
          <a:ln/>
        </p:spPr>
      </p:sp>
      <p:sp>
        <p:nvSpPr>
          <p:cNvPr id="8" name="Text 5"/>
          <p:cNvSpPr/>
          <p:nvPr/>
        </p:nvSpPr>
        <p:spPr>
          <a:xfrm>
            <a:off x="1042416" y="1784444"/>
            <a:ext cx="6144823" cy="1666774"/>
          </a:xfrm>
          <a:prstGeom prst="rect">
            <a:avLst/>
          </a:prstGeom>
          <a:noFill/>
          <a:ln/>
        </p:spPr>
        <p:txBody>
          <a:bodyPr wrap="square" lIns="0" tIns="0" rIns="0" bIns="0" rtlCol="0" anchor="t"/>
          <a:lstStyle/>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Team          Lv1    Lv2    Lv3    Lv4    Lv5    Total</a:t>
            </a:r>
            <a:endParaRPr lang="en-US" sz="1300" dirty="0"/>
          </a:p>
          <a:p>
            <a:pPr indent="0" marL="0">
              <a:lnSpc>
                <a:spcPts val="1900"/>
              </a:lnSpc>
              <a:buNone/>
            </a:pP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          3/3    2/3    0/3    0/3    0/3     5/15</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          3/3    3/3    0/3    1/3    0/3     7/15</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          2/3    2/3    1/3    0/3    0/3     5/15</a:t>
            </a:r>
            <a:endParaRPr lang="en-US" sz="1300" dirty="0"/>
          </a:p>
        </p:txBody>
      </p:sp>
      <p:sp>
        <p:nvSpPr>
          <p:cNvPr id="9" name="Shape 6"/>
          <p:cNvSpPr/>
          <p:nvPr/>
        </p:nvSpPr>
        <p:spPr>
          <a:xfrm>
            <a:off x="7794876" y="1615657"/>
            <a:ext cx="3610435" cy="18989"/>
          </a:xfrm>
          <a:prstGeom prst="rect">
            <a:avLst/>
          </a:prstGeom>
          <a:solidFill>
            <a:srgbClr val="141414"/>
          </a:solidFill>
          <a:ln/>
        </p:spPr>
      </p:sp>
      <p:sp>
        <p:nvSpPr>
          <p:cNvPr id="10" name="Text 7"/>
          <p:cNvSpPr/>
          <p:nvPr/>
        </p:nvSpPr>
        <p:spPr>
          <a:xfrm>
            <a:off x="7794876" y="1784444"/>
            <a:ext cx="3610435" cy="397060"/>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Zero on Lv3 is expected</a:t>
            </a:r>
            <a:endParaRPr lang="en-US" sz="1950" dirty="0"/>
          </a:p>
        </p:txBody>
      </p:sp>
      <p:sp>
        <p:nvSpPr>
          <p:cNvPr id="11" name="Text 8"/>
          <p:cNvSpPr/>
          <p:nvPr/>
        </p:nvSpPr>
        <p:spPr>
          <a:xfrm>
            <a:off x="7794876" y="2265898"/>
            <a:ext cx="3610435" cy="1312790"/>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The homework asked you to try something we had not taught. Most teams will have scored nothing, and that is the intended starting point for block 2.</a:t>
            </a:r>
            <a:endParaRPr lang="en-US" sz="1450" dirty="0"/>
          </a:p>
        </p:txBody>
      </p:sp>
      <p:sp>
        <p:nvSpPr>
          <p:cNvPr id="12" name="Text 9"/>
          <p:cNvSpPr/>
          <p:nvPr/>
        </p:nvSpPr>
        <p:spPr>
          <a:xfrm>
            <a:off x="786384" y="3936482"/>
            <a:ext cx="10618927" cy="464165"/>
          </a:xfrm>
          <a:prstGeom prst="rect">
            <a:avLst/>
          </a:prstGeom>
          <a:noFill/>
          <a:ln/>
        </p:spPr>
        <p:txBody>
          <a:bodyPr wrap="square" lIns="0" tIns="0" rIns="0" bIns="0" rtlCol="0" anchor="ctr"/>
          <a:lstStyle/>
          <a:p>
            <a:pPr indent="0" marL="0">
              <a:buNone/>
            </a:pPr>
            <a:r>
              <a:rPr lang="en-US" sz="2100" b="1" dirty="0">
                <a:solidFill>
                  <a:srgbClr val="141414"/>
                </a:solidFill>
                <a:latin typeface="Arial" pitchFamily="34" charset="0"/>
                <a:ea typeface="Arial" pitchFamily="34" charset="-122"/>
                <a:cs typeface="Arial" pitchFamily="34" charset="-120"/>
              </a:rPr>
              <a:t>Three teams, two minutes each</a:t>
            </a:r>
            <a:endParaRPr lang="en-US" sz="2100" dirty="0"/>
          </a:p>
        </p:txBody>
      </p:sp>
      <p:sp>
        <p:nvSpPr>
          <p:cNvPr id="13" name="Shape 10"/>
          <p:cNvSpPr/>
          <p:nvPr/>
        </p:nvSpPr>
        <p:spPr>
          <a:xfrm>
            <a:off x="786384" y="4584379"/>
            <a:ext cx="155448" cy="21098"/>
          </a:xfrm>
          <a:prstGeom prst="rect">
            <a:avLst/>
          </a:prstGeom>
          <a:solidFill>
            <a:srgbClr val="C0402A"/>
          </a:solidFill>
          <a:ln/>
        </p:spPr>
      </p:sp>
      <p:sp>
        <p:nvSpPr>
          <p:cNvPr id="14" name="Text 11"/>
          <p:cNvSpPr/>
          <p:nvPr/>
        </p:nvSpPr>
        <p:spPr>
          <a:xfrm>
            <a:off x="1097280" y="4442844"/>
            <a:ext cx="9246138" cy="400284"/>
          </a:xfrm>
          <a:prstGeom prst="rect">
            <a:avLst/>
          </a:prstGeom>
          <a:noFill/>
          <a:ln/>
        </p:spPr>
        <p:txBody>
          <a:bodyPr wrap="square" lIns="0" tIns="0" rIns="0" bIns="0" rtlCol="0" anchor="t"/>
          <a:lstStyle/>
          <a:p>
            <a:pPr indent="0" marL="0">
              <a:lnSpc>
                <a:spcPts val="2300"/>
              </a:lnSpc>
              <a:buNone/>
            </a:pPr>
            <a:r>
              <a:rPr lang="en-US" sz="1600" dirty="0">
                <a:solidFill>
                  <a:srgbClr val="141414"/>
                </a:solidFill>
                <a:latin typeface="Arial" pitchFamily="34" charset="0"/>
                <a:ea typeface="Arial" pitchFamily="34" charset="-122"/>
                <a:cs typeface="Arial" pitchFamily="34" charset="-120"/>
              </a:rPr>
              <a:t>What approach did you take to image data?</a:t>
            </a:r>
            <a:endParaRPr lang="en-US" sz="1600" dirty="0"/>
          </a:p>
        </p:txBody>
      </p:sp>
      <p:sp>
        <p:nvSpPr>
          <p:cNvPr id="15" name="Shape 12"/>
          <p:cNvSpPr/>
          <p:nvPr/>
        </p:nvSpPr>
        <p:spPr>
          <a:xfrm>
            <a:off x="786384" y="5047958"/>
            <a:ext cx="155448" cy="21098"/>
          </a:xfrm>
          <a:prstGeom prst="rect">
            <a:avLst/>
          </a:prstGeom>
          <a:solidFill>
            <a:srgbClr val="C0402A"/>
          </a:solidFill>
          <a:ln/>
        </p:spPr>
      </p:sp>
      <p:sp>
        <p:nvSpPr>
          <p:cNvPr id="16" name="Text 13"/>
          <p:cNvSpPr/>
          <p:nvPr/>
        </p:nvSpPr>
        <p:spPr>
          <a:xfrm>
            <a:off x="1097280" y="4906422"/>
            <a:ext cx="9246138" cy="400284"/>
          </a:xfrm>
          <a:prstGeom prst="rect">
            <a:avLst/>
          </a:prstGeom>
          <a:noFill/>
          <a:ln/>
        </p:spPr>
        <p:txBody>
          <a:bodyPr wrap="square" lIns="0" tIns="0" rIns="0" bIns="0" rtlCol="0" anchor="t"/>
          <a:lstStyle/>
          <a:p>
            <a:pPr indent="0" marL="0">
              <a:lnSpc>
                <a:spcPts val="2300"/>
              </a:lnSpc>
              <a:buNone/>
            </a:pPr>
            <a:r>
              <a:rPr lang="en-US" sz="1600" dirty="0">
                <a:solidFill>
                  <a:srgbClr val="141414"/>
                </a:solidFill>
                <a:latin typeface="Arial" pitchFamily="34" charset="0"/>
                <a:ea typeface="Arial" pitchFamily="34" charset="-122"/>
                <a:cs typeface="Arial" pitchFamily="34" charset="-120"/>
              </a:rPr>
              <a:t>Where exactly did it break?</a:t>
            </a:r>
            <a:endParaRPr lang="en-US" sz="1600" dirty="0"/>
          </a:p>
        </p:txBody>
      </p:sp>
      <p:sp>
        <p:nvSpPr>
          <p:cNvPr id="17" name="Shape 14"/>
          <p:cNvSpPr/>
          <p:nvPr/>
        </p:nvSpPr>
        <p:spPr>
          <a:xfrm>
            <a:off x="786384" y="5511536"/>
            <a:ext cx="155448" cy="21098"/>
          </a:xfrm>
          <a:prstGeom prst="rect">
            <a:avLst/>
          </a:prstGeom>
          <a:solidFill>
            <a:srgbClr val="C0402A"/>
          </a:solidFill>
          <a:ln/>
        </p:spPr>
      </p:sp>
      <p:sp>
        <p:nvSpPr>
          <p:cNvPr id="18" name="Text 15"/>
          <p:cNvSpPr/>
          <p:nvPr/>
        </p:nvSpPr>
        <p:spPr>
          <a:xfrm>
            <a:off x="1097280" y="5370001"/>
            <a:ext cx="9246138" cy="400284"/>
          </a:xfrm>
          <a:prstGeom prst="rect">
            <a:avLst/>
          </a:prstGeom>
          <a:noFill/>
          <a:ln/>
        </p:spPr>
        <p:txBody>
          <a:bodyPr wrap="square" lIns="0" tIns="0" rIns="0" bIns="0" rtlCol="0" anchor="t"/>
          <a:lstStyle/>
          <a:p>
            <a:pPr indent="0" marL="0">
              <a:lnSpc>
                <a:spcPts val="2300"/>
              </a:lnSpc>
              <a:buNone/>
            </a:pPr>
            <a:r>
              <a:rPr lang="en-US" sz="1600" dirty="0">
                <a:solidFill>
                  <a:srgbClr val="141414"/>
                </a:solidFill>
                <a:latin typeface="Arial" pitchFamily="34" charset="0"/>
                <a:ea typeface="Arial" pitchFamily="34" charset="-122"/>
                <a:cs typeface="Arial" pitchFamily="34" charset="-120"/>
              </a:rPr>
              <a:t>What did the score do?</a:t>
            </a:r>
            <a:endParaRPr lang="en-US" sz="1600" dirty="0"/>
          </a:p>
        </p:txBody>
      </p:sp>
      <p:sp>
        <p:nvSpPr>
          <p:cNvPr id="19" name="Text 16"/>
          <p:cNvSpPr/>
          <p:nvPr/>
        </p:nvSpPr>
        <p:spPr>
          <a:xfrm>
            <a:off x="786384" y="5772043"/>
            <a:ext cx="10618927" cy="464165"/>
          </a:xfrm>
          <a:prstGeom prst="rect">
            <a:avLst/>
          </a:prstGeom>
          <a:noFill/>
          <a:ln/>
        </p:spPr>
        <p:txBody>
          <a:bodyPr wrap="square" lIns="0" tIns="0" rIns="0" bIns="0" rtlCol="0" anchor="ctr"/>
          <a:lstStyle/>
          <a:p>
            <a:pPr indent="0" marL="0">
              <a:buNone/>
            </a:pPr>
            <a:r>
              <a:rPr lang="en-US" sz="1500" i="1" dirty="0">
                <a:solidFill>
                  <a:srgbClr val="6E6A63"/>
                </a:solidFill>
                <a:latin typeface="Arial" pitchFamily="34" charset="0"/>
                <a:ea typeface="Arial" pitchFamily="34" charset="-122"/>
                <a:cs typeface="Arial" pitchFamily="34" charset="-120"/>
              </a:rPr>
              <a:t>Describe what you tried and what happened, rather than what you planned to build.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212"/>
        </a:solidFill>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algn="r" indent="0" marL="0">
              <a:buNone/>
            </a:pPr>
            <a:r>
              <a:rPr lang="en-US" sz="9600" b="1" dirty="0">
                <a:solidFill>
                  <a:srgbClr val="3D3934"/>
                </a:solidFill>
                <a:latin typeface="Arial" pitchFamily="34" charset="0"/>
                <a:ea typeface="Arial" pitchFamily="34" charset="-122"/>
                <a:cs typeface="Arial" pitchFamily="34" charset="-120"/>
              </a:rPr>
              <a:t>2</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indent="0" marL="0">
              <a:buNone/>
            </a:pPr>
            <a:r>
              <a:rPr lang="en-US" sz="1200" b="1" spc="260" kern="0" dirty="0">
                <a:solidFill>
                  <a:srgbClr val="C0402A"/>
                </a:solidFill>
                <a:latin typeface="Arial" pitchFamily="34" charset="0"/>
                <a:ea typeface="Arial" pitchFamily="34" charset="-122"/>
                <a:cs typeface="Arial" pitchFamily="34" charset="-120"/>
              </a:rPr>
              <a:t>BLOCK 2  ·  LAB</a:t>
            </a:r>
            <a:endParaRPr lang="en-US" sz="1200" dirty="0"/>
          </a:p>
        </p:txBody>
      </p:sp>
      <p:sp>
        <p:nvSpPr>
          <p:cNvPr id="4" name="Shape 2"/>
          <p:cNvSpPr/>
          <p:nvPr/>
        </p:nvSpPr>
        <p:spPr>
          <a:xfrm>
            <a:off x="786384" y="2377440"/>
            <a:ext cx="1371600" cy="20117"/>
          </a:xfrm>
          <a:prstGeom prst="rect">
            <a:avLst/>
          </a:prstGeom>
          <a:solidFill>
            <a:srgbClr val="C0402A"/>
          </a:solidFill>
          <a:ln/>
        </p:spPr>
      </p:sp>
      <p:sp>
        <p:nvSpPr>
          <p:cNvPr id="5" name="Text 3"/>
          <p:cNvSpPr/>
          <p:nvPr/>
        </p:nvSpPr>
        <p:spPr>
          <a:xfrm>
            <a:off x="786384" y="2596896"/>
            <a:ext cx="7024421" cy="1188720"/>
          </a:xfrm>
          <a:prstGeom prst="rect">
            <a:avLst/>
          </a:prstGeom>
          <a:noFill/>
          <a:ln/>
        </p:spPr>
        <p:txBody>
          <a:bodyPr wrap="square" lIns="0" tIns="0" rIns="0" bIns="0" rtlCol="0" anchor="ctr"/>
          <a:lstStyle/>
          <a:p>
            <a:pPr indent="0" marL="0">
              <a:lnSpc>
                <a:spcPts val="4000"/>
              </a:lnSpc>
              <a:buNone/>
            </a:pPr>
            <a:r>
              <a:rPr lang="en-US" sz="3600" b="1" dirty="0">
                <a:solidFill>
                  <a:srgbClr val="FAF8F5"/>
                </a:solidFill>
                <a:latin typeface="Arial" pitchFamily="34" charset="0"/>
                <a:ea typeface="Arial" pitchFamily="34" charset="-122"/>
                <a:cs typeface="Arial" pitchFamily="34" charset="-120"/>
              </a:rPr>
              <a:t>Diagnosing Image Failures</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indent="0" marL="0">
              <a:lnSpc>
                <a:spcPts val="2300"/>
              </a:lnSpc>
              <a:buNone/>
            </a:pPr>
            <a:r>
              <a:rPr lang="en-US" sz="1750" dirty="0">
                <a:solidFill>
                  <a:srgbClr val="A8A39B"/>
                </a:solidFill>
                <a:latin typeface="Arial" pitchFamily="34" charset="0"/>
                <a:ea typeface="Arial" pitchFamily="34" charset="-122"/>
                <a:cs typeface="Arial" pitchFamily="34" charset="-120"/>
              </a:rPr>
              <a:t>Work out why your bot failed, then look at the two methods that fix it.</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algn="r" indent="0" marL="0">
              <a:buNone/>
            </a:pPr>
            <a:r>
              <a:rPr lang="en-US" sz="1450" b="1" spc="180" kern="0" dirty="0">
                <a:solidFill>
                  <a:srgbClr val="C0402A"/>
                </a:solidFill>
                <a:latin typeface="Arial" pitchFamily="34" charset="0"/>
                <a:ea typeface="Arial" pitchFamily="34" charset="-122"/>
                <a:cs typeface="Arial" pitchFamily="34" charset="-120"/>
              </a:rPr>
              <a:t>25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sp>
      <p:sp>
        <p:nvSpPr>
          <p:cNvPr id="9" name="Text 7"/>
          <p:cNvSpPr/>
          <p:nvPr/>
        </p:nvSpPr>
        <p:spPr>
          <a:xfrm>
            <a:off x="786384" y="5358384"/>
            <a:ext cx="585216" cy="292608"/>
          </a:xfrm>
          <a:prstGeom prst="rect">
            <a:avLst/>
          </a:prstGeom>
          <a:noFill/>
          <a:ln/>
        </p:spPr>
        <p:txBody>
          <a:bodyPr wrap="square" lIns="0" tIns="0" rIns="0" bIns="0" rtlCol="0" anchor="ctr"/>
          <a:lstStyle/>
          <a:p>
            <a:pPr algn="ctr" indent="0" marL="0">
              <a:buNone/>
            </a:pPr>
            <a:r>
              <a:rPr lang="en-US" sz="1100" b="1" spc="60" kern="0" dirty="0">
                <a:solidFill>
                  <a:srgbClr val="B5B0A8"/>
                </a:solidFill>
                <a:latin typeface="Arial" pitchFamily="34" charset="0"/>
                <a:ea typeface="Arial" pitchFamily="34" charset="-122"/>
                <a:cs typeface="Arial" pitchFamily="34" charset="-120"/>
              </a:rPr>
              <a:t>LV3</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56534E"/>
                </a:solidFill>
                <a:latin typeface="Arial" pitchFamily="34" charset="0"/>
                <a:ea typeface="Arial" pitchFamily="34" charset="-122"/>
                <a:cs typeface="Arial"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How Vision Models Work</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06</a:t>
            </a:r>
            <a:endParaRPr lang="en-US" sz="1200" dirty="0"/>
          </a:p>
        </p:txBody>
      </p:sp>
      <p:pic>
        <p:nvPicPr>
          <p:cNvPr id="201" name="Picture 201" descr="patches.jpg"/>
          <p:cNvPicPr>
            <a:picLocks noChangeAspect="1"/>
          </p:cNvPicPr>
          <p:nvPr/>
        </p:nvPicPr>
        <p:blipFill>
          <a:blip r:embed="rId3"/>
          <a:srcRect l="114" t="0" r="114" b="0"/>
          <a:stretch>
            <a:fillRect/>
          </a:stretch>
        </p:blipFill>
        <p:spPr>
          <a:xfrm>
            <a:off x="786384" y="1691640"/>
            <a:ext cx="2651760" cy="1993392"/>
          </a:xfrm>
          <a:prstGeom prst="rect">
            <a:avLst/>
          </a:prstGeom>
        </p:spPr>
      </p:pic>
      <p:sp>
        <p:nvSpPr>
          <p:cNvPr id="202" name="Vis 202"/>
          <p:cNvSpPr/>
          <p:nvPr/>
        </p:nvSpPr>
        <p:spPr>
          <a:xfrm>
            <a:off x="786384" y="3749040"/>
            <a:ext cx="2651760" cy="548640"/>
          </a:xfrm>
          <a:prstGeom prst="rect">
            <a:avLst/>
          </a:prstGeom>
          <a:noFill/>
          <a:ln>
            <a:noFill/>
          </a:ln>
        </p:spPr>
        <p:txBody>
          <a:bodyPr wrap="square" lIns="0" tIns="0" rIns="0" bIns="0" anchor="t">
            <a:noAutofit/>
          </a:bodyPr>
          <a:lstStyle/>
          <a:p>
            <a:pPr algn="l" indent="0" marL="0">
              <a:spcAft>
                <a:spcPts val="200"/>
              </a:spcAft>
              <a:buNone/>
            </a:pPr>
            <a:r>
              <a:rPr lang="en-US" sz="1150" b="1" dirty="0">
                <a:solidFill>
                  <a:srgbClr val="141414"/>
                </a:solidFill>
                <a:latin typeface="Arial"/>
                <a:ea typeface="Arial"/>
                <a:cs typeface="Arial"/>
                <a:sym typeface="Arial"/>
              </a:rPr>
              <a:t>1. Cut into patches</a:t>
            </a:r>
          </a:p>
          <a:p>
            <a:pPr algn="l" indent="0" marL="0">
              <a:buNone/>
            </a:pPr>
            <a:r>
              <a:rPr lang="en-US" sz="1000" dirty="0">
                <a:solidFill>
                  <a:srgbClr val="6E6A63"/>
                </a:solidFill>
                <a:latin typeface="Arial"/>
                <a:ea typeface="Arial"/>
                <a:cs typeface="Arial"/>
                <a:sym typeface="Arial"/>
              </a:rPr>
              <a:t>12 × 9 here; one patch outlined</a:t>
            </a:r>
          </a:p>
        </p:txBody>
      </p:sp>
      <p:cxnSp>
        <p:nvCxnSpPr>
          <p:cNvPr id="203" name="Line 203"/>
          <p:cNvCxnSpPr/>
          <p:nvPr/>
        </p:nvCxnSpPr>
        <p:spPr>
          <a:xfrm>
            <a:off x="3566160" y="2688336"/>
            <a:ext cx="292608" cy="0"/>
          </a:xfrm>
          <a:prstGeom prst="straightConnector1">
            <a:avLst/>
          </a:prstGeom>
          <a:ln w="19050">
            <a:solidFill>
              <a:srgbClr val="9C978E"/>
            </a:solidFill>
            <a:tailEnd type="triangle" w="med" len="med"/>
          </a:ln>
        </p:spPr>
      </p:cxnSp>
      <p:sp>
        <p:nvSpPr>
          <p:cNvPr id="204" name="Vis 204"/>
          <p:cNvSpPr/>
          <p:nvPr/>
        </p:nvSpPr>
        <p:spPr>
          <a:xfrm>
            <a:off x="3977640" y="1819656"/>
            <a:ext cx="164592" cy="164592"/>
          </a:xfrm>
          <a:prstGeom prst="rect">
            <a:avLst/>
          </a:prstGeom>
          <a:solidFill>
            <a:srgbClr val="D98B7C"/>
          </a:solidFill>
          <a:ln>
            <a:noFill/>
          </a:ln>
        </p:spPr>
      </p:sp>
      <p:sp>
        <p:nvSpPr>
          <p:cNvPr id="205" name="Vis 205"/>
          <p:cNvSpPr/>
          <p:nvPr/>
        </p:nvSpPr>
        <p:spPr>
          <a:xfrm>
            <a:off x="4178808" y="1819656"/>
            <a:ext cx="164592" cy="164592"/>
          </a:xfrm>
          <a:prstGeom prst="rect">
            <a:avLst/>
          </a:prstGeom>
          <a:solidFill>
            <a:srgbClr val="D5D1CA"/>
          </a:solidFill>
          <a:ln>
            <a:noFill/>
          </a:ln>
        </p:spPr>
      </p:sp>
      <p:sp>
        <p:nvSpPr>
          <p:cNvPr id="206" name="Vis 206"/>
          <p:cNvSpPr/>
          <p:nvPr/>
        </p:nvSpPr>
        <p:spPr>
          <a:xfrm>
            <a:off x="4379976" y="1819656"/>
            <a:ext cx="164592" cy="164592"/>
          </a:xfrm>
          <a:prstGeom prst="rect">
            <a:avLst/>
          </a:prstGeom>
          <a:solidFill>
            <a:srgbClr val="D5D1CA"/>
          </a:solidFill>
          <a:ln>
            <a:noFill/>
          </a:ln>
        </p:spPr>
      </p:sp>
      <p:sp>
        <p:nvSpPr>
          <p:cNvPr id="207" name="Vis 207"/>
          <p:cNvSpPr/>
          <p:nvPr/>
        </p:nvSpPr>
        <p:spPr>
          <a:xfrm>
            <a:off x="4581144" y="1819656"/>
            <a:ext cx="164592" cy="164592"/>
          </a:xfrm>
          <a:prstGeom prst="rect">
            <a:avLst/>
          </a:prstGeom>
          <a:solidFill>
            <a:srgbClr val="D98B7C"/>
          </a:solidFill>
          <a:ln>
            <a:noFill/>
          </a:ln>
        </p:spPr>
      </p:sp>
      <p:sp>
        <p:nvSpPr>
          <p:cNvPr id="208" name="Vis 208"/>
          <p:cNvSpPr/>
          <p:nvPr/>
        </p:nvSpPr>
        <p:spPr>
          <a:xfrm>
            <a:off x="4782312" y="1819656"/>
            <a:ext cx="164592" cy="164592"/>
          </a:xfrm>
          <a:prstGeom prst="rect">
            <a:avLst/>
          </a:prstGeom>
          <a:solidFill>
            <a:srgbClr val="EAC3B9"/>
          </a:solidFill>
          <a:ln>
            <a:noFill/>
          </a:ln>
        </p:spPr>
      </p:sp>
      <p:sp>
        <p:nvSpPr>
          <p:cNvPr id="209" name="Vis 209"/>
          <p:cNvSpPr/>
          <p:nvPr/>
        </p:nvSpPr>
        <p:spPr>
          <a:xfrm>
            <a:off x="4983480" y="1819656"/>
            <a:ext cx="164592" cy="164592"/>
          </a:xfrm>
          <a:prstGeom prst="rect">
            <a:avLst/>
          </a:prstGeom>
          <a:solidFill>
            <a:srgbClr val="D5D1CA"/>
          </a:solidFill>
          <a:ln>
            <a:noFill/>
          </a:ln>
        </p:spPr>
      </p:sp>
      <p:sp>
        <p:nvSpPr>
          <p:cNvPr id="210" name="Vis 210"/>
          <p:cNvSpPr/>
          <p:nvPr/>
        </p:nvSpPr>
        <p:spPr>
          <a:xfrm>
            <a:off x="5184648" y="1819656"/>
            <a:ext cx="164592" cy="164592"/>
          </a:xfrm>
          <a:prstGeom prst="rect">
            <a:avLst/>
          </a:prstGeom>
          <a:solidFill>
            <a:srgbClr val="B5B0A8"/>
          </a:solidFill>
          <a:ln>
            <a:noFill/>
          </a:ln>
        </p:spPr>
      </p:sp>
      <p:sp>
        <p:nvSpPr>
          <p:cNvPr id="211" name="Vis 211"/>
          <p:cNvSpPr/>
          <p:nvPr/>
        </p:nvSpPr>
        <p:spPr>
          <a:xfrm>
            <a:off x="5385816" y="1819656"/>
            <a:ext cx="164592" cy="164592"/>
          </a:xfrm>
          <a:prstGeom prst="rect">
            <a:avLst/>
          </a:prstGeom>
          <a:solidFill>
            <a:srgbClr val="8C877F"/>
          </a:solidFill>
          <a:ln>
            <a:noFill/>
          </a:ln>
        </p:spPr>
      </p:sp>
      <p:sp>
        <p:nvSpPr>
          <p:cNvPr id="212" name="Vis 212"/>
          <p:cNvSpPr/>
          <p:nvPr/>
        </p:nvSpPr>
        <p:spPr>
          <a:xfrm>
            <a:off x="3977640" y="2075688"/>
            <a:ext cx="164592" cy="164592"/>
          </a:xfrm>
          <a:prstGeom prst="rect">
            <a:avLst/>
          </a:prstGeom>
          <a:solidFill>
            <a:srgbClr val="D5D1CA"/>
          </a:solidFill>
          <a:ln>
            <a:noFill/>
          </a:ln>
        </p:spPr>
      </p:sp>
      <p:sp>
        <p:nvSpPr>
          <p:cNvPr id="213" name="Vis 213"/>
          <p:cNvSpPr/>
          <p:nvPr/>
        </p:nvSpPr>
        <p:spPr>
          <a:xfrm>
            <a:off x="4178808" y="2075688"/>
            <a:ext cx="164592" cy="164592"/>
          </a:xfrm>
          <a:prstGeom prst="rect">
            <a:avLst/>
          </a:prstGeom>
          <a:solidFill>
            <a:srgbClr val="C0402A"/>
          </a:solidFill>
          <a:ln>
            <a:noFill/>
          </a:ln>
        </p:spPr>
      </p:sp>
      <p:sp>
        <p:nvSpPr>
          <p:cNvPr id="214" name="Vis 214"/>
          <p:cNvSpPr/>
          <p:nvPr/>
        </p:nvSpPr>
        <p:spPr>
          <a:xfrm>
            <a:off x="4379976" y="2075688"/>
            <a:ext cx="164592" cy="164592"/>
          </a:xfrm>
          <a:prstGeom prst="rect">
            <a:avLst/>
          </a:prstGeom>
          <a:solidFill>
            <a:srgbClr val="D5D1CA"/>
          </a:solidFill>
          <a:ln>
            <a:noFill/>
          </a:ln>
        </p:spPr>
      </p:sp>
      <p:sp>
        <p:nvSpPr>
          <p:cNvPr id="215" name="Vis 215"/>
          <p:cNvSpPr/>
          <p:nvPr/>
        </p:nvSpPr>
        <p:spPr>
          <a:xfrm>
            <a:off x="4581144" y="2075688"/>
            <a:ext cx="164592" cy="164592"/>
          </a:xfrm>
          <a:prstGeom prst="rect">
            <a:avLst/>
          </a:prstGeom>
          <a:solidFill>
            <a:srgbClr val="C0402A"/>
          </a:solidFill>
          <a:ln>
            <a:noFill/>
          </a:ln>
        </p:spPr>
      </p:sp>
      <p:sp>
        <p:nvSpPr>
          <p:cNvPr id="216" name="Vis 216"/>
          <p:cNvSpPr/>
          <p:nvPr/>
        </p:nvSpPr>
        <p:spPr>
          <a:xfrm>
            <a:off x="4782312" y="2075688"/>
            <a:ext cx="164592" cy="164592"/>
          </a:xfrm>
          <a:prstGeom prst="rect">
            <a:avLst/>
          </a:prstGeom>
          <a:solidFill>
            <a:srgbClr val="B5B0A8"/>
          </a:solidFill>
          <a:ln>
            <a:noFill/>
          </a:ln>
        </p:spPr>
      </p:sp>
      <p:sp>
        <p:nvSpPr>
          <p:cNvPr id="217" name="Vis 217"/>
          <p:cNvSpPr/>
          <p:nvPr/>
        </p:nvSpPr>
        <p:spPr>
          <a:xfrm>
            <a:off x="4983480" y="2075688"/>
            <a:ext cx="164592" cy="164592"/>
          </a:xfrm>
          <a:prstGeom prst="rect">
            <a:avLst/>
          </a:prstGeom>
          <a:solidFill>
            <a:srgbClr val="EAC3B9"/>
          </a:solidFill>
          <a:ln>
            <a:noFill/>
          </a:ln>
        </p:spPr>
      </p:sp>
      <p:sp>
        <p:nvSpPr>
          <p:cNvPr id="218" name="Vis 218"/>
          <p:cNvSpPr/>
          <p:nvPr/>
        </p:nvSpPr>
        <p:spPr>
          <a:xfrm>
            <a:off x="5184648" y="2075688"/>
            <a:ext cx="164592" cy="164592"/>
          </a:xfrm>
          <a:prstGeom prst="rect">
            <a:avLst/>
          </a:prstGeom>
          <a:solidFill>
            <a:srgbClr val="D5D1CA"/>
          </a:solidFill>
          <a:ln>
            <a:noFill/>
          </a:ln>
        </p:spPr>
      </p:sp>
      <p:sp>
        <p:nvSpPr>
          <p:cNvPr id="219" name="Vis 219"/>
          <p:cNvSpPr/>
          <p:nvPr/>
        </p:nvSpPr>
        <p:spPr>
          <a:xfrm>
            <a:off x="5385816" y="2075688"/>
            <a:ext cx="164592" cy="164592"/>
          </a:xfrm>
          <a:prstGeom prst="rect">
            <a:avLst/>
          </a:prstGeom>
          <a:solidFill>
            <a:srgbClr val="D98B7C"/>
          </a:solidFill>
          <a:ln>
            <a:noFill/>
          </a:ln>
        </p:spPr>
      </p:sp>
      <p:sp>
        <p:nvSpPr>
          <p:cNvPr id="220" name="Vis 220"/>
          <p:cNvSpPr/>
          <p:nvPr/>
        </p:nvSpPr>
        <p:spPr>
          <a:xfrm>
            <a:off x="3977640" y="2331720"/>
            <a:ext cx="164592" cy="164592"/>
          </a:xfrm>
          <a:prstGeom prst="rect">
            <a:avLst/>
          </a:prstGeom>
          <a:solidFill>
            <a:srgbClr val="D98B7C"/>
          </a:solidFill>
          <a:ln>
            <a:noFill/>
          </a:ln>
        </p:spPr>
      </p:sp>
      <p:sp>
        <p:nvSpPr>
          <p:cNvPr id="221" name="Vis 221"/>
          <p:cNvSpPr/>
          <p:nvPr/>
        </p:nvSpPr>
        <p:spPr>
          <a:xfrm>
            <a:off x="4178808" y="2331720"/>
            <a:ext cx="164592" cy="164592"/>
          </a:xfrm>
          <a:prstGeom prst="rect">
            <a:avLst/>
          </a:prstGeom>
          <a:solidFill>
            <a:srgbClr val="8C877F"/>
          </a:solidFill>
          <a:ln>
            <a:noFill/>
          </a:ln>
        </p:spPr>
      </p:sp>
      <p:sp>
        <p:nvSpPr>
          <p:cNvPr id="222" name="Vis 222"/>
          <p:cNvSpPr/>
          <p:nvPr/>
        </p:nvSpPr>
        <p:spPr>
          <a:xfrm>
            <a:off x="4379976" y="2331720"/>
            <a:ext cx="164592" cy="164592"/>
          </a:xfrm>
          <a:prstGeom prst="rect">
            <a:avLst/>
          </a:prstGeom>
          <a:solidFill>
            <a:srgbClr val="B5B0A8"/>
          </a:solidFill>
          <a:ln>
            <a:noFill/>
          </a:ln>
        </p:spPr>
      </p:sp>
      <p:sp>
        <p:nvSpPr>
          <p:cNvPr id="223" name="Vis 223"/>
          <p:cNvSpPr/>
          <p:nvPr/>
        </p:nvSpPr>
        <p:spPr>
          <a:xfrm>
            <a:off x="4581144" y="2331720"/>
            <a:ext cx="164592" cy="164592"/>
          </a:xfrm>
          <a:prstGeom prst="rect">
            <a:avLst/>
          </a:prstGeom>
          <a:solidFill>
            <a:srgbClr val="D5D1CA"/>
          </a:solidFill>
          <a:ln>
            <a:noFill/>
          </a:ln>
        </p:spPr>
      </p:sp>
      <p:sp>
        <p:nvSpPr>
          <p:cNvPr id="224" name="Vis 224"/>
          <p:cNvSpPr/>
          <p:nvPr/>
        </p:nvSpPr>
        <p:spPr>
          <a:xfrm>
            <a:off x="4782312" y="2331720"/>
            <a:ext cx="164592" cy="164592"/>
          </a:xfrm>
          <a:prstGeom prst="rect">
            <a:avLst/>
          </a:prstGeom>
          <a:solidFill>
            <a:srgbClr val="D5D1CA"/>
          </a:solidFill>
          <a:ln>
            <a:noFill/>
          </a:ln>
        </p:spPr>
      </p:sp>
      <p:sp>
        <p:nvSpPr>
          <p:cNvPr id="225" name="Vis 225"/>
          <p:cNvSpPr/>
          <p:nvPr/>
        </p:nvSpPr>
        <p:spPr>
          <a:xfrm>
            <a:off x="4983480" y="2331720"/>
            <a:ext cx="164592" cy="164592"/>
          </a:xfrm>
          <a:prstGeom prst="rect">
            <a:avLst/>
          </a:prstGeom>
          <a:solidFill>
            <a:srgbClr val="B5B0A8"/>
          </a:solidFill>
          <a:ln>
            <a:noFill/>
          </a:ln>
        </p:spPr>
      </p:sp>
      <p:sp>
        <p:nvSpPr>
          <p:cNvPr id="226" name="Vis 226"/>
          <p:cNvSpPr/>
          <p:nvPr/>
        </p:nvSpPr>
        <p:spPr>
          <a:xfrm>
            <a:off x="5184648" y="2331720"/>
            <a:ext cx="164592" cy="164592"/>
          </a:xfrm>
          <a:prstGeom prst="rect">
            <a:avLst/>
          </a:prstGeom>
          <a:solidFill>
            <a:srgbClr val="B5B0A8"/>
          </a:solidFill>
          <a:ln>
            <a:noFill/>
          </a:ln>
        </p:spPr>
      </p:sp>
      <p:sp>
        <p:nvSpPr>
          <p:cNvPr id="227" name="Vis 227"/>
          <p:cNvSpPr/>
          <p:nvPr/>
        </p:nvSpPr>
        <p:spPr>
          <a:xfrm>
            <a:off x="5385816" y="2331720"/>
            <a:ext cx="164592" cy="164592"/>
          </a:xfrm>
          <a:prstGeom prst="rect">
            <a:avLst/>
          </a:prstGeom>
          <a:solidFill>
            <a:srgbClr val="8C877F"/>
          </a:solidFill>
          <a:ln>
            <a:noFill/>
          </a:ln>
        </p:spPr>
      </p:sp>
      <p:sp>
        <p:nvSpPr>
          <p:cNvPr id="228" name="Vis 228"/>
          <p:cNvSpPr/>
          <p:nvPr/>
        </p:nvSpPr>
        <p:spPr>
          <a:xfrm>
            <a:off x="3977640" y="2587752"/>
            <a:ext cx="164592" cy="164592"/>
          </a:xfrm>
          <a:prstGeom prst="rect">
            <a:avLst/>
          </a:prstGeom>
          <a:solidFill>
            <a:srgbClr val="D98B7C"/>
          </a:solidFill>
          <a:ln>
            <a:noFill/>
          </a:ln>
        </p:spPr>
      </p:sp>
      <p:sp>
        <p:nvSpPr>
          <p:cNvPr id="229" name="Vis 229"/>
          <p:cNvSpPr/>
          <p:nvPr/>
        </p:nvSpPr>
        <p:spPr>
          <a:xfrm>
            <a:off x="4178808" y="2587752"/>
            <a:ext cx="164592" cy="164592"/>
          </a:xfrm>
          <a:prstGeom prst="rect">
            <a:avLst/>
          </a:prstGeom>
          <a:solidFill>
            <a:srgbClr val="D98B7C"/>
          </a:solidFill>
          <a:ln>
            <a:noFill/>
          </a:ln>
        </p:spPr>
      </p:sp>
      <p:sp>
        <p:nvSpPr>
          <p:cNvPr id="230" name="Vis 230"/>
          <p:cNvSpPr/>
          <p:nvPr/>
        </p:nvSpPr>
        <p:spPr>
          <a:xfrm>
            <a:off x="4379976" y="2587752"/>
            <a:ext cx="164592" cy="164592"/>
          </a:xfrm>
          <a:prstGeom prst="rect">
            <a:avLst/>
          </a:prstGeom>
          <a:solidFill>
            <a:srgbClr val="8C877F"/>
          </a:solidFill>
          <a:ln>
            <a:noFill/>
          </a:ln>
        </p:spPr>
      </p:sp>
      <p:sp>
        <p:nvSpPr>
          <p:cNvPr id="231" name="Vis 231"/>
          <p:cNvSpPr/>
          <p:nvPr/>
        </p:nvSpPr>
        <p:spPr>
          <a:xfrm>
            <a:off x="4581144" y="2587752"/>
            <a:ext cx="164592" cy="164592"/>
          </a:xfrm>
          <a:prstGeom prst="rect">
            <a:avLst/>
          </a:prstGeom>
          <a:solidFill>
            <a:srgbClr val="D98B7C"/>
          </a:solidFill>
          <a:ln>
            <a:noFill/>
          </a:ln>
        </p:spPr>
      </p:sp>
      <p:sp>
        <p:nvSpPr>
          <p:cNvPr id="232" name="Vis 232"/>
          <p:cNvSpPr/>
          <p:nvPr/>
        </p:nvSpPr>
        <p:spPr>
          <a:xfrm>
            <a:off x="4782312" y="2587752"/>
            <a:ext cx="164592" cy="164592"/>
          </a:xfrm>
          <a:prstGeom prst="rect">
            <a:avLst/>
          </a:prstGeom>
          <a:solidFill>
            <a:srgbClr val="D5D1CA"/>
          </a:solidFill>
          <a:ln>
            <a:noFill/>
          </a:ln>
        </p:spPr>
      </p:sp>
      <p:sp>
        <p:nvSpPr>
          <p:cNvPr id="233" name="Vis 233"/>
          <p:cNvSpPr/>
          <p:nvPr/>
        </p:nvSpPr>
        <p:spPr>
          <a:xfrm>
            <a:off x="4983480" y="2587752"/>
            <a:ext cx="164592" cy="164592"/>
          </a:xfrm>
          <a:prstGeom prst="rect">
            <a:avLst/>
          </a:prstGeom>
          <a:solidFill>
            <a:srgbClr val="B5B0A8"/>
          </a:solidFill>
          <a:ln>
            <a:noFill/>
          </a:ln>
        </p:spPr>
      </p:sp>
      <p:sp>
        <p:nvSpPr>
          <p:cNvPr id="234" name="Vis 234"/>
          <p:cNvSpPr/>
          <p:nvPr/>
        </p:nvSpPr>
        <p:spPr>
          <a:xfrm>
            <a:off x="5184648" y="2587752"/>
            <a:ext cx="164592" cy="164592"/>
          </a:xfrm>
          <a:prstGeom prst="rect">
            <a:avLst/>
          </a:prstGeom>
          <a:solidFill>
            <a:srgbClr val="8C877F"/>
          </a:solidFill>
          <a:ln>
            <a:noFill/>
          </a:ln>
        </p:spPr>
      </p:sp>
      <p:sp>
        <p:nvSpPr>
          <p:cNvPr id="235" name="Vis 235"/>
          <p:cNvSpPr/>
          <p:nvPr/>
        </p:nvSpPr>
        <p:spPr>
          <a:xfrm>
            <a:off x="5385816" y="2587752"/>
            <a:ext cx="164592" cy="164592"/>
          </a:xfrm>
          <a:prstGeom prst="rect">
            <a:avLst/>
          </a:prstGeom>
          <a:solidFill>
            <a:srgbClr val="C0402A"/>
          </a:solidFill>
          <a:ln>
            <a:noFill/>
          </a:ln>
        </p:spPr>
      </p:sp>
      <p:sp>
        <p:nvSpPr>
          <p:cNvPr id="236" name="Vis 236"/>
          <p:cNvSpPr/>
          <p:nvPr/>
        </p:nvSpPr>
        <p:spPr>
          <a:xfrm>
            <a:off x="3977640" y="2843784"/>
            <a:ext cx="164592" cy="164592"/>
          </a:xfrm>
          <a:prstGeom prst="rect">
            <a:avLst/>
          </a:prstGeom>
          <a:solidFill>
            <a:srgbClr val="8C877F"/>
          </a:solidFill>
          <a:ln>
            <a:noFill/>
          </a:ln>
        </p:spPr>
      </p:sp>
      <p:sp>
        <p:nvSpPr>
          <p:cNvPr id="237" name="Vis 237"/>
          <p:cNvSpPr/>
          <p:nvPr/>
        </p:nvSpPr>
        <p:spPr>
          <a:xfrm>
            <a:off x="4178808" y="2843784"/>
            <a:ext cx="164592" cy="164592"/>
          </a:xfrm>
          <a:prstGeom prst="rect">
            <a:avLst/>
          </a:prstGeom>
          <a:solidFill>
            <a:srgbClr val="C0402A"/>
          </a:solidFill>
          <a:ln>
            <a:noFill/>
          </a:ln>
        </p:spPr>
      </p:sp>
      <p:sp>
        <p:nvSpPr>
          <p:cNvPr id="238" name="Vis 238"/>
          <p:cNvSpPr/>
          <p:nvPr/>
        </p:nvSpPr>
        <p:spPr>
          <a:xfrm>
            <a:off x="4379976" y="2843784"/>
            <a:ext cx="164592" cy="164592"/>
          </a:xfrm>
          <a:prstGeom prst="rect">
            <a:avLst/>
          </a:prstGeom>
          <a:solidFill>
            <a:srgbClr val="D98B7C"/>
          </a:solidFill>
          <a:ln>
            <a:noFill/>
          </a:ln>
        </p:spPr>
      </p:sp>
      <p:sp>
        <p:nvSpPr>
          <p:cNvPr id="239" name="Vis 239"/>
          <p:cNvSpPr/>
          <p:nvPr/>
        </p:nvSpPr>
        <p:spPr>
          <a:xfrm>
            <a:off x="4581144" y="2843784"/>
            <a:ext cx="164592" cy="164592"/>
          </a:xfrm>
          <a:prstGeom prst="rect">
            <a:avLst/>
          </a:prstGeom>
          <a:solidFill>
            <a:srgbClr val="D5D1CA"/>
          </a:solidFill>
          <a:ln>
            <a:noFill/>
          </a:ln>
        </p:spPr>
      </p:sp>
      <p:sp>
        <p:nvSpPr>
          <p:cNvPr id="240" name="Vis 240"/>
          <p:cNvSpPr/>
          <p:nvPr/>
        </p:nvSpPr>
        <p:spPr>
          <a:xfrm>
            <a:off x="4782312" y="2843784"/>
            <a:ext cx="164592" cy="164592"/>
          </a:xfrm>
          <a:prstGeom prst="rect">
            <a:avLst/>
          </a:prstGeom>
          <a:solidFill>
            <a:srgbClr val="C0402A"/>
          </a:solidFill>
          <a:ln>
            <a:noFill/>
          </a:ln>
        </p:spPr>
      </p:sp>
      <p:sp>
        <p:nvSpPr>
          <p:cNvPr id="241" name="Vis 241"/>
          <p:cNvSpPr/>
          <p:nvPr/>
        </p:nvSpPr>
        <p:spPr>
          <a:xfrm>
            <a:off x="4983480" y="2843784"/>
            <a:ext cx="164592" cy="164592"/>
          </a:xfrm>
          <a:prstGeom prst="rect">
            <a:avLst/>
          </a:prstGeom>
          <a:solidFill>
            <a:srgbClr val="EAC3B9"/>
          </a:solidFill>
          <a:ln>
            <a:noFill/>
          </a:ln>
        </p:spPr>
      </p:sp>
      <p:sp>
        <p:nvSpPr>
          <p:cNvPr id="242" name="Vis 242"/>
          <p:cNvSpPr/>
          <p:nvPr/>
        </p:nvSpPr>
        <p:spPr>
          <a:xfrm>
            <a:off x="5184648" y="2843784"/>
            <a:ext cx="164592" cy="164592"/>
          </a:xfrm>
          <a:prstGeom prst="rect">
            <a:avLst/>
          </a:prstGeom>
          <a:solidFill>
            <a:srgbClr val="C0402A"/>
          </a:solidFill>
          <a:ln>
            <a:noFill/>
          </a:ln>
        </p:spPr>
      </p:sp>
      <p:sp>
        <p:nvSpPr>
          <p:cNvPr id="243" name="Vis 243"/>
          <p:cNvSpPr/>
          <p:nvPr/>
        </p:nvSpPr>
        <p:spPr>
          <a:xfrm>
            <a:off x="5385816" y="2843784"/>
            <a:ext cx="164592" cy="164592"/>
          </a:xfrm>
          <a:prstGeom prst="rect">
            <a:avLst/>
          </a:prstGeom>
          <a:solidFill>
            <a:srgbClr val="EAC3B9"/>
          </a:solidFill>
          <a:ln>
            <a:noFill/>
          </a:ln>
        </p:spPr>
      </p:sp>
      <p:sp>
        <p:nvSpPr>
          <p:cNvPr id="244" name="Vis 244"/>
          <p:cNvSpPr/>
          <p:nvPr/>
        </p:nvSpPr>
        <p:spPr>
          <a:xfrm>
            <a:off x="3977640" y="3063240"/>
            <a:ext cx="1645920" cy="237744"/>
          </a:xfrm>
          <a:prstGeom prst="rect">
            <a:avLst/>
          </a:prstGeom>
          <a:noFill/>
          <a:ln>
            <a:noFill/>
          </a:ln>
        </p:spPr>
        <p:txBody>
          <a:bodyPr wrap="square" lIns="0" tIns="0" rIns="0" bIns="0" anchor="t">
            <a:noAutofit/>
          </a:bodyPr>
          <a:lstStyle/>
          <a:p>
            <a:pPr algn="ctr" indent="0" marL="0">
              <a:buNone/>
            </a:pPr>
            <a:r>
              <a:rPr lang="en-US" sz="1200" dirty="0">
                <a:solidFill>
                  <a:srgbClr val="9C978E"/>
                </a:solidFill>
                <a:latin typeface="Arial"/>
                <a:ea typeface="Arial"/>
                <a:cs typeface="Arial"/>
                <a:sym typeface="Arial"/>
              </a:rPr>
              <a:t>⋮</a:t>
            </a:r>
          </a:p>
        </p:txBody>
      </p:sp>
      <p:sp>
        <p:nvSpPr>
          <p:cNvPr id="245" name="Vis 245"/>
          <p:cNvSpPr/>
          <p:nvPr/>
        </p:nvSpPr>
        <p:spPr>
          <a:xfrm>
            <a:off x="3977640" y="3355848"/>
            <a:ext cx="164592" cy="164592"/>
          </a:xfrm>
          <a:prstGeom prst="rect">
            <a:avLst/>
          </a:prstGeom>
          <a:solidFill>
            <a:srgbClr val="B5B0A8"/>
          </a:solidFill>
          <a:ln>
            <a:noFill/>
          </a:ln>
        </p:spPr>
      </p:sp>
      <p:sp>
        <p:nvSpPr>
          <p:cNvPr id="246" name="Vis 246"/>
          <p:cNvSpPr/>
          <p:nvPr/>
        </p:nvSpPr>
        <p:spPr>
          <a:xfrm>
            <a:off x="4178808" y="3355848"/>
            <a:ext cx="164592" cy="164592"/>
          </a:xfrm>
          <a:prstGeom prst="rect">
            <a:avLst/>
          </a:prstGeom>
          <a:solidFill>
            <a:srgbClr val="D5D1CA"/>
          </a:solidFill>
          <a:ln>
            <a:noFill/>
          </a:ln>
        </p:spPr>
      </p:sp>
      <p:sp>
        <p:nvSpPr>
          <p:cNvPr id="247" name="Vis 247"/>
          <p:cNvSpPr/>
          <p:nvPr/>
        </p:nvSpPr>
        <p:spPr>
          <a:xfrm>
            <a:off x="4379976" y="3355848"/>
            <a:ext cx="164592" cy="164592"/>
          </a:xfrm>
          <a:prstGeom prst="rect">
            <a:avLst/>
          </a:prstGeom>
          <a:solidFill>
            <a:srgbClr val="8C877F"/>
          </a:solidFill>
          <a:ln>
            <a:noFill/>
          </a:ln>
        </p:spPr>
      </p:sp>
      <p:sp>
        <p:nvSpPr>
          <p:cNvPr id="248" name="Vis 248"/>
          <p:cNvSpPr/>
          <p:nvPr/>
        </p:nvSpPr>
        <p:spPr>
          <a:xfrm>
            <a:off x="4581144" y="3355848"/>
            <a:ext cx="164592" cy="164592"/>
          </a:xfrm>
          <a:prstGeom prst="rect">
            <a:avLst/>
          </a:prstGeom>
          <a:solidFill>
            <a:srgbClr val="B5B0A8"/>
          </a:solidFill>
          <a:ln>
            <a:noFill/>
          </a:ln>
        </p:spPr>
      </p:sp>
      <p:sp>
        <p:nvSpPr>
          <p:cNvPr id="249" name="Vis 249"/>
          <p:cNvSpPr/>
          <p:nvPr/>
        </p:nvSpPr>
        <p:spPr>
          <a:xfrm>
            <a:off x="4782312" y="3355848"/>
            <a:ext cx="164592" cy="164592"/>
          </a:xfrm>
          <a:prstGeom prst="rect">
            <a:avLst/>
          </a:prstGeom>
          <a:solidFill>
            <a:srgbClr val="8C877F"/>
          </a:solidFill>
          <a:ln>
            <a:noFill/>
          </a:ln>
        </p:spPr>
      </p:sp>
      <p:sp>
        <p:nvSpPr>
          <p:cNvPr id="250" name="Vis 250"/>
          <p:cNvSpPr/>
          <p:nvPr/>
        </p:nvSpPr>
        <p:spPr>
          <a:xfrm>
            <a:off x="4983480" y="3355848"/>
            <a:ext cx="164592" cy="164592"/>
          </a:xfrm>
          <a:prstGeom prst="rect">
            <a:avLst/>
          </a:prstGeom>
          <a:solidFill>
            <a:srgbClr val="B5B0A8"/>
          </a:solidFill>
          <a:ln>
            <a:noFill/>
          </a:ln>
        </p:spPr>
      </p:sp>
      <p:sp>
        <p:nvSpPr>
          <p:cNvPr id="251" name="Vis 251"/>
          <p:cNvSpPr/>
          <p:nvPr/>
        </p:nvSpPr>
        <p:spPr>
          <a:xfrm>
            <a:off x="5184648" y="3355848"/>
            <a:ext cx="164592" cy="164592"/>
          </a:xfrm>
          <a:prstGeom prst="rect">
            <a:avLst/>
          </a:prstGeom>
          <a:solidFill>
            <a:srgbClr val="B5B0A8"/>
          </a:solidFill>
          <a:ln>
            <a:noFill/>
          </a:ln>
        </p:spPr>
      </p:sp>
      <p:sp>
        <p:nvSpPr>
          <p:cNvPr id="252" name="Vis 252"/>
          <p:cNvSpPr/>
          <p:nvPr/>
        </p:nvSpPr>
        <p:spPr>
          <a:xfrm>
            <a:off x="5385816" y="3355848"/>
            <a:ext cx="164592" cy="164592"/>
          </a:xfrm>
          <a:prstGeom prst="rect">
            <a:avLst/>
          </a:prstGeom>
          <a:solidFill>
            <a:srgbClr val="8C877F"/>
          </a:solidFill>
          <a:ln>
            <a:noFill/>
          </a:ln>
        </p:spPr>
      </p:sp>
      <p:sp>
        <p:nvSpPr>
          <p:cNvPr id="253" name="Vis 253"/>
          <p:cNvSpPr/>
          <p:nvPr/>
        </p:nvSpPr>
        <p:spPr>
          <a:xfrm>
            <a:off x="3977640" y="3749040"/>
            <a:ext cx="1783080" cy="548640"/>
          </a:xfrm>
          <a:prstGeom prst="rect">
            <a:avLst/>
          </a:prstGeom>
          <a:noFill/>
          <a:ln>
            <a:noFill/>
          </a:ln>
        </p:spPr>
        <p:txBody>
          <a:bodyPr wrap="square" lIns="0" tIns="0" rIns="0" bIns="0" anchor="t">
            <a:noAutofit/>
          </a:bodyPr>
          <a:lstStyle/>
          <a:p>
            <a:pPr algn="l" indent="0" marL="0">
              <a:spcAft>
                <a:spcPts val="200"/>
              </a:spcAft>
              <a:buNone/>
            </a:pPr>
            <a:r>
              <a:rPr lang="en-US" sz="1150" b="1" dirty="0">
                <a:solidFill>
                  <a:srgbClr val="141414"/>
                </a:solidFill>
                <a:latin typeface="Arial"/>
                <a:ea typeface="Arial"/>
                <a:cs typeface="Arial"/>
                <a:sym typeface="Arial"/>
              </a:rPr>
              <a:t>2. One vector per patch</a:t>
            </a:r>
          </a:p>
          <a:p>
            <a:pPr algn="l" indent="0" marL="0">
              <a:buNone/>
            </a:pPr>
            <a:r>
              <a:rPr lang="en-US" sz="1000" dirty="0">
                <a:solidFill>
                  <a:srgbClr val="6E6A63"/>
                </a:solidFill>
                <a:latin typeface="Arial"/>
                <a:ea typeface="Arial"/>
                <a:cs typeface="Arial"/>
                <a:sym typeface="Arial"/>
              </a:rPr>
              <a:t>108 patches, 108 vectors</a:t>
            </a:r>
          </a:p>
        </p:txBody>
      </p:sp>
      <p:cxnSp>
        <p:nvCxnSpPr>
          <p:cNvPr id="254" name="Line 254"/>
          <p:cNvCxnSpPr/>
          <p:nvPr/>
        </p:nvCxnSpPr>
        <p:spPr>
          <a:xfrm>
            <a:off x="5806440" y="2688336"/>
            <a:ext cx="292608" cy="0"/>
          </a:xfrm>
          <a:prstGeom prst="straightConnector1">
            <a:avLst/>
          </a:prstGeom>
          <a:ln w="19050">
            <a:solidFill>
              <a:srgbClr val="9C978E"/>
            </a:solidFill>
            <a:tailEnd type="triangle" w="med" len="med"/>
          </a:ln>
        </p:spPr>
      </p:cxnSp>
      <p:sp>
        <p:nvSpPr>
          <p:cNvPr id="255" name="Vis 255"/>
          <p:cNvSpPr/>
          <p:nvPr/>
        </p:nvSpPr>
        <p:spPr>
          <a:xfrm>
            <a:off x="6217920" y="1920240"/>
            <a:ext cx="1737360" cy="1554480"/>
          </a:xfrm>
          <a:prstGeom prst="rect">
            <a:avLst/>
          </a:prstGeom>
          <a:solidFill>
            <a:srgbClr val="2A2724"/>
          </a:solidFill>
          <a:ln>
            <a:noFill/>
          </a:ln>
        </p:spPr>
        <p:txBody>
          <a:bodyPr wrap="square" lIns="0" tIns="0" rIns="0" bIns="0" anchor="ctr">
            <a:noAutofit/>
          </a:bodyPr>
          <a:lstStyle/>
          <a:p>
            <a:pPr algn="ctr" indent="0" marL="0">
              <a:buNone/>
            </a:pPr>
            <a:r>
              <a:rPr lang="en-US" sz="1300" b="1" dirty="0">
                <a:solidFill>
                  <a:srgbClr val="FFFFFF"/>
                </a:solidFill>
                <a:latin typeface="Arial"/>
                <a:ea typeface="Arial"/>
                <a:cs typeface="Arial"/>
                <a:sym typeface="Arial"/>
              </a:rPr>
              <a:t>Same</a:t>
            </a:r>
          </a:p>
          <a:p>
            <a:pPr algn="ctr" indent="0" marL="0">
              <a:buNone/>
            </a:pPr>
            <a:r>
              <a:rPr lang="en-US" sz="1300" b="1" dirty="0">
                <a:solidFill>
                  <a:srgbClr val="FFFFFF"/>
                </a:solidFill>
                <a:latin typeface="Arial"/>
                <a:ea typeface="Arial"/>
                <a:cs typeface="Arial"/>
                <a:sym typeface="Arial"/>
              </a:rPr>
              <a:t>transformer</a:t>
            </a:r>
          </a:p>
          <a:p>
            <a:pPr algn="ctr" indent="0" marL="0">
              <a:spcBef>
                <a:spcPts val="400"/>
              </a:spcBef>
              <a:buNone/>
            </a:pPr>
            <a:r>
              <a:rPr lang="en-US" sz="1050" dirty="0">
                <a:solidFill>
                  <a:srgbClr val="D5D1CA"/>
                </a:solidFill>
                <a:latin typeface="Arial"/>
                <a:ea typeface="Arial"/>
                <a:cs typeface="Arial"/>
                <a:sym typeface="Arial"/>
              </a:rPr>
              <a:t>as for text</a:t>
            </a:r>
          </a:p>
        </p:txBody>
      </p:sp>
      <p:sp>
        <p:nvSpPr>
          <p:cNvPr id="256" name="Vis 256"/>
          <p:cNvSpPr/>
          <p:nvPr/>
        </p:nvSpPr>
        <p:spPr>
          <a:xfrm>
            <a:off x="6217920" y="3749040"/>
            <a:ext cx="1737360" cy="548640"/>
          </a:xfrm>
          <a:prstGeom prst="rect">
            <a:avLst/>
          </a:prstGeom>
          <a:noFill/>
          <a:ln>
            <a:noFill/>
          </a:ln>
        </p:spPr>
        <p:txBody>
          <a:bodyPr wrap="square" lIns="0" tIns="0" rIns="0" bIns="0" anchor="t">
            <a:noAutofit/>
          </a:bodyPr>
          <a:lstStyle/>
          <a:p>
            <a:pPr algn="l" indent="0" marL="0">
              <a:spcAft>
                <a:spcPts val="200"/>
              </a:spcAft>
              <a:buNone/>
            </a:pPr>
            <a:r>
              <a:rPr lang="en-US" sz="1150" b="1" dirty="0">
                <a:solidFill>
                  <a:srgbClr val="141414"/>
                </a:solidFill>
                <a:latin typeface="Arial"/>
                <a:ea typeface="Arial"/>
                <a:cs typeface="Arial"/>
                <a:sym typeface="Arial"/>
              </a:rPr>
              <a:t>3. Patches as tokens</a:t>
            </a:r>
          </a:p>
          <a:p>
            <a:pPr algn="l" indent="0" marL="0">
              <a:buNone/>
            </a:pPr>
            <a:r>
              <a:rPr lang="en-US" sz="1000" dirty="0">
                <a:solidFill>
                  <a:srgbClr val="6E6A63"/>
                </a:solidFill>
                <a:latin typeface="Arial"/>
                <a:ea typeface="Arial"/>
                <a:cs typeface="Arial"/>
                <a:sym typeface="Arial"/>
              </a:rPr>
              <a:t>no separate text reader</a:t>
            </a:r>
          </a:p>
        </p:txBody>
      </p:sp>
      <p:cxnSp>
        <p:nvCxnSpPr>
          <p:cNvPr id="257" name="Line 257"/>
          <p:cNvCxnSpPr/>
          <p:nvPr/>
        </p:nvCxnSpPr>
        <p:spPr>
          <a:xfrm>
            <a:off x="8046720" y="2688336"/>
            <a:ext cx="292608" cy="0"/>
          </a:xfrm>
          <a:prstGeom prst="straightConnector1">
            <a:avLst/>
          </a:prstGeom>
          <a:ln w="19050">
            <a:solidFill>
              <a:srgbClr val="9C978E"/>
            </a:solidFill>
            <a:tailEnd type="triangle" w="med" len="med"/>
          </a:ln>
        </p:spPr>
      </p:cxnSp>
      <p:sp>
        <p:nvSpPr>
          <p:cNvPr id="258" name="Vis 258"/>
          <p:cNvSpPr/>
          <p:nvPr/>
        </p:nvSpPr>
        <p:spPr>
          <a:xfrm>
            <a:off x="8458200" y="1691640"/>
            <a:ext cx="2944368" cy="1993392"/>
          </a:xfrm>
          <a:prstGeom prst="rect">
            <a:avLst/>
          </a:prstGeom>
          <a:solidFill>
            <a:srgbClr val="F2EFEA"/>
          </a:solidFill>
          <a:ln>
            <a:noFill/>
          </a:ln>
        </p:spPr>
      </p:sp>
      <p:sp>
        <p:nvSpPr>
          <p:cNvPr id="259" name="Vis 259"/>
          <p:cNvSpPr/>
          <p:nvPr/>
        </p:nvSpPr>
        <p:spPr>
          <a:xfrm>
            <a:off x="8458200" y="1691640"/>
            <a:ext cx="27432" cy="1993392"/>
          </a:xfrm>
          <a:prstGeom prst="rect">
            <a:avLst/>
          </a:prstGeom>
          <a:solidFill>
            <a:srgbClr val="C0402A"/>
          </a:solidFill>
          <a:ln>
            <a:noFill/>
          </a:ln>
        </p:spPr>
      </p:sp>
      <p:sp>
        <p:nvSpPr>
          <p:cNvPr id="260" name="Vis 260"/>
          <p:cNvSpPr/>
          <p:nvPr/>
        </p:nvSpPr>
        <p:spPr>
          <a:xfrm>
            <a:off x="8677656" y="1856232"/>
            <a:ext cx="2560320" cy="1737360"/>
          </a:xfrm>
          <a:prstGeom prst="rect">
            <a:avLst/>
          </a:prstGeom>
          <a:noFill/>
          <a:ln>
            <a:noFill/>
          </a:ln>
        </p:spPr>
        <p:txBody>
          <a:bodyPr wrap="square" lIns="0" tIns="0" rIns="0" bIns="0" anchor="t">
            <a:noAutofit/>
          </a:bodyPr>
          <a:lstStyle/>
          <a:p>
            <a:pPr algn="l" indent="0" marL="0">
              <a:lnSpc>
                <a:spcPts val="1522"/>
              </a:lnSpc>
              <a:buNone/>
            </a:pPr>
            <a:r>
              <a:rPr lang="en-US" sz="1050" dirty="0">
                <a:solidFill>
                  <a:srgbClr val="2A2724"/>
                </a:solidFill>
                <a:latin typeface="Courier New"/>
                <a:ea typeface="Courier New"/>
                <a:cs typeface="Courier New"/>
                <a:sym typeface="Courier New"/>
              </a:rPr>
              <a:t>"A modern indoor</a:t>
            </a:r>
          </a:p>
          <a:p>
            <a:pPr algn="l" indent="0" marL="0">
              <a:lnSpc>
                <a:spcPts val="1522"/>
              </a:lnSpc>
              <a:buNone/>
            </a:pPr>
            <a:r>
              <a:rPr lang="en-US" sz="1050" dirty="0">
                <a:solidFill>
                  <a:srgbClr val="2A2724"/>
                </a:solidFill>
                <a:latin typeface="Courier New"/>
                <a:ea typeface="Courier New"/>
                <a:cs typeface="Courier New"/>
                <a:sym typeface="Courier New"/>
              </a:rPr>
              <a:t>collaborative space with</a:t>
            </a:r>
          </a:p>
          <a:p>
            <a:pPr algn="l" indent="0" marL="0">
              <a:lnSpc>
                <a:spcPts val="1522"/>
              </a:lnSpc>
              <a:buNone/>
            </a:pPr>
            <a:r>
              <a:rPr lang="en-US" sz="1050" dirty="0">
                <a:solidFill>
                  <a:srgbClr val="2A2724"/>
                </a:solidFill>
                <a:latin typeface="Courier New"/>
                <a:ea typeface="Courier New"/>
                <a:cs typeface="Courier New"/>
                <a:sym typeface="Courier New"/>
              </a:rPr>
              <a:t>colorful modular cube</a:t>
            </a:r>
          </a:p>
          <a:p>
            <a:pPr algn="l" indent="0" marL="0">
              <a:lnSpc>
                <a:spcPts val="1522"/>
              </a:lnSpc>
              <a:buNone/>
            </a:pPr>
            <a:r>
              <a:rPr lang="en-US" sz="1050" dirty="0">
                <a:solidFill>
                  <a:srgbClr val="2A2724"/>
                </a:solidFill>
                <a:latin typeface="Courier New"/>
                <a:ea typeface="Courier New"/>
                <a:cs typeface="Courier New"/>
                <a:sym typeface="Courier New"/>
              </a:rPr>
              <a:t>seats ... tiered wooden</a:t>
            </a:r>
          </a:p>
          <a:p>
            <a:pPr algn="l" indent="0" marL="0">
              <a:lnSpc>
                <a:spcPts val="1522"/>
              </a:lnSpc>
              <a:buNone/>
            </a:pPr>
            <a:r>
              <a:rPr lang="en-US" sz="1050" dirty="0">
                <a:solidFill>
                  <a:srgbClr val="2A2724"/>
                </a:solidFill>
                <a:latin typeface="Courier New"/>
                <a:ea typeface="Courier New"/>
                <a:cs typeface="Courier New"/>
                <a:sym typeface="Courier New"/>
              </a:rPr>
              <a:t>seating steps labeled</a:t>
            </a:r>
          </a:p>
          <a:p>
            <a:pPr algn="l" indent="0" marL="0">
              <a:lnSpc>
                <a:spcPts val="1522"/>
              </a:lnSpc>
              <a:buNone/>
            </a:pPr>
            <a:r>
              <a:rPr lang="en-US" sz="1050" dirty="0">
                <a:solidFill>
                  <a:srgbClr val="2A2724"/>
                </a:solidFill>
                <a:latin typeface="Courier New"/>
                <a:ea typeface="Courier New"/>
                <a:cs typeface="Courier New"/>
                <a:sym typeface="Courier New"/>
              </a:rPr>
              <a:t>ENGINEERING INNOVATION"</a:t>
            </a:r>
          </a:p>
        </p:txBody>
      </p:sp>
      <p:sp>
        <p:nvSpPr>
          <p:cNvPr id="261" name="Vis 261"/>
          <p:cNvSpPr/>
          <p:nvPr/>
        </p:nvSpPr>
        <p:spPr>
          <a:xfrm>
            <a:off x="8458200" y="3749040"/>
            <a:ext cx="2944368" cy="548640"/>
          </a:xfrm>
          <a:prstGeom prst="rect">
            <a:avLst/>
          </a:prstGeom>
          <a:noFill/>
          <a:ln>
            <a:noFill/>
          </a:ln>
        </p:spPr>
        <p:txBody>
          <a:bodyPr wrap="square" lIns="0" tIns="0" rIns="0" bIns="0" anchor="t">
            <a:noAutofit/>
          </a:bodyPr>
          <a:lstStyle/>
          <a:p>
            <a:pPr algn="l" indent="0" marL="0">
              <a:spcAft>
                <a:spcPts val="200"/>
              </a:spcAft>
              <a:buNone/>
            </a:pPr>
            <a:r>
              <a:rPr lang="en-US" sz="1150" b="1" dirty="0">
                <a:solidFill>
                  <a:srgbClr val="141414"/>
                </a:solidFill>
                <a:latin typeface="Arial"/>
                <a:ea typeface="Arial"/>
                <a:cs typeface="Arial"/>
                <a:sym typeface="Arial"/>
              </a:rPr>
              <a:t>4. Generate text, word by word</a:t>
            </a:r>
          </a:p>
          <a:p>
            <a:pPr algn="l" indent="0" marL="0">
              <a:buNone/>
            </a:pPr>
            <a:r>
              <a:rPr lang="en-US" sz="1000" dirty="0">
                <a:solidFill>
                  <a:srgbClr val="6E6A63"/>
                </a:solidFill>
                <a:latin typeface="Arial"/>
                <a:ea typeface="Arial"/>
                <a:cs typeface="Arial"/>
                <a:sym typeface="Arial"/>
              </a:rPr>
              <a:t>real gpt-5-mini output for this photo</a:t>
            </a:r>
          </a:p>
        </p:txBody>
      </p:sp>
      <p:sp>
        <p:nvSpPr>
          <p:cNvPr id="262" name="Vis 262"/>
          <p:cNvSpPr/>
          <p:nvPr/>
        </p:nvSpPr>
        <p:spPr>
          <a:xfrm>
            <a:off x="786384" y="4434840"/>
            <a:ext cx="5138928" cy="1572768"/>
          </a:xfrm>
          <a:prstGeom prst="rect">
            <a:avLst/>
          </a:prstGeom>
          <a:noFill/>
          <a:ln w="9525">
            <a:solidFill>
              <a:srgbClr val="D5D1CA"/>
            </a:solidFill>
          </a:ln>
        </p:spPr>
      </p:sp>
      <p:sp>
        <p:nvSpPr>
          <p:cNvPr id="263" name="Vis 263"/>
          <p:cNvSpPr/>
          <p:nvPr/>
        </p:nvSpPr>
        <p:spPr>
          <a:xfrm>
            <a:off x="1014984" y="4572000"/>
            <a:ext cx="4709160" cy="1371600"/>
          </a:xfrm>
          <a:prstGeom prst="rect">
            <a:avLst/>
          </a:prstGeom>
          <a:noFill/>
          <a:ln>
            <a:noFill/>
          </a:ln>
        </p:spPr>
        <p:txBody>
          <a:bodyPr wrap="square" lIns="0" tIns="0" rIns="0" bIns="0" anchor="t">
            <a:noAutofit/>
          </a:bodyPr>
          <a:lstStyle/>
          <a:p>
            <a:pPr algn="l" indent="0" marL="0">
              <a:spcAft>
                <a:spcPts val="600"/>
              </a:spcAft>
              <a:buNone/>
            </a:pPr>
            <a:r>
              <a:rPr lang="en-US" sz="1300" b="1" dirty="0">
                <a:solidFill>
                  <a:srgbClr val="141414"/>
                </a:solidFill>
                <a:latin typeface="Arial"/>
                <a:ea typeface="Arial"/>
                <a:cs typeface="Arial"/>
                <a:sym typeface="Arial"/>
              </a:rPr>
              <a:t>Consequence 1: the description is a prediction</a:t>
            </a:r>
          </a:p>
          <a:p>
            <a:pPr algn="l" indent="0" marL="0">
              <a:lnSpc>
                <a:spcPts val="1600"/>
              </a:lnSpc>
              <a:buNone/>
            </a:pPr>
            <a:r>
              <a:rPr lang="en-US" sz="1150" dirty="0">
                <a:solidFill>
                  <a:srgbClr val="2A2724"/>
                </a:solidFill>
                <a:latin typeface="Arial"/>
                <a:ea typeface="Arial"/>
                <a:cs typeface="Arial"/>
                <a:sym typeface="Arial"/>
              </a:rPr>
              <a:t>Generated text, with everything from Workshop 1: it can paraphrase, approximate and invent. In our test run the model read a screen titled "Building RAG with Image Data" as "Building PAG".</a:t>
            </a:r>
          </a:p>
        </p:txBody>
      </p:sp>
      <p:sp>
        <p:nvSpPr>
          <p:cNvPr id="264" name="Vis 264"/>
          <p:cNvSpPr/>
          <p:nvPr/>
        </p:nvSpPr>
        <p:spPr>
          <a:xfrm>
            <a:off x="6263640" y="4434840"/>
            <a:ext cx="5138928" cy="1572768"/>
          </a:xfrm>
          <a:prstGeom prst="rect">
            <a:avLst/>
          </a:prstGeom>
          <a:solidFill>
            <a:srgbClr val="F7E6E0"/>
          </a:solidFill>
          <a:ln>
            <a:noFill/>
          </a:ln>
        </p:spPr>
      </p:sp>
      <p:pic>
        <p:nvPicPr>
          <p:cNvPr id="265" name="Picture 265" descr="screen_crop.jpg"/>
          <p:cNvPicPr>
            <a:picLocks noChangeAspect="1"/>
          </p:cNvPicPr>
          <p:nvPr/>
        </p:nvPicPr>
        <p:blipFill>
          <a:blip r:embed="rId4"/>
          <a:srcRect l="185" t="0" r="185" b="0"/>
          <a:stretch>
            <a:fillRect/>
          </a:stretch>
        </p:blipFill>
        <p:spPr>
          <a:xfrm>
            <a:off x="6446520" y="4599432"/>
            <a:ext cx="1097280" cy="987552"/>
          </a:xfrm>
          <a:prstGeom prst="rect">
            <a:avLst/>
          </a:prstGeom>
        </p:spPr>
      </p:pic>
      <p:pic>
        <p:nvPicPr>
          <p:cNvPr id="266" name="Picture 266" descr="screen_low.jpg"/>
          <p:cNvPicPr>
            <a:picLocks noChangeAspect="1"/>
          </p:cNvPicPr>
          <p:nvPr/>
        </p:nvPicPr>
        <p:blipFill>
          <a:blip r:embed="rId5"/>
          <a:srcRect l="185" t="0" r="185" b="0"/>
          <a:stretch>
            <a:fillRect/>
          </a:stretch>
        </p:blipFill>
        <p:spPr>
          <a:xfrm>
            <a:off x="7635240" y="4599432"/>
            <a:ext cx="1097280" cy="987552"/>
          </a:xfrm>
          <a:prstGeom prst="rect">
            <a:avLst/>
          </a:prstGeom>
        </p:spPr>
      </p:pic>
      <p:sp>
        <p:nvSpPr>
          <p:cNvPr id="267" name="Vis 267"/>
          <p:cNvSpPr/>
          <p:nvPr/>
        </p:nvSpPr>
        <p:spPr>
          <a:xfrm>
            <a:off x="6446520" y="5623560"/>
            <a:ext cx="1097280" cy="274320"/>
          </a:xfrm>
          <a:prstGeom prst="rect">
            <a:avLst/>
          </a:prstGeom>
          <a:noFill/>
          <a:ln>
            <a:noFill/>
          </a:ln>
        </p:spPr>
        <p:txBody>
          <a:bodyPr wrap="square" lIns="0" tIns="0" rIns="0" bIns="0" anchor="t">
            <a:noAutofit/>
          </a:bodyPr>
          <a:lstStyle/>
          <a:p>
            <a:pPr algn="ctr" indent="0" marL="0">
              <a:buNone/>
            </a:pPr>
            <a:r>
              <a:rPr lang="en-US" sz="900" dirty="0">
                <a:solidFill>
                  <a:srgbClr val="6E6A63"/>
                </a:solidFill>
                <a:latin typeface="Arial"/>
                <a:ea typeface="Arial"/>
                <a:cs typeface="Arial"/>
                <a:sym typeface="Arial"/>
              </a:rPr>
              <a:t>the camera</a:t>
            </a:r>
          </a:p>
        </p:txBody>
      </p:sp>
      <p:sp>
        <p:nvSpPr>
          <p:cNvPr id="268" name="Vis 268"/>
          <p:cNvSpPr/>
          <p:nvPr/>
        </p:nvSpPr>
        <p:spPr>
          <a:xfrm>
            <a:off x="7635240" y="5623560"/>
            <a:ext cx="1097280" cy="274320"/>
          </a:xfrm>
          <a:prstGeom prst="rect">
            <a:avLst/>
          </a:prstGeom>
          <a:noFill/>
          <a:ln>
            <a:noFill/>
          </a:ln>
        </p:spPr>
        <p:txBody>
          <a:bodyPr wrap="square" lIns="0" tIns="0" rIns="0" bIns="0" anchor="t">
            <a:noAutofit/>
          </a:bodyPr>
          <a:lstStyle/>
          <a:p>
            <a:pPr algn="ctr" indent="0" marL="0">
              <a:buNone/>
            </a:pPr>
            <a:r>
              <a:rPr lang="en-US" sz="900" dirty="0">
                <a:solidFill>
                  <a:srgbClr val="6E6A63"/>
                </a:solidFill>
                <a:latin typeface="Arial"/>
                <a:ea typeface="Arial"/>
                <a:cs typeface="Arial"/>
                <a:sym typeface="Arial"/>
              </a:rPr>
              <a:t>after downscaling</a:t>
            </a:r>
          </a:p>
        </p:txBody>
      </p:sp>
      <p:sp>
        <p:nvSpPr>
          <p:cNvPr id="269" name="Vis 269"/>
          <p:cNvSpPr/>
          <p:nvPr/>
        </p:nvSpPr>
        <p:spPr>
          <a:xfrm>
            <a:off x="8942832" y="4572000"/>
            <a:ext cx="2331720" cy="1371600"/>
          </a:xfrm>
          <a:prstGeom prst="rect">
            <a:avLst/>
          </a:prstGeom>
          <a:noFill/>
          <a:ln>
            <a:noFill/>
          </a:ln>
        </p:spPr>
        <p:txBody>
          <a:bodyPr wrap="square" lIns="0" tIns="0" rIns="0" bIns="0" anchor="t">
            <a:noAutofit/>
          </a:bodyPr>
          <a:lstStyle/>
          <a:p>
            <a:pPr algn="l" indent="0" marL="0">
              <a:spcAft>
                <a:spcPts val="600"/>
              </a:spcAft>
              <a:buNone/>
            </a:pPr>
            <a:r>
              <a:rPr lang="en-US" sz="1300" b="1" dirty="0">
                <a:solidFill>
                  <a:srgbClr val="141414"/>
                </a:solidFill>
                <a:latin typeface="Arial"/>
                <a:ea typeface="Arial"/>
                <a:cs typeface="Arial"/>
                <a:sym typeface="Arial"/>
              </a:rPr>
              <a:t>Consequence 2</a:t>
            </a:r>
          </a:p>
          <a:p>
            <a:pPr algn="l" indent="0" marL="0">
              <a:lnSpc>
                <a:spcPts val="1500"/>
              </a:lnSpc>
              <a:buNone/>
            </a:pPr>
            <a:r>
              <a:rPr lang="en-US" sz="1100" dirty="0">
                <a:solidFill>
                  <a:srgbClr val="2A2724"/>
                </a:solidFill>
                <a:latin typeface="Arial"/>
                <a:ea typeface="Arial"/>
                <a:cs typeface="Arial"/>
                <a:sym typeface="Arial"/>
              </a:rPr>
              <a:t>Text smaller than a patch cannot be read. Shrink a screen or poster to fit and the small print is gone before the model sees it.</a:t>
            </a:r>
          </a:p>
        </p:txBody>
      </p:sp>
      <p:sp>
        <p:nvSpPr>
          <p:cNvPr id="270" name="Vis 270"/>
          <p:cNvSpPr/>
          <p:nvPr/>
        </p:nvSpPr>
        <p:spPr>
          <a:xfrm>
            <a:off x="786384" y="6071616"/>
            <a:ext cx="7315200" cy="201168"/>
          </a:xfrm>
          <a:prstGeom prst="rect">
            <a:avLst/>
          </a:prstGeom>
          <a:noFill/>
          <a:ln>
            <a:noFill/>
          </a:ln>
        </p:spPr>
        <p:txBody>
          <a:bodyPr wrap="square" lIns="0" tIns="0" rIns="0" bIns="0" anchor="t">
            <a:noAutofit/>
          </a:bodyPr>
          <a:lstStyle/>
          <a:p>
            <a:pPr algn="l" indent="0" marL="0">
              <a:buNone/>
            </a:pPr>
            <a:r>
              <a:rPr lang="en-US" sz="850" dirty="0">
                <a:solidFill>
                  <a:srgbClr val="9C978E"/>
                </a:solidFill>
                <a:latin typeface="Arial"/>
                <a:ea typeface="Arial"/>
                <a:cs typeface="Arial"/>
                <a:sym typeface="Arial"/>
              </a:rPr>
              <a:t>Dosovitskiy et al. (2021), An Image is Worth 16x16 Words: arxiv.org/abs/2010.11929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TROUBLESHOOTING</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Why Lv3 Fails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07</a:t>
            </a:r>
            <a:endParaRPr lang="en-US" sz="1200" dirty="0"/>
          </a:p>
        </p:txBody>
      </p:sp>
      <p:sp>
        <p:nvSpPr>
          <p:cNvPr id="201" name="Vis 201"/>
          <p:cNvSpPr/>
          <p:nvPr/>
        </p:nvSpPr>
        <p:spPr>
          <a:xfrm>
            <a:off x="786384" y="1572768"/>
            <a:ext cx="10616184" cy="457200"/>
          </a:xfrm>
          <a:prstGeom prst="rect">
            <a:avLst/>
          </a:prstGeom>
          <a:noFill/>
          <a:ln>
            <a:noFill/>
          </a:ln>
        </p:spPr>
        <p:txBody>
          <a:bodyPr wrap="square" lIns="0" tIns="0" rIns="0" bIns="0" anchor="t">
            <a:noAutofit/>
          </a:bodyPr>
          <a:lstStyle/>
          <a:p>
            <a:pPr algn="l" indent="0" marL="0">
              <a:buNone/>
            </a:pPr>
            <a:r>
              <a:rPr lang="en-US" sz="1400" dirty="0">
                <a:solidFill>
                  <a:srgbClr val="6E6A63"/>
                </a:solidFill>
                <a:latin typeface="Arial"/>
                <a:ea typeface="Arial"/>
                <a:cs typeface="Arial"/>
                <a:sym typeface="Arial"/>
              </a:rPr>
              <a:t>Three different causes, three different fixes. Sort every failing Lv3 question into one column.</a:t>
            </a:r>
          </a:p>
        </p:txBody>
      </p:sp>
      <p:sp>
        <p:nvSpPr>
          <p:cNvPr id="202" name="Vis 202"/>
          <p:cNvSpPr/>
          <p:nvPr/>
        </p:nvSpPr>
        <p:spPr>
          <a:xfrm>
            <a:off x="786384" y="2084832"/>
            <a:ext cx="3392424" cy="13716"/>
          </a:xfrm>
          <a:prstGeom prst="rect">
            <a:avLst/>
          </a:prstGeom>
          <a:solidFill>
            <a:srgbClr val="D5D1CA"/>
          </a:solidFill>
          <a:ln>
            <a:noFill/>
          </a:ln>
        </p:spPr>
      </p:sp>
      <p:sp>
        <p:nvSpPr>
          <p:cNvPr id="203" name="Vis 203"/>
          <p:cNvSpPr/>
          <p:nvPr/>
        </p:nvSpPr>
        <p:spPr>
          <a:xfrm>
            <a:off x="786384" y="2157984"/>
            <a:ext cx="3392424" cy="329184"/>
          </a:xfrm>
          <a:prstGeom prst="rect">
            <a:avLst/>
          </a:prstGeom>
          <a:noFill/>
          <a:ln>
            <a:noFill/>
          </a:ln>
        </p:spPr>
        <p:txBody>
          <a:bodyPr wrap="square" lIns="0" tIns="0" rIns="0" bIns="0" anchor="t">
            <a:noAutofit/>
          </a:bodyPr>
          <a:lstStyle/>
          <a:p>
            <a:pPr algn="l" indent="0" marL="0">
              <a:buNone/>
            </a:pPr>
            <a:r>
              <a:rPr lang="en-US" sz="1500" b="1" dirty="0">
                <a:solidFill>
                  <a:srgbClr val="C0402A"/>
                </a:solidFill>
                <a:latin typeface="Arial"/>
                <a:ea typeface="Arial"/>
                <a:cs typeface="Arial"/>
                <a:sym typeface="Arial"/>
              </a:rPr>
              <a:t xml:space="preserve">A  </a:t>
            </a:r>
            <a:r>
              <a:rPr lang="en-US" sz="1500" b="1" dirty="0">
                <a:solidFill>
                  <a:srgbClr val="141414"/>
                </a:solidFill>
                <a:latin typeface="Arial"/>
                <a:ea typeface="Arial"/>
                <a:cs typeface="Arial"/>
                <a:sym typeface="Arial"/>
              </a:rPr>
              <a:t>Never collected</a:t>
            </a:r>
          </a:p>
        </p:txBody>
      </p:sp>
      <p:sp>
        <p:nvSpPr>
          <p:cNvPr id="204" name="Vis 204"/>
          <p:cNvSpPr/>
          <p:nvPr/>
        </p:nvSpPr>
        <p:spPr>
          <a:xfrm>
            <a:off x="4398264" y="2084832"/>
            <a:ext cx="3392424" cy="13716"/>
          </a:xfrm>
          <a:prstGeom prst="rect">
            <a:avLst/>
          </a:prstGeom>
          <a:solidFill>
            <a:srgbClr val="D5D1CA"/>
          </a:solidFill>
          <a:ln>
            <a:noFill/>
          </a:ln>
        </p:spPr>
      </p:sp>
      <p:sp>
        <p:nvSpPr>
          <p:cNvPr id="205" name="Vis 205"/>
          <p:cNvSpPr/>
          <p:nvPr/>
        </p:nvSpPr>
        <p:spPr>
          <a:xfrm>
            <a:off x="4398264" y="2157984"/>
            <a:ext cx="3392424" cy="329184"/>
          </a:xfrm>
          <a:prstGeom prst="rect">
            <a:avLst/>
          </a:prstGeom>
          <a:noFill/>
          <a:ln>
            <a:noFill/>
          </a:ln>
        </p:spPr>
        <p:txBody>
          <a:bodyPr wrap="square" lIns="0" tIns="0" rIns="0" bIns="0" anchor="t">
            <a:noAutofit/>
          </a:bodyPr>
          <a:lstStyle/>
          <a:p>
            <a:pPr algn="l" indent="0" marL="0">
              <a:buNone/>
            </a:pPr>
            <a:r>
              <a:rPr lang="en-US" sz="1500" b="1" dirty="0">
                <a:solidFill>
                  <a:srgbClr val="C0402A"/>
                </a:solidFill>
                <a:latin typeface="Arial"/>
                <a:ea typeface="Arial"/>
                <a:cs typeface="Arial"/>
                <a:sym typeface="Arial"/>
              </a:rPr>
              <a:t xml:space="preserve">B  </a:t>
            </a:r>
            <a:r>
              <a:rPr lang="en-US" sz="1500" b="1" dirty="0">
                <a:solidFill>
                  <a:srgbClr val="141414"/>
                </a:solidFill>
                <a:latin typeface="Arial"/>
                <a:ea typeface="Arial"/>
                <a:cs typeface="Arial"/>
                <a:sym typeface="Arial"/>
              </a:rPr>
              <a:t>Never described</a:t>
            </a:r>
          </a:p>
        </p:txBody>
      </p:sp>
      <p:sp>
        <p:nvSpPr>
          <p:cNvPr id="206" name="Vis 206"/>
          <p:cNvSpPr/>
          <p:nvPr/>
        </p:nvSpPr>
        <p:spPr>
          <a:xfrm>
            <a:off x="8010144" y="2084832"/>
            <a:ext cx="3392424" cy="13716"/>
          </a:xfrm>
          <a:prstGeom prst="rect">
            <a:avLst/>
          </a:prstGeom>
          <a:solidFill>
            <a:srgbClr val="D5D1CA"/>
          </a:solidFill>
          <a:ln>
            <a:noFill/>
          </a:ln>
        </p:spPr>
      </p:sp>
      <p:sp>
        <p:nvSpPr>
          <p:cNvPr id="207" name="Vis 207"/>
          <p:cNvSpPr/>
          <p:nvPr/>
        </p:nvSpPr>
        <p:spPr>
          <a:xfrm>
            <a:off x="8010144" y="2157984"/>
            <a:ext cx="3392424" cy="329184"/>
          </a:xfrm>
          <a:prstGeom prst="rect">
            <a:avLst/>
          </a:prstGeom>
          <a:noFill/>
          <a:ln>
            <a:noFill/>
          </a:ln>
        </p:spPr>
        <p:txBody>
          <a:bodyPr wrap="square" lIns="0" tIns="0" rIns="0" bIns="0" anchor="t">
            <a:noAutofit/>
          </a:bodyPr>
          <a:lstStyle/>
          <a:p>
            <a:pPr algn="l" indent="0" marL="0">
              <a:buNone/>
            </a:pPr>
            <a:r>
              <a:rPr lang="en-US" sz="1500" b="1" dirty="0">
                <a:solidFill>
                  <a:srgbClr val="C0402A"/>
                </a:solidFill>
                <a:latin typeface="Arial"/>
                <a:ea typeface="Arial"/>
                <a:cs typeface="Arial"/>
                <a:sym typeface="Arial"/>
              </a:rPr>
              <a:t xml:space="preserve">C  </a:t>
            </a:r>
            <a:r>
              <a:rPr lang="en-US" sz="1500" b="1" dirty="0">
                <a:solidFill>
                  <a:srgbClr val="141414"/>
                </a:solidFill>
                <a:latin typeface="Arial"/>
                <a:ea typeface="Arial"/>
                <a:cs typeface="Arial"/>
                <a:sym typeface="Arial"/>
              </a:rPr>
              <a:t>Described badly</a:t>
            </a:r>
          </a:p>
        </p:txBody>
      </p:sp>
      <p:sp>
        <p:nvSpPr>
          <p:cNvPr id="208" name="Vis 208"/>
          <p:cNvSpPr/>
          <p:nvPr/>
        </p:nvSpPr>
        <p:spPr>
          <a:xfrm>
            <a:off x="786384" y="2514600"/>
            <a:ext cx="3392424" cy="2103120"/>
          </a:xfrm>
          <a:prstGeom prst="rect">
            <a:avLst/>
          </a:prstGeom>
          <a:solidFill>
            <a:srgbClr val="F2EFEA"/>
          </a:solidFill>
          <a:ln>
            <a:noFill/>
          </a:ln>
        </p:spPr>
      </p:sp>
      <p:sp>
        <p:nvSpPr>
          <p:cNvPr id="209" name="Vis 209"/>
          <p:cNvSpPr/>
          <p:nvPr/>
        </p:nvSpPr>
        <p:spPr>
          <a:xfrm>
            <a:off x="1005840" y="2679192"/>
            <a:ext cx="3008376" cy="1847088"/>
          </a:xfrm>
          <a:prstGeom prst="rect">
            <a:avLst/>
          </a:prstGeom>
          <a:noFill/>
          <a:ln>
            <a:noFill/>
          </a:ln>
        </p:spPr>
        <p:txBody>
          <a:bodyPr wrap="square" lIns="0" tIns="0" rIns="0" bIns="0" anchor="t">
            <a:noAutofit/>
          </a:bodyPr>
          <a:lstStyle/>
          <a:p>
            <a:pPr algn="l" indent="0" marL="0">
              <a:lnSpc>
                <a:spcPts val="1450"/>
              </a:lnSpc>
              <a:buNone/>
            </a:pPr>
            <a:r>
              <a:rPr lang="en-US" sz="1000" dirty="0">
                <a:solidFill>
                  <a:srgbClr val="2A2724"/>
                </a:solidFill>
                <a:latin typeface="Courier New"/>
                <a:ea typeface="Courier New"/>
                <a:cs typeface="Courier New"/>
                <a:sym typeface="Courier New"/>
              </a:rPr>
              <a:t>&lt;h2&gt;Pitch New Tech</a:t>
            </a:r>
          </a:p>
          <a:p>
            <a:pPr algn="l" indent="0" marL="0">
              <a:lnSpc>
                <a:spcPts val="1450"/>
              </a:lnSpc>
              <a:buNone/>
            </a:pPr>
            <a:r>
              <a:rPr lang="en-US" sz="1000" dirty="0">
                <a:solidFill>
                  <a:srgbClr val="2A2724"/>
                </a:solidFill>
                <a:latin typeface="Courier New"/>
                <a:ea typeface="Courier New"/>
                <a:cs typeface="Courier New"/>
                <a:sym typeface="Courier New"/>
              </a:rPr>
              <a:t xml:space="preserve">    Ideas 2025&lt;/h2&gt;</a:t>
            </a:r>
          </a:p>
          <a:p>
            <a:pPr algn="l" indent="0" marL="0">
              <a:lnSpc>
                <a:spcPts val="1450"/>
              </a:lnSpc>
              <a:buNone/>
            </a:pPr>
            <a:r>
              <a:rPr lang="en-US" sz="1000" dirty="0">
                <a:solidFill>
                  <a:srgbClr val="C0402A"/>
                </a:solidFill>
                <a:latin typeface="Courier New"/>
                <a:ea typeface="Courier New"/>
                <a:cs typeface="Courier New"/>
                <a:sym typeface="Courier New"/>
              </a:rPr>
              <a:t>&lt;img src="winners.jpg"&gt;</a:t>
            </a:r>
          </a:p>
          <a:p>
            <a:pPr algn="l" indent="0" marL="0">
              <a:lnSpc>
                <a:spcPts val="1450"/>
              </a:lnSpc>
              <a:buNone/>
            </a:pPr>
            <a:r>
              <a:rPr lang="en-US" sz="600" dirty="0">
                <a:solidFill>
                  <a:srgbClr val="2A2724"/>
                </a:solidFill>
                <a:latin typeface="Courier New"/>
                <a:ea typeface="Courier New"/>
                <a:cs typeface="Courier New"/>
                <a:sym typeface="Courier New"/>
              </a:rPr>
              <a:t/>
            </a:r>
          </a:p>
          <a:p>
            <a:pPr algn="l" indent="0" marL="0">
              <a:lnSpc>
                <a:spcPts val="1450"/>
              </a:lnSpc>
              <a:buNone/>
            </a:pPr>
            <a:r>
              <a:rPr lang="en-US" sz="1000" dirty="0">
                <a:solidFill>
                  <a:srgbClr val="6E6A63"/>
                </a:solidFill>
                <a:latin typeface="Courier New"/>
                <a:ea typeface="Courier New"/>
                <a:cs typeface="Courier New"/>
                <a:sym typeface="Courier New"/>
              </a:rPr>
              <a:t>soup.get_text() -&gt;</a:t>
            </a:r>
          </a:p>
          <a:p>
            <a:pPr algn="l" indent="0" marL="0">
              <a:lnSpc>
                <a:spcPts val="1450"/>
              </a:lnSpc>
              <a:buNone/>
            </a:pPr>
            <a:r>
              <a:rPr lang="en-US" sz="1000" dirty="0">
                <a:solidFill>
                  <a:srgbClr val="2A2724"/>
                </a:solidFill>
                <a:latin typeface="Courier New"/>
                <a:ea typeface="Courier New"/>
                <a:cs typeface="Courier New"/>
                <a:sym typeface="Courier New"/>
              </a:rPr>
              <a:t>"Pitch New Tech Ideas</a:t>
            </a:r>
          </a:p>
          <a:p>
            <a:pPr algn="l" indent="0" marL="0">
              <a:lnSpc>
                <a:spcPts val="1450"/>
              </a:lnSpc>
              <a:buNone/>
            </a:pPr>
            <a:r>
              <a:rPr lang="en-US" sz="1000" dirty="0">
                <a:solidFill>
                  <a:srgbClr val="2A2724"/>
                </a:solidFill>
                <a:latin typeface="Courier New"/>
                <a:ea typeface="Courier New"/>
                <a:cs typeface="Courier New"/>
                <a:sym typeface="Courier New"/>
              </a:rPr>
              <a:t xml:space="preserve"> 2025"</a:t>
            </a:r>
            <a:r>
              <a:rPr lang="en-US" sz="1000" b="1" dirty="0">
                <a:solidFill>
                  <a:srgbClr val="C0402A"/>
                </a:solidFill>
                <a:latin typeface="Courier New"/>
                <a:ea typeface="Courier New"/>
                <a:cs typeface="Courier New"/>
                <a:sym typeface="Courier New"/>
              </a:rPr>
              <a:t xml:space="preserve">   no image</a:t>
            </a:r>
          </a:p>
        </p:txBody>
      </p:sp>
      <p:sp>
        <p:nvSpPr>
          <p:cNvPr id="210" name="Vis 210"/>
          <p:cNvSpPr/>
          <p:nvPr/>
        </p:nvSpPr>
        <p:spPr>
          <a:xfrm>
            <a:off x="786384" y="4727448"/>
            <a:ext cx="3392424" cy="822960"/>
          </a:xfrm>
          <a:prstGeom prst="rect">
            <a:avLst/>
          </a:prstGeom>
          <a:noFill/>
          <a:ln>
            <a:noFill/>
          </a:ln>
        </p:spPr>
        <p:txBody>
          <a:bodyPr wrap="square" lIns="0" tIns="0" rIns="0" bIns="0" anchor="t">
            <a:noAutofit/>
          </a:bodyPr>
          <a:lstStyle/>
          <a:p>
            <a:pPr algn="l" indent="0" marL="0">
              <a:lnSpc>
                <a:spcPts val="1500"/>
              </a:lnSpc>
              <a:buNone/>
            </a:pPr>
            <a:r>
              <a:rPr lang="en-US" sz="1100" dirty="0">
                <a:solidFill>
                  <a:srgbClr val="2A2724"/>
                </a:solidFill>
                <a:latin typeface="Arial"/>
                <a:ea typeface="Arial"/>
                <a:cs typeface="Arial"/>
                <a:sym typeface="Arial"/>
              </a:rPr>
              <a:t>The scraper kept the page text and dropped the img tag. The winners are only on the poster.</a:t>
            </a:r>
          </a:p>
          <a:p>
            <a:pPr algn="l" indent="0" marL="0">
              <a:spcBef>
                <a:spcPts val="300"/>
              </a:spcBef>
              <a:buNone/>
            </a:pPr>
            <a:r>
              <a:rPr lang="en-US" sz="900" i="1" dirty="0">
                <a:solidFill>
                  <a:srgbClr val="9C978E"/>
                </a:solidFill>
                <a:latin typeface="Arial"/>
                <a:ea typeface="Arial"/>
                <a:cs typeface="Arial"/>
                <a:sym typeface="Arial"/>
              </a:rPr>
              <a:t>illustrative page</a:t>
            </a:r>
          </a:p>
        </p:txBody>
      </p:sp>
      <p:sp>
        <p:nvSpPr>
          <p:cNvPr id="211" name="Vis 211"/>
          <p:cNvSpPr/>
          <p:nvPr/>
        </p:nvSpPr>
        <p:spPr>
          <a:xfrm>
            <a:off x="4398264" y="2514600"/>
            <a:ext cx="3392424" cy="2103120"/>
          </a:xfrm>
          <a:prstGeom prst="rect">
            <a:avLst/>
          </a:prstGeom>
          <a:solidFill>
            <a:srgbClr val="F2EFEA"/>
          </a:solidFill>
          <a:ln>
            <a:noFill/>
          </a:ln>
        </p:spPr>
      </p:sp>
      <p:sp>
        <p:nvSpPr>
          <p:cNvPr id="212" name="Vis 212"/>
          <p:cNvSpPr/>
          <p:nvPr/>
        </p:nvSpPr>
        <p:spPr>
          <a:xfrm>
            <a:off x="4617720" y="2679192"/>
            <a:ext cx="3008376" cy="1847088"/>
          </a:xfrm>
          <a:prstGeom prst="rect">
            <a:avLst/>
          </a:prstGeom>
          <a:noFill/>
          <a:ln>
            <a:noFill/>
          </a:ln>
        </p:spPr>
        <p:txBody>
          <a:bodyPr wrap="square" lIns="0" tIns="0" rIns="0" bIns="0" anchor="t">
            <a:noAutofit/>
          </a:bodyPr>
          <a:lstStyle/>
          <a:p>
            <a:pPr algn="l" indent="0" marL="0">
              <a:lnSpc>
                <a:spcPts val="1450"/>
              </a:lnSpc>
              <a:buNone/>
            </a:pPr>
            <a:r>
              <a:rPr lang="en-US" sz="950" dirty="0">
                <a:solidFill>
                  <a:srgbClr val="6E6A63"/>
                </a:solidFill>
                <a:latin typeface="Courier New"/>
                <a:ea typeface="Courier New"/>
                <a:cs typeface="Courier New"/>
                <a:sym typeface="Courier New"/>
              </a:rPr>
              <a:t>data/images.json</a:t>
            </a:r>
          </a:p>
          <a:p>
            <a:pPr algn="l" indent="0" marL="0">
              <a:lnSpc>
                <a:spcPts val="1450"/>
              </a:lnSpc>
              <a:buNone/>
            </a:pPr>
            <a:r>
              <a:rPr lang="en-US" sz="1000" dirty="0">
                <a:solidFill>
                  <a:srgbClr val="2A2724"/>
                </a:solidFill>
                <a:latin typeface="Courier New"/>
                <a:ea typeface="Courier New"/>
                <a:cs typeface="Courier New"/>
                <a:sym typeface="Courier New"/>
              </a:rPr>
              <a:t>{"src": ".../01.-Design-</a:t>
            </a:r>
          </a:p>
          <a:p>
            <a:pPr algn="l" indent="0" marL="0">
              <a:lnSpc>
                <a:spcPts val="1450"/>
              </a:lnSpc>
              <a:buNone/>
            </a:pPr>
            <a:r>
              <a:rPr lang="en-US" sz="1000" dirty="0">
                <a:solidFill>
                  <a:srgbClr val="2A2724"/>
                </a:solidFill>
                <a:latin typeface="Courier New"/>
                <a:ea typeface="Courier New"/>
                <a:cs typeface="Courier New"/>
                <a:sym typeface="Courier New"/>
              </a:rPr>
              <a:t xml:space="preserve">   Build-and-Fly-Team-2023-</a:t>
            </a:r>
          </a:p>
          <a:p>
            <a:pPr algn="l" indent="0" marL="0">
              <a:lnSpc>
                <a:spcPts val="1450"/>
              </a:lnSpc>
              <a:buNone/>
            </a:pPr>
            <a:r>
              <a:rPr lang="en-US" sz="1000" dirty="0">
                <a:solidFill>
                  <a:srgbClr val="2A2724"/>
                </a:solidFill>
                <a:latin typeface="Courier New"/>
                <a:ea typeface="Courier New"/>
                <a:cs typeface="Courier New"/>
                <a:sym typeface="Courier New"/>
              </a:rPr>
              <a:t xml:space="preserve">   Poster-723x1024-1.png",</a:t>
            </a:r>
          </a:p>
          <a:p>
            <a:pPr algn="l" indent="0" marL="0">
              <a:lnSpc>
                <a:spcPts val="1450"/>
              </a:lnSpc>
              <a:buNone/>
            </a:pPr>
            <a:r>
              <a:rPr lang="en-US" sz="1000" b="1" dirty="0">
                <a:solidFill>
                  <a:srgbClr val="C0402A"/>
                </a:solidFill>
                <a:latin typeface="Courier New"/>
                <a:ea typeface="Courier New"/>
                <a:cs typeface="Courier New"/>
                <a:sym typeface="Courier New"/>
              </a:rPr>
              <a:t xml:space="preserve"> "alt": "",</a:t>
            </a:r>
          </a:p>
          <a:p>
            <a:pPr algn="l" indent="0" marL="0">
              <a:lnSpc>
                <a:spcPts val="1450"/>
              </a:lnSpc>
              <a:buNone/>
            </a:pPr>
            <a:r>
              <a:rPr lang="en-US" sz="1000" dirty="0">
                <a:solidFill>
                  <a:srgbClr val="2A2724"/>
                </a:solidFill>
                <a:latin typeface="Courier New"/>
                <a:ea typeface="Courier New"/>
                <a:cs typeface="Courier New"/>
                <a:sym typeface="Courier New"/>
              </a:rPr>
              <a:t xml:space="preserve"> "page": ".../innowing1/"}</a:t>
            </a:r>
          </a:p>
          <a:p>
            <a:pPr algn="l" indent="0" marL="0">
              <a:lnSpc>
                <a:spcPts val="1450"/>
              </a:lnSpc>
              <a:buNone/>
            </a:pPr>
            <a:r>
              <a:rPr lang="en-US" sz="500" dirty="0">
                <a:solidFill>
                  <a:srgbClr val="2A2724"/>
                </a:solidFill>
                <a:latin typeface="Courier New"/>
                <a:ea typeface="Courier New"/>
                <a:cs typeface="Courier New"/>
                <a:sym typeface="Courier New"/>
              </a:rPr>
              <a:t/>
            </a:r>
          </a:p>
          <a:p>
            <a:pPr algn="l" indent="0" marL="0">
              <a:lnSpc>
                <a:spcPts val="1450"/>
              </a:lnSpc>
              <a:buNone/>
            </a:pPr>
            <a:r>
              <a:rPr lang="en-US" sz="1000" dirty="0">
                <a:solidFill>
                  <a:srgbClr val="C0402A"/>
                </a:solidFill>
                <a:latin typeface="Courier New"/>
                <a:ea typeface="Courier New"/>
                <a:cs typeface="Courier New"/>
                <a:sym typeface="Courier New"/>
              </a:rPr>
              <a:t>embed() sees a URL,</a:t>
            </a:r>
          </a:p>
          <a:p>
            <a:pPr algn="l" indent="0" marL="0">
              <a:lnSpc>
                <a:spcPts val="1450"/>
              </a:lnSpc>
              <a:buNone/>
            </a:pPr>
            <a:r>
              <a:rPr lang="en-US" sz="1000" dirty="0">
                <a:solidFill>
                  <a:srgbClr val="C0402A"/>
                </a:solidFill>
                <a:latin typeface="Courier New"/>
                <a:ea typeface="Courier New"/>
                <a:cs typeface="Courier New"/>
                <a:sym typeface="Courier New"/>
              </a:rPr>
              <a:t>not a poster</a:t>
            </a:r>
          </a:p>
        </p:txBody>
      </p:sp>
      <p:sp>
        <p:nvSpPr>
          <p:cNvPr id="213" name="Vis 213"/>
          <p:cNvSpPr/>
          <p:nvPr/>
        </p:nvSpPr>
        <p:spPr>
          <a:xfrm>
            <a:off x="4398264" y="4727448"/>
            <a:ext cx="3392424" cy="822960"/>
          </a:xfrm>
          <a:prstGeom prst="rect">
            <a:avLst/>
          </a:prstGeom>
          <a:noFill/>
          <a:ln>
            <a:noFill/>
          </a:ln>
        </p:spPr>
        <p:txBody>
          <a:bodyPr wrap="square" lIns="0" tIns="0" rIns="0" bIns="0" anchor="t">
            <a:noAutofit/>
          </a:bodyPr>
          <a:lstStyle/>
          <a:p>
            <a:pPr algn="l" indent="0" marL="0">
              <a:lnSpc>
                <a:spcPts val="1500"/>
              </a:lnSpc>
              <a:buNone/>
            </a:pPr>
            <a:r>
              <a:rPr lang="en-US" sz="1100" dirty="0">
                <a:solidFill>
                  <a:srgbClr val="2A2724"/>
                </a:solidFill>
                <a:latin typeface="Arial"/>
                <a:ea typeface="Arial"/>
                <a:cs typeface="Arial"/>
                <a:sym typeface="Arial"/>
              </a:rPr>
              <a:t>A real record from lab 3. The URL is stored, but nothing turned the poster into text.</a:t>
            </a:r>
          </a:p>
        </p:txBody>
      </p:sp>
      <p:pic>
        <p:nvPicPr>
          <p:cNvPr id="214" name="Picture 214" descr="makerspace_43.jpg"/>
          <p:cNvPicPr>
            <a:picLocks noChangeAspect="1"/>
          </p:cNvPicPr>
          <p:nvPr/>
        </p:nvPicPr>
        <p:blipFill>
          <a:blip r:embed="rId3"/>
          <a:srcRect l="0" t="31280" r="0" b="25592"/>
          <a:stretch>
            <a:fillRect/>
          </a:stretch>
        </p:blipFill>
        <p:spPr>
          <a:xfrm>
            <a:off x="8010144" y="2514600"/>
            <a:ext cx="3392424" cy="1097280"/>
          </a:xfrm>
          <a:prstGeom prst="rect">
            <a:avLst/>
          </a:prstGeom>
        </p:spPr>
      </p:pic>
      <p:sp>
        <p:nvSpPr>
          <p:cNvPr id="215" name="Vis 215"/>
          <p:cNvSpPr/>
          <p:nvPr/>
        </p:nvSpPr>
        <p:spPr>
          <a:xfrm>
            <a:off x="8010144" y="3611880"/>
            <a:ext cx="3392424" cy="1005840"/>
          </a:xfrm>
          <a:prstGeom prst="rect">
            <a:avLst/>
          </a:prstGeom>
          <a:solidFill>
            <a:srgbClr val="F7E6E0"/>
          </a:solidFill>
          <a:ln>
            <a:noFill/>
          </a:ln>
        </p:spPr>
      </p:sp>
      <p:sp>
        <p:nvSpPr>
          <p:cNvPr id="216" name="Vis 216"/>
          <p:cNvSpPr/>
          <p:nvPr/>
        </p:nvSpPr>
        <p:spPr>
          <a:xfrm>
            <a:off x="8156448" y="3703320"/>
            <a:ext cx="3118104" cy="868680"/>
          </a:xfrm>
          <a:prstGeom prst="rect">
            <a:avLst/>
          </a:prstGeom>
          <a:noFill/>
          <a:ln>
            <a:noFill/>
          </a:ln>
        </p:spPr>
        <p:txBody>
          <a:bodyPr wrap="square" lIns="0" tIns="0" rIns="0" bIns="0" anchor="t">
            <a:noAutofit/>
          </a:bodyPr>
          <a:lstStyle/>
          <a:p>
            <a:pPr algn="l" indent="0" marL="0">
              <a:lnSpc>
                <a:spcPts val="1400"/>
              </a:lnSpc>
              <a:spcAft>
                <a:spcPts val="400"/>
              </a:spcAft>
              <a:buNone/>
            </a:pPr>
            <a:r>
              <a:rPr lang="en-US" sz="1050" i="1" dirty="0">
                <a:solidFill>
                  <a:srgbClr val="2A2724"/>
                </a:solidFill>
                <a:latin typeface="Arial"/>
                <a:ea typeface="Arial"/>
                <a:cs typeface="Arial"/>
                <a:sym typeface="Arial"/>
              </a:rPr>
              <a:t>"Large open lab with wooden worktables and stools, several people using laptops..."</a:t>
            </a:r>
          </a:p>
          <a:p>
            <a:pPr algn="l" indent="0" marL="0">
              <a:buNone/>
            </a:pPr>
            <a:r>
              <a:rPr lang="en-US" sz="900" dirty="0">
                <a:solidFill>
                  <a:srgbClr val="6E6A63"/>
                </a:solidFill>
                <a:latin typeface="Arial"/>
                <a:ea typeface="Arial"/>
                <a:cs typeface="Arial"/>
                <a:sym typeface="Arial"/>
              </a:rPr>
              <a:t>real gpt-5-mini output</a:t>
            </a:r>
          </a:p>
        </p:txBody>
      </p:sp>
      <p:sp>
        <p:nvSpPr>
          <p:cNvPr id="217" name="Vis 217"/>
          <p:cNvSpPr/>
          <p:nvPr/>
        </p:nvSpPr>
        <p:spPr>
          <a:xfrm>
            <a:off x="8010144" y="4727448"/>
            <a:ext cx="3392424" cy="822960"/>
          </a:xfrm>
          <a:prstGeom prst="rect">
            <a:avLst/>
          </a:prstGeom>
          <a:noFill/>
          <a:ln>
            <a:noFill/>
          </a:ln>
        </p:spPr>
        <p:txBody>
          <a:bodyPr wrap="square" lIns="0" tIns="0" rIns="0" bIns="0" anchor="t">
            <a:noAutofit/>
          </a:bodyPr>
          <a:lstStyle/>
          <a:p>
            <a:pPr algn="l" indent="0" marL="0">
              <a:lnSpc>
                <a:spcPts val="1500"/>
              </a:lnSpc>
              <a:buNone/>
            </a:pPr>
            <a:r>
              <a:rPr lang="en-US" sz="1100" dirty="0">
                <a:solidFill>
                  <a:srgbClr val="2A2724"/>
                </a:solidFill>
                <a:latin typeface="Arial"/>
                <a:ea typeface="Arial"/>
                <a:cs typeface="Arial"/>
                <a:sym typeface="Arial"/>
              </a:rPr>
              <a:t>How many tables are in Makerspace A? The description never counted them.</a:t>
            </a:r>
          </a:p>
        </p:txBody>
      </p:sp>
      <p:sp>
        <p:nvSpPr>
          <p:cNvPr id="218" name="Vis 218"/>
          <p:cNvSpPr/>
          <p:nvPr/>
        </p:nvSpPr>
        <p:spPr>
          <a:xfrm>
            <a:off x="786384" y="5577840"/>
            <a:ext cx="10616184" cy="457200"/>
          </a:xfrm>
          <a:prstGeom prst="rect">
            <a:avLst/>
          </a:prstGeom>
          <a:solidFill>
            <a:srgbClr val="F2EFEA"/>
          </a:solidFill>
          <a:ln>
            <a:noFill/>
          </a:ln>
        </p:spPr>
      </p:sp>
      <p:sp>
        <p:nvSpPr>
          <p:cNvPr id="219" name="Vis 219"/>
          <p:cNvSpPr/>
          <p:nvPr/>
        </p:nvSpPr>
        <p:spPr>
          <a:xfrm>
            <a:off x="969264" y="5577840"/>
            <a:ext cx="10250424" cy="457200"/>
          </a:xfrm>
          <a:prstGeom prst="rect">
            <a:avLst/>
          </a:prstGeom>
          <a:noFill/>
          <a:ln>
            <a:noFill/>
          </a:ln>
        </p:spPr>
        <p:txBody>
          <a:bodyPr wrap="square" lIns="0" tIns="0" rIns="0" bIns="0" anchor="ctr">
            <a:noAutofit/>
          </a:bodyPr>
          <a:lstStyle/>
          <a:p>
            <a:pPr algn="l" indent="0" marL="0">
              <a:buNone/>
            </a:pPr>
            <a:r>
              <a:rPr lang="en-US" sz="1200" b="1" dirty="0">
                <a:solidFill>
                  <a:srgbClr val="C0402A"/>
                </a:solidFill>
                <a:latin typeface="Arial"/>
                <a:ea typeface="Arial"/>
                <a:cs typeface="Arial"/>
                <a:sym typeface="Arial"/>
              </a:rPr>
              <a:t xml:space="preserve">Lab 3:  </a:t>
            </a:r>
            <a:r>
              <a:rPr lang="en-US" sz="1200" dirty="0">
                <a:solidFill>
                  <a:srgbClr val="141414"/>
                </a:solidFill>
                <a:latin typeface="Arial"/>
                <a:ea typeface="Arial"/>
                <a:cs typeface="Arial"/>
                <a:sym typeface="Arial"/>
              </a:rPr>
              <a:t>put each failing Lv3 question in a column. Fix in order A, B, C. Most teams have all three.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Collecting Images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09</a:t>
            </a:r>
            <a:endParaRPr lang="en-US" sz="1200" dirty="0"/>
          </a:p>
        </p:txBody>
      </p:sp>
      <p:sp>
        <p:nvSpPr>
          <p:cNvPr id="201" name="Vis 201"/>
          <p:cNvSpPr/>
          <p:nvPr/>
        </p:nvSpPr>
        <p:spPr>
          <a:xfrm>
            <a:off x="786384" y="1645920"/>
            <a:ext cx="5806440" cy="3200400"/>
          </a:xfrm>
          <a:prstGeom prst="rect">
            <a:avLst/>
          </a:prstGeom>
          <a:solidFill>
            <a:srgbClr val="F2EFEA"/>
          </a:solidFill>
          <a:ln>
            <a:noFill/>
          </a:ln>
        </p:spPr>
      </p:sp>
      <p:sp>
        <p:nvSpPr>
          <p:cNvPr id="202" name="Vis 202"/>
          <p:cNvSpPr/>
          <p:nvPr/>
        </p:nvSpPr>
        <p:spPr>
          <a:xfrm>
            <a:off x="786384" y="1645920"/>
            <a:ext cx="27432" cy="3200400"/>
          </a:xfrm>
          <a:prstGeom prst="rect">
            <a:avLst/>
          </a:prstGeom>
          <a:solidFill>
            <a:srgbClr val="C0402A"/>
          </a:solidFill>
          <a:ln>
            <a:noFill/>
          </a:ln>
        </p:spPr>
      </p:sp>
      <p:sp>
        <p:nvSpPr>
          <p:cNvPr id="203" name="Vis 203"/>
          <p:cNvSpPr/>
          <p:nvPr/>
        </p:nvSpPr>
        <p:spPr>
          <a:xfrm>
            <a:off x="1042416" y="1773936"/>
            <a:ext cx="5404104" cy="228600"/>
          </a:xfrm>
          <a:prstGeom prst="rect">
            <a:avLst/>
          </a:prstGeom>
          <a:noFill/>
          <a:ln>
            <a:noFill/>
          </a:ln>
        </p:spPr>
        <p:txBody>
          <a:bodyPr wrap="square" lIns="0" tIns="0" rIns="0" bIns="0" anchor="t">
            <a:noAutofit/>
          </a:bodyPr>
          <a:lstStyle/>
          <a:p>
            <a:pPr algn="l" indent="0" marL="0">
              <a:buNone/>
            </a:pPr>
            <a:r>
              <a:rPr lang="en-US" sz="950" b="1" dirty="0">
                <a:solidFill>
                  <a:srgbClr val="9C978E"/>
                </a:solidFill>
                <a:latin typeface="Arial"/>
                <a:ea typeface="Arial"/>
                <a:cs typeface="Arial"/>
                <a:sym typeface="Arial"/>
              </a:rPr>
              <a:t>submission_repo/build/scrape.py  ·  extract()</a:t>
            </a:r>
          </a:p>
        </p:txBody>
      </p:sp>
      <p:sp>
        <p:nvSpPr>
          <p:cNvPr id="204" name="Vis 204"/>
          <p:cNvSpPr/>
          <p:nvPr/>
        </p:nvSpPr>
        <p:spPr>
          <a:xfrm>
            <a:off x="1042416" y="2057400"/>
            <a:ext cx="5349240" cy="2697480"/>
          </a:xfrm>
          <a:prstGeom prst="rect">
            <a:avLst/>
          </a:prstGeom>
          <a:noFill/>
          <a:ln>
            <a:noFill/>
          </a:ln>
        </p:spPr>
        <p:txBody>
          <a:bodyPr wrap="square" lIns="0" tIns="0" rIns="0" bIns="0" anchor="t">
            <a:noAutofit/>
          </a:bodyPr>
          <a:lstStyle/>
          <a:p>
            <a:pPr algn="l" indent="0" marL="0">
              <a:lnSpc>
                <a:spcPts val="1522"/>
              </a:lnSpc>
              <a:buNone/>
            </a:pPr>
            <a:r>
              <a:rPr lang="en-US" sz="1050" dirty="0">
                <a:solidFill>
                  <a:srgbClr val="2A2724"/>
                </a:solidFill>
                <a:latin typeface="Courier New"/>
                <a:ea typeface="Courier New"/>
                <a:cs typeface="Courier New"/>
                <a:sym typeface="Courier New"/>
              </a:rPr>
              <a:t>images = []</a:t>
            </a:r>
          </a:p>
          <a:p>
            <a:pPr algn="l" indent="0" marL="0">
              <a:lnSpc>
                <a:spcPts val="1522"/>
              </a:lnSpc>
              <a:buNone/>
            </a:pPr>
            <a:r>
              <a:rPr lang="en-US" sz="1050" dirty="0">
                <a:solidFill>
                  <a:srgbClr val="2A2724"/>
                </a:solidFill>
                <a:latin typeface="Courier New"/>
                <a:ea typeface="Courier New"/>
                <a:cs typeface="Courier New"/>
                <a:sym typeface="Courier New"/>
              </a:rPr>
              <a:t>for img in soup.select("img"):</a:t>
            </a:r>
          </a:p>
          <a:p>
            <a:pPr algn="l" indent="0" marL="0">
              <a:lnSpc>
                <a:spcPts val="1522"/>
              </a:lnSpc>
              <a:buNone/>
            </a:pPr>
            <a:r>
              <a:rPr lang="en-US" sz="1050" dirty="0">
                <a:solidFill>
                  <a:srgbClr val="2A2724"/>
                </a:solidFill>
                <a:latin typeface="Courier New"/>
                <a:ea typeface="Courier New"/>
                <a:cs typeface="Courier New"/>
                <a:sym typeface="Courier New"/>
              </a:rPr>
              <a:t xml:space="preserve">    src = img.get("src")</a:t>
            </a:r>
          </a:p>
          <a:p>
            <a:pPr algn="l" indent="0" marL="0">
              <a:lnSpc>
                <a:spcPts val="1522"/>
              </a:lnSpc>
              <a:buNone/>
            </a:pPr>
            <a:r>
              <a:rPr lang="en-US" sz="1050" dirty="0">
                <a:solidFill>
                  <a:srgbClr val="2A2724"/>
                </a:solidFill>
                <a:latin typeface="Courier New"/>
                <a:ea typeface="Courier New"/>
                <a:cs typeface="Courier New"/>
                <a:sym typeface="Courier New"/>
              </a:rPr>
              <a:t xml:space="preserve">    if not src:</a:t>
            </a:r>
          </a:p>
          <a:p>
            <a:pPr algn="l" indent="0" marL="0">
              <a:lnSpc>
                <a:spcPts val="1522"/>
              </a:lnSpc>
              <a:buNone/>
            </a:pPr>
            <a:r>
              <a:rPr lang="en-US" sz="1050" dirty="0">
                <a:solidFill>
                  <a:srgbClr val="2A2724"/>
                </a:solidFill>
                <a:latin typeface="Courier New"/>
                <a:ea typeface="Courier New"/>
                <a:cs typeface="Courier New"/>
                <a:sym typeface="Courier New"/>
              </a:rPr>
              <a:t xml:space="preserve">        continue</a:t>
            </a:r>
          </a:p>
          <a:p>
            <a:pPr algn="l" indent="0" marL="0">
              <a:lnSpc>
                <a:spcPts val="1522"/>
              </a:lnSpc>
              <a:buNone/>
            </a:pPr>
            <a:r>
              <a:rPr lang="en-US" sz="1050" dirty="0">
                <a:solidFill>
                  <a:srgbClr val="2A2724"/>
                </a:solidFill>
                <a:latin typeface="Courier New"/>
                <a:ea typeface="Courier New"/>
                <a:cs typeface="Courier New"/>
                <a:sym typeface="Courier New"/>
              </a:rPr>
              <a:t xml:space="preserve">    fig = img.find_parent("figure")</a:t>
            </a:r>
          </a:p>
          <a:p>
            <a:pPr algn="l" indent="0" marL="0">
              <a:lnSpc>
                <a:spcPts val="1522"/>
              </a:lnSpc>
              <a:buNone/>
            </a:pPr>
            <a:r>
              <a:rPr lang="en-US" sz="1050" dirty="0">
                <a:solidFill>
                  <a:srgbClr val="2A2724"/>
                </a:solidFill>
                <a:latin typeface="Courier New"/>
                <a:ea typeface="Courier New"/>
                <a:cs typeface="Courier New"/>
                <a:sym typeface="Courier New"/>
              </a:rPr>
              <a:t xml:space="preserve">    images.append({</a:t>
            </a:r>
          </a:p>
          <a:p>
            <a:pPr algn="l" indent="0" marL="0">
              <a:lnSpc>
                <a:spcPts val="1522"/>
              </a:lnSpc>
              <a:buNone/>
            </a:pPr>
            <a:r>
              <a:rPr lang="en-US" sz="1050" dirty="0">
                <a:solidFill>
                  <a:srgbClr val="2A2724"/>
                </a:solidFill>
                <a:latin typeface="Courier New"/>
                <a:ea typeface="Courier New"/>
                <a:cs typeface="Courier New"/>
                <a:sym typeface="Courier New"/>
              </a:rPr>
              <a:t xml:space="preserve">        "src":  urljoin(url, src),</a:t>
            </a:r>
            <a:r>
              <a:rPr lang="en-US" sz="1050" dirty="0">
                <a:solidFill>
                  <a:srgbClr val="C0402A"/>
                </a:solidFill>
                <a:latin typeface="Courier New"/>
                <a:ea typeface="Courier New"/>
                <a:cs typeface="Courier New"/>
                <a:sym typeface="Courier New"/>
              </a:rPr>
              <a:t xml:space="preserve">  # absolute</a:t>
            </a:r>
          </a:p>
          <a:p>
            <a:pPr algn="l" indent="0" marL="0">
              <a:lnSpc>
                <a:spcPts val="1522"/>
              </a:lnSpc>
              <a:buNone/>
            </a:pPr>
            <a:r>
              <a:rPr lang="en-US" sz="1050" dirty="0">
                <a:solidFill>
                  <a:srgbClr val="2A2724"/>
                </a:solidFill>
                <a:latin typeface="Courier New"/>
                <a:ea typeface="Courier New"/>
                <a:cs typeface="Courier New"/>
                <a:sym typeface="Courier New"/>
              </a:rPr>
              <a:t xml:space="preserve">        "alt":  img.get("alt", ""),</a:t>
            </a:r>
          </a:p>
          <a:p>
            <a:pPr algn="l" indent="0" marL="0">
              <a:lnSpc>
                <a:spcPts val="1522"/>
              </a:lnSpc>
              <a:buNone/>
            </a:pPr>
            <a:r>
              <a:rPr lang="en-US" sz="1050" dirty="0">
                <a:solidFill>
                  <a:srgbClr val="2A2724"/>
                </a:solidFill>
                <a:latin typeface="Courier New"/>
                <a:ea typeface="Courier New"/>
                <a:cs typeface="Courier New"/>
                <a:sym typeface="Courier New"/>
              </a:rPr>
              <a:t xml:space="preserve">        "caption": ...,</a:t>
            </a:r>
            <a:r>
              <a:rPr lang="en-US" sz="1050" dirty="0">
                <a:solidFill>
                  <a:srgbClr val="6E6A63"/>
                </a:solidFill>
                <a:latin typeface="Courier New"/>
                <a:ea typeface="Courier New"/>
                <a:cs typeface="Courier New"/>
                <a:sym typeface="Courier New"/>
              </a:rPr>
              <a:t xml:space="preserve">  # figcaption text</a:t>
            </a:r>
          </a:p>
          <a:p>
            <a:pPr algn="l" indent="0" marL="0">
              <a:lnSpc>
                <a:spcPts val="1522"/>
              </a:lnSpc>
              <a:buNone/>
            </a:pPr>
            <a:r>
              <a:rPr lang="en-US" sz="1050" dirty="0">
                <a:solidFill>
                  <a:srgbClr val="2A2724"/>
                </a:solidFill>
                <a:latin typeface="Courier New"/>
                <a:ea typeface="Courier New"/>
                <a:cs typeface="Courier New"/>
                <a:sym typeface="Courier New"/>
              </a:rPr>
              <a:t xml:space="preserve">        "page": url,</a:t>
            </a:r>
            <a:r>
              <a:rPr lang="en-US" sz="1050" dirty="0">
                <a:solidFill>
                  <a:srgbClr val="C0402A"/>
                </a:solidFill>
                <a:latin typeface="Courier New"/>
                <a:ea typeface="Courier New"/>
                <a:cs typeface="Courier New"/>
                <a:sym typeface="Courier New"/>
              </a:rPr>
              <a:t xml:space="preserve">  # trace answers back</a:t>
            </a:r>
          </a:p>
          <a:p>
            <a:pPr algn="l" indent="0" marL="0">
              <a:lnSpc>
                <a:spcPts val="1522"/>
              </a:lnSpc>
              <a:buNone/>
            </a:pPr>
            <a:r>
              <a:rPr lang="en-US" sz="1050" dirty="0">
                <a:solidFill>
                  <a:srgbClr val="2A2724"/>
                </a:solidFill>
                <a:latin typeface="Courier New"/>
                <a:ea typeface="Courier New"/>
                <a:cs typeface="Courier New"/>
                <a:sym typeface="Courier New"/>
              </a:rPr>
              <a:t xml:space="preserve">    })</a:t>
            </a:r>
          </a:p>
        </p:txBody>
      </p:sp>
      <p:sp>
        <p:nvSpPr>
          <p:cNvPr id="205" name="Vis 205"/>
          <p:cNvSpPr/>
          <p:nvPr/>
        </p:nvSpPr>
        <p:spPr>
          <a:xfrm>
            <a:off x="6812280" y="1645920"/>
            <a:ext cx="4590288" cy="320040"/>
          </a:xfrm>
          <a:prstGeom prst="rect">
            <a:avLst/>
          </a:prstGeom>
          <a:noFill/>
          <a:ln>
            <a:noFill/>
          </a:ln>
        </p:spPr>
        <p:txBody>
          <a:bodyPr wrap="square" lIns="0" tIns="0" rIns="0" bIns="0" anchor="t">
            <a:noAutofit/>
          </a:bodyPr>
          <a:lstStyle/>
          <a:p>
            <a:pPr algn="l" indent="0" marL="0">
              <a:buNone/>
            </a:pPr>
            <a:r>
              <a:rPr lang="en-US" sz="1300" b="1" dirty="0">
                <a:solidFill>
                  <a:srgbClr val="141414"/>
                </a:solidFill>
                <a:latin typeface="Arial"/>
                <a:ea typeface="Arial"/>
                <a:cs typeface="Arial"/>
                <a:sym typeface="Arial"/>
              </a:rPr>
              <a:t>What it returned for one real page</a:t>
            </a:r>
          </a:p>
        </p:txBody>
      </p:sp>
      <p:sp>
        <p:nvSpPr>
          <p:cNvPr id="206" name="Vis 206"/>
          <p:cNvSpPr/>
          <p:nvPr/>
        </p:nvSpPr>
        <p:spPr>
          <a:xfrm>
            <a:off x="6812280" y="1956816"/>
            <a:ext cx="4590288" cy="274320"/>
          </a:xfrm>
          <a:prstGeom prst="rect">
            <a:avLst/>
          </a:prstGeom>
          <a:noFill/>
          <a:ln>
            <a:noFill/>
          </a:ln>
        </p:spPr>
        <p:txBody>
          <a:bodyPr wrap="square" lIns="0" tIns="0" rIns="0" bIns="0" anchor="t">
            <a:noAutofit/>
          </a:bodyPr>
          <a:lstStyle/>
          <a:p>
            <a:pPr algn="l" indent="0" marL="0">
              <a:buNone/>
            </a:pPr>
            <a:r>
              <a:rPr lang="en-US" sz="1000" dirty="0">
                <a:solidFill>
                  <a:srgbClr val="6E6A63"/>
                </a:solidFill>
                <a:latin typeface="Arial"/>
                <a:ea typeface="Arial"/>
                <a:cs typeface="Arial"/>
                <a:sym typeface="Arial"/>
              </a:rPr>
              <a:t>innowings.engg.hku.hk/innowing1/  ·  lab 3, Step 2</a:t>
            </a:r>
          </a:p>
        </p:txBody>
      </p:sp>
      <p:sp>
        <p:nvSpPr>
          <p:cNvPr id="207" name="Vis 207"/>
          <p:cNvSpPr/>
          <p:nvPr/>
        </p:nvSpPr>
        <p:spPr>
          <a:xfrm>
            <a:off x="6812280" y="2286000"/>
            <a:ext cx="4590288" cy="2560320"/>
          </a:xfrm>
          <a:prstGeom prst="rect">
            <a:avLst/>
          </a:prstGeom>
          <a:solidFill>
            <a:srgbClr val="2A2724"/>
          </a:solidFill>
          <a:ln>
            <a:noFill/>
          </a:ln>
        </p:spPr>
      </p:sp>
      <p:sp>
        <p:nvSpPr>
          <p:cNvPr id="208" name="Vis 208"/>
          <p:cNvSpPr/>
          <p:nvPr/>
        </p:nvSpPr>
        <p:spPr>
          <a:xfrm>
            <a:off x="6995160" y="2423160"/>
            <a:ext cx="4297680" cy="2377440"/>
          </a:xfrm>
          <a:prstGeom prst="rect">
            <a:avLst/>
          </a:prstGeom>
          <a:noFill/>
          <a:ln>
            <a:noFill/>
          </a:ln>
        </p:spPr>
        <p:txBody>
          <a:bodyPr wrap="square" lIns="0" tIns="0" rIns="0" bIns="0" anchor="t">
            <a:noAutofit/>
          </a:bodyPr>
          <a:lstStyle/>
          <a:p>
            <a:pPr algn="l" indent="0" marL="0">
              <a:lnSpc>
                <a:spcPts val="1500"/>
              </a:lnSpc>
              <a:buNone/>
            </a:pPr>
            <a:r>
              <a:rPr lang="en-US" sz="1000" b="1" dirty="0">
                <a:solidFill>
                  <a:srgbClr val="FFFFFF"/>
                </a:solidFill>
                <a:latin typeface="Courier New"/>
                <a:ea typeface="Courier New"/>
                <a:cs typeface="Courier New"/>
                <a:sym typeface="Courier New"/>
              </a:rPr>
              <a:t>7 images -&gt; data/images.json</a:t>
            </a:r>
          </a:p>
          <a:p>
            <a:pPr algn="l" indent="0" marL="0">
              <a:lnSpc>
                <a:spcPts val="1500"/>
              </a:lnSpc>
              <a:buNone/>
            </a:pPr>
            <a:r>
              <a:rPr lang="en-US" sz="500" dirty="0">
                <a:solidFill>
                  <a:srgbClr val="FFFFFF"/>
                </a:solidFill>
                <a:latin typeface="Courier New"/>
                <a:ea typeface="Courier New"/>
                <a:cs typeface="Courier New"/>
                <a:sym typeface="Courier New"/>
              </a:rPr>
              <a:t/>
            </a:r>
          </a:p>
          <a:p>
            <a:pPr algn="l" indent="0" marL="0">
              <a:lnSpc>
                <a:spcPts val="1500"/>
              </a:lnSpc>
              <a:buNone/>
            </a:pPr>
            <a:r>
              <a:rPr lang="en-US" sz="1000" dirty="0">
                <a:solidFill>
                  <a:srgbClr val="B5B0A8"/>
                </a:solidFill>
                <a:latin typeface="Courier New"/>
                <a:ea typeface="Courier New"/>
                <a:cs typeface="Courier New"/>
                <a:sym typeface="Courier New"/>
              </a:rPr>
              <a:t xml:space="preserve">alt </a:t>
            </a:r>
            <a:r>
              <a:rPr lang="en-US" sz="1000" dirty="0">
                <a:solidFill>
                  <a:srgbClr val="9FD8B5"/>
                </a:solidFill>
                <a:latin typeface="Courier New"/>
                <a:ea typeface="Courier New"/>
                <a:cs typeface="Courier New"/>
                <a:sym typeface="Courier New"/>
              </a:rPr>
              <a:t xml:space="preserve">"Innovation Wing" </a:t>
            </a:r>
            <a:r>
              <a:rPr lang="en-US" sz="1000" dirty="0">
                <a:solidFill>
                  <a:srgbClr val="D5D1CA"/>
                </a:solidFill>
                <a:latin typeface="Courier New"/>
                <a:ea typeface="Courier New"/>
                <a:cs typeface="Courier New"/>
                <a:sym typeface="Courier New"/>
              </a:rPr>
              <a:t>header logo</a:t>
            </a:r>
          </a:p>
          <a:p>
            <a:pPr algn="l" indent="0" marL="0">
              <a:lnSpc>
                <a:spcPts val="1500"/>
              </a:lnSpc>
              <a:buNone/>
            </a:pPr>
            <a:r>
              <a:rPr lang="en-US" sz="1000" dirty="0">
                <a:solidFill>
                  <a:srgbClr val="B5B0A8"/>
                </a:solidFill>
                <a:latin typeface="Courier New"/>
                <a:ea typeface="Courier New"/>
                <a:cs typeface="Courier New"/>
                <a:sym typeface="Courier New"/>
              </a:rPr>
              <a:t xml:space="preserve">alt </a:t>
            </a:r>
            <a:r>
              <a:rPr lang="en-US" sz="1000" dirty="0">
                <a:solidFill>
                  <a:srgbClr val="F2B8AA"/>
                </a:solidFill>
                <a:latin typeface="Courier New"/>
                <a:ea typeface="Courier New"/>
                <a:cs typeface="Courier New"/>
                <a:sym typeface="Courier New"/>
              </a:rPr>
              <a:t xml:space="preserve">""                </a:t>
            </a:r>
            <a:r>
              <a:rPr lang="en-US" sz="1000" dirty="0">
                <a:solidFill>
                  <a:srgbClr val="D5D1CA"/>
                </a:solidFill>
                <a:latin typeface="Courier New"/>
                <a:ea typeface="Courier New"/>
                <a:cs typeface="Courier New"/>
                <a:sym typeface="Courier New"/>
              </a:rPr>
              <a:t>Design-Build-and-Fly</a:t>
            </a:r>
          </a:p>
          <a:p>
            <a:pPr algn="l" indent="0" marL="0">
              <a:lnSpc>
                <a:spcPts val="1500"/>
              </a:lnSpc>
              <a:buNone/>
            </a:pPr>
            <a:r>
              <a:rPr lang="en-US" sz="1000" dirty="0">
                <a:solidFill>
                  <a:srgbClr val="B5B0A8"/>
                </a:solidFill>
                <a:latin typeface="Courier New"/>
                <a:ea typeface="Courier New"/>
                <a:cs typeface="Courier New"/>
                <a:sym typeface="Courier New"/>
              </a:rPr>
              <a:t xml:space="preserve">alt </a:t>
            </a:r>
            <a:r>
              <a:rPr lang="en-US" sz="1000" dirty="0">
                <a:solidFill>
                  <a:srgbClr val="F2B8AA"/>
                </a:solidFill>
                <a:latin typeface="Courier New"/>
                <a:ea typeface="Courier New"/>
                <a:cs typeface="Courier New"/>
                <a:sym typeface="Courier New"/>
              </a:rPr>
              <a:t xml:space="preserve">""                </a:t>
            </a:r>
            <a:r>
              <a:rPr lang="en-US" sz="1000" dirty="0">
                <a:solidFill>
                  <a:srgbClr val="D5D1CA"/>
                </a:solidFill>
                <a:latin typeface="Courier New"/>
                <a:ea typeface="Courier New"/>
                <a:cs typeface="Courier New"/>
                <a:sym typeface="Courier New"/>
              </a:rPr>
              <a:t>Peter-Cobb-Armenia</a:t>
            </a:r>
          </a:p>
          <a:p>
            <a:pPr algn="l" indent="0" marL="0">
              <a:lnSpc>
                <a:spcPts val="1500"/>
              </a:lnSpc>
              <a:buNone/>
            </a:pPr>
            <a:r>
              <a:rPr lang="en-US" sz="1000" dirty="0">
                <a:solidFill>
                  <a:srgbClr val="B5B0A8"/>
                </a:solidFill>
                <a:latin typeface="Courier New"/>
                <a:ea typeface="Courier New"/>
                <a:cs typeface="Courier New"/>
                <a:sym typeface="Courier New"/>
              </a:rPr>
              <a:t xml:space="preserve">alt </a:t>
            </a:r>
            <a:r>
              <a:rPr lang="en-US" sz="1000" dirty="0">
                <a:solidFill>
                  <a:srgbClr val="F2B8AA"/>
                </a:solidFill>
                <a:latin typeface="Courier New"/>
                <a:ea typeface="Courier New"/>
                <a:cs typeface="Courier New"/>
                <a:sym typeface="Courier New"/>
              </a:rPr>
              <a:t xml:space="preserve">""                </a:t>
            </a:r>
            <a:r>
              <a:rPr lang="en-US" sz="1000" dirty="0">
                <a:solidFill>
                  <a:srgbClr val="D5D1CA"/>
                </a:solidFill>
                <a:latin typeface="Courier New"/>
                <a:ea typeface="Courier New"/>
                <a:cs typeface="Courier New"/>
                <a:sym typeface="Courier New"/>
              </a:rPr>
              <a:t>HKUR5.jpg</a:t>
            </a:r>
          </a:p>
          <a:p>
            <a:pPr algn="l" indent="0" marL="0">
              <a:lnSpc>
                <a:spcPts val="1500"/>
              </a:lnSpc>
              <a:buNone/>
            </a:pPr>
            <a:r>
              <a:rPr lang="en-US" sz="1000" dirty="0">
                <a:solidFill>
                  <a:srgbClr val="B5B0A8"/>
                </a:solidFill>
                <a:latin typeface="Courier New"/>
                <a:ea typeface="Courier New"/>
                <a:cs typeface="Courier New"/>
                <a:sym typeface="Courier New"/>
              </a:rPr>
              <a:t xml:space="preserve">alt </a:t>
            </a:r>
            <a:r>
              <a:rPr lang="en-US" sz="1000" dirty="0">
                <a:solidFill>
                  <a:srgbClr val="F2B8AA"/>
                </a:solidFill>
                <a:latin typeface="Courier New"/>
                <a:ea typeface="Courier New"/>
                <a:cs typeface="Courier New"/>
                <a:sym typeface="Courier New"/>
              </a:rPr>
              <a:t xml:space="preserve">""                </a:t>
            </a:r>
            <a:r>
              <a:rPr lang="en-US" sz="1000" dirty="0">
                <a:solidFill>
                  <a:srgbClr val="D5D1CA"/>
                </a:solidFill>
                <a:latin typeface="Courier New"/>
                <a:ea typeface="Courier New"/>
                <a:cs typeface="Courier New"/>
                <a:sym typeface="Courier New"/>
              </a:rPr>
              <a:t>Robocon-2023-5.jpg</a:t>
            </a:r>
          </a:p>
          <a:p>
            <a:pPr algn="l" indent="0" marL="0">
              <a:lnSpc>
                <a:spcPts val="1500"/>
              </a:lnSpc>
              <a:buNone/>
            </a:pPr>
            <a:r>
              <a:rPr lang="en-US" sz="1000" dirty="0">
                <a:solidFill>
                  <a:srgbClr val="B5B0A8"/>
                </a:solidFill>
                <a:latin typeface="Courier New"/>
                <a:ea typeface="Courier New"/>
                <a:cs typeface="Courier New"/>
                <a:sym typeface="Courier New"/>
              </a:rPr>
              <a:t xml:space="preserve">alt </a:t>
            </a:r>
            <a:r>
              <a:rPr lang="en-US" sz="1000" dirty="0">
                <a:solidFill>
                  <a:srgbClr val="F2B8AA"/>
                </a:solidFill>
                <a:latin typeface="Courier New"/>
                <a:ea typeface="Courier New"/>
                <a:cs typeface="Courier New"/>
                <a:sym typeface="Courier New"/>
              </a:rPr>
              <a:t xml:space="preserve">""                </a:t>
            </a:r>
            <a:r>
              <a:rPr lang="en-US" sz="1000" dirty="0">
                <a:solidFill>
                  <a:srgbClr val="D5D1CA"/>
                </a:solidFill>
                <a:latin typeface="Courier New"/>
                <a:ea typeface="Courier New"/>
                <a:cs typeface="Courier New"/>
                <a:sym typeface="Courier New"/>
              </a:rPr>
              <a:t>InnoWing-Logo.jpg</a:t>
            </a:r>
          </a:p>
          <a:p>
            <a:pPr algn="l" indent="0" marL="0">
              <a:lnSpc>
                <a:spcPts val="1500"/>
              </a:lnSpc>
              <a:buNone/>
            </a:pPr>
            <a:r>
              <a:rPr lang="en-US" sz="1000" dirty="0">
                <a:solidFill>
                  <a:srgbClr val="B5B0A8"/>
                </a:solidFill>
                <a:latin typeface="Courier New"/>
                <a:ea typeface="Courier New"/>
                <a:cs typeface="Courier New"/>
                <a:sym typeface="Courier New"/>
              </a:rPr>
              <a:t xml:space="preserve">alt </a:t>
            </a:r>
            <a:r>
              <a:rPr lang="en-US" sz="1000" dirty="0">
                <a:solidFill>
                  <a:srgbClr val="F2B8AA"/>
                </a:solidFill>
                <a:latin typeface="Courier New"/>
                <a:ea typeface="Courier New"/>
                <a:cs typeface="Courier New"/>
                <a:sym typeface="Courier New"/>
              </a:rPr>
              <a:t xml:space="preserve">""                </a:t>
            </a:r>
            <a:r>
              <a:rPr lang="en-US" sz="1000" dirty="0">
                <a:solidFill>
                  <a:srgbClr val="D5D1CA"/>
                </a:solidFill>
                <a:latin typeface="Courier New"/>
                <a:ea typeface="Courier New"/>
                <a:cs typeface="Courier New"/>
                <a:sym typeface="Courier New"/>
              </a:rPr>
              <a:t>thtamBanner30-1.jpg</a:t>
            </a:r>
          </a:p>
        </p:txBody>
      </p:sp>
      <p:sp>
        <p:nvSpPr>
          <p:cNvPr id="209" name="Vis 209"/>
          <p:cNvSpPr/>
          <p:nvPr/>
        </p:nvSpPr>
        <p:spPr>
          <a:xfrm>
            <a:off x="6812280" y="4937760"/>
            <a:ext cx="4590288" cy="457200"/>
          </a:xfrm>
          <a:prstGeom prst="rect">
            <a:avLst/>
          </a:prstGeom>
          <a:noFill/>
          <a:ln>
            <a:noFill/>
          </a:ln>
        </p:spPr>
        <p:txBody>
          <a:bodyPr wrap="square" lIns="0" tIns="0" rIns="0" bIns="0" anchor="t">
            <a:noAutofit/>
          </a:bodyPr>
          <a:lstStyle/>
          <a:p>
            <a:pPr algn="l" indent="0" marL="0">
              <a:lnSpc>
                <a:spcPts val="1400"/>
              </a:lnSpc>
              <a:buNone/>
            </a:pPr>
            <a:r>
              <a:rPr lang="en-US" sz="1100" b="1" dirty="0">
                <a:solidFill>
                  <a:srgbClr val="C0402A"/>
                </a:solidFill>
                <a:latin typeface="Arial"/>
                <a:ea typeface="Arial"/>
                <a:cs typeface="Arial"/>
                <a:sym typeface="Arial"/>
              </a:rPr>
              <a:t>6 of 7 have no alt text. A vision model is the only way to their content.</a:t>
            </a:r>
          </a:p>
        </p:txBody>
      </p:sp>
      <p:sp>
        <p:nvSpPr>
          <p:cNvPr id="210" name="Vis 210"/>
          <p:cNvSpPr/>
          <p:nvPr/>
        </p:nvSpPr>
        <p:spPr>
          <a:xfrm>
            <a:off x="786384" y="5138928"/>
            <a:ext cx="274320" cy="274320"/>
          </a:xfrm>
          <a:prstGeom prst="rect">
            <a:avLst/>
          </a:prstGeom>
          <a:noFill/>
          <a:ln>
            <a:noFill/>
          </a:ln>
        </p:spPr>
        <p:txBody>
          <a:bodyPr wrap="square" lIns="0" tIns="0" rIns="0" bIns="0" anchor="t">
            <a:noAutofit/>
          </a:bodyPr>
          <a:lstStyle/>
          <a:p>
            <a:pPr algn="l" indent="0" marL="0">
              <a:buNone/>
            </a:pPr>
            <a:r>
              <a:rPr lang="en-US" sz="1300" b="1" dirty="0">
                <a:solidFill>
                  <a:srgbClr val="C0402A"/>
                </a:solidFill>
                <a:latin typeface="Arial"/>
                <a:ea typeface="Arial"/>
                <a:cs typeface="Arial"/>
                <a:sym typeface="Arial"/>
              </a:rPr>
              <a:t>—</a:t>
            </a:r>
          </a:p>
        </p:txBody>
      </p:sp>
      <p:sp>
        <p:nvSpPr>
          <p:cNvPr id="211" name="Vis 211"/>
          <p:cNvSpPr/>
          <p:nvPr/>
        </p:nvSpPr>
        <p:spPr>
          <a:xfrm>
            <a:off x="1106424" y="5138928"/>
            <a:ext cx="5486400" cy="365760"/>
          </a:xfrm>
          <a:prstGeom prst="rect">
            <a:avLst/>
          </a:prstGeom>
          <a:noFill/>
          <a:ln>
            <a:noFill/>
          </a:ln>
        </p:spPr>
        <p:txBody>
          <a:bodyPr wrap="square" lIns="0" tIns="0" rIns="0" bIns="0" anchor="t">
            <a:noAutofit/>
          </a:bodyPr>
          <a:lstStyle/>
          <a:p>
            <a:pPr algn="l" indent="0" marL="0">
              <a:buNone/>
            </a:pPr>
            <a:r>
              <a:rPr lang="en-US" sz="1200" dirty="0">
                <a:solidFill>
                  <a:srgbClr val="2A2724"/>
                </a:solidFill>
                <a:latin typeface="Arial"/>
                <a:ea typeface="Arial"/>
                <a:cs typeface="Arial"/>
                <a:sym typeface="Arial"/>
              </a:rPr>
              <a:t>Resolve src with urljoin, or relative links will not load later.</a:t>
            </a:r>
          </a:p>
        </p:txBody>
      </p:sp>
      <p:sp>
        <p:nvSpPr>
          <p:cNvPr id="212" name="Vis 212"/>
          <p:cNvSpPr/>
          <p:nvPr/>
        </p:nvSpPr>
        <p:spPr>
          <a:xfrm>
            <a:off x="786384" y="5522976"/>
            <a:ext cx="274320" cy="274320"/>
          </a:xfrm>
          <a:prstGeom prst="rect">
            <a:avLst/>
          </a:prstGeom>
          <a:noFill/>
          <a:ln>
            <a:noFill/>
          </a:ln>
        </p:spPr>
        <p:txBody>
          <a:bodyPr wrap="square" lIns="0" tIns="0" rIns="0" bIns="0" anchor="t">
            <a:noAutofit/>
          </a:bodyPr>
          <a:lstStyle/>
          <a:p>
            <a:pPr algn="l" indent="0" marL="0">
              <a:buNone/>
            </a:pPr>
            <a:r>
              <a:rPr lang="en-US" sz="1300" b="1" dirty="0">
                <a:solidFill>
                  <a:srgbClr val="C0402A"/>
                </a:solidFill>
                <a:latin typeface="Arial"/>
                <a:ea typeface="Arial"/>
                <a:cs typeface="Arial"/>
                <a:sym typeface="Arial"/>
              </a:rPr>
              <a:t>—</a:t>
            </a:r>
          </a:p>
        </p:txBody>
      </p:sp>
      <p:sp>
        <p:nvSpPr>
          <p:cNvPr id="213" name="Vis 213"/>
          <p:cNvSpPr/>
          <p:nvPr/>
        </p:nvSpPr>
        <p:spPr>
          <a:xfrm>
            <a:off x="1106424" y="5522976"/>
            <a:ext cx="5486400" cy="365760"/>
          </a:xfrm>
          <a:prstGeom prst="rect">
            <a:avLst/>
          </a:prstGeom>
          <a:noFill/>
          <a:ln>
            <a:noFill/>
          </a:ln>
        </p:spPr>
        <p:txBody>
          <a:bodyPr wrap="square" lIns="0" tIns="0" rIns="0" bIns="0" anchor="t">
            <a:noAutofit/>
          </a:bodyPr>
          <a:lstStyle/>
          <a:p>
            <a:pPr algn="l" indent="0" marL="0">
              <a:buNone/>
            </a:pPr>
            <a:r>
              <a:rPr lang="en-US" sz="1200" dirty="0">
                <a:solidFill>
                  <a:srgbClr val="2A2724"/>
                </a:solidFill>
                <a:latin typeface="Arial"/>
                <a:ea typeface="Arial"/>
                <a:cs typeface="Arial"/>
                <a:sym typeface="Arial"/>
              </a:rPr>
              <a:t>Collect images in the same pass as the text, or crawl both sites twice.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Describe, Then Index</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10</a:t>
            </a:r>
            <a:endParaRPr lang="en-US" sz="1200" dirty="0"/>
          </a:p>
        </p:txBody>
      </p:sp>
      <p:sp>
        <p:nvSpPr>
          <p:cNvPr id="201" name="Vis 201"/>
          <p:cNvSpPr/>
          <p:nvPr/>
        </p:nvSpPr>
        <p:spPr>
          <a:xfrm>
            <a:off x="786384" y="1572768"/>
            <a:ext cx="10616184" cy="365760"/>
          </a:xfrm>
          <a:prstGeom prst="rect">
            <a:avLst/>
          </a:prstGeom>
          <a:noFill/>
          <a:ln>
            <a:noFill/>
          </a:ln>
        </p:spPr>
        <p:txBody>
          <a:bodyPr wrap="square" lIns="0" tIns="0" rIns="0" bIns="0" anchor="t">
            <a:noAutofit/>
          </a:bodyPr>
          <a:lstStyle/>
          <a:p>
            <a:pPr algn="l" indent="0" marL="0">
              <a:buNone/>
            </a:pPr>
            <a:r>
              <a:rPr lang="en-US" sz="1400" dirty="0">
                <a:solidFill>
                  <a:srgbClr val="6E6A63"/>
                </a:solidFill>
                <a:latin typeface="Arial"/>
                <a:ea typeface="Arial"/>
                <a:cs typeface="Arial"/>
                <a:sym typeface="Arial"/>
              </a:rPr>
              <a:t>One route, and it reuses everything you already built. No image path at query time.</a:t>
            </a:r>
          </a:p>
        </p:txBody>
      </p:sp>
      <p:pic>
        <p:nvPicPr>
          <p:cNvPr id="202" name="Picture 202" descr="brainstorm_43.jpg"/>
          <p:cNvPicPr>
            <a:picLocks noChangeAspect="1"/>
          </p:cNvPicPr>
          <p:nvPr/>
        </p:nvPicPr>
        <p:blipFill>
          <a:blip r:embed="rId3"/>
          <a:srcRect l="0" t="0" r="0" b="0"/>
          <a:stretch>
            <a:fillRect/>
          </a:stretch>
        </p:blipFill>
        <p:spPr>
          <a:xfrm>
            <a:off x="786384" y="2148840"/>
            <a:ext cx="2377440" cy="1783080"/>
          </a:xfrm>
          <a:prstGeom prst="rect">
            <a:avLst/>
          </a:prstGeom>
        </p:spPr>
      </p:pic>
      <p:sp>
        <p:nvSpPr>
          <p:cNvPr id="203" name="Vis 203"/>
          <p:cNvSpPr/>
          <p:nvPr/>
        </p:nvSpPr>
        <p:spPr>
          <a:xfrm>
            <a:off x="786384" y="4023360"/>
            <a:ext cx="2377440" cy="548640"/>
          </a:xfrm>
          <a:prstGeom prst="rect">
            <a:avLst/>
          </a:prstGeom>
          <a:noFill/>
          <a:ln>
            <a:noFill/>
          </a:ln>
        </p:spPr>
        <p:txBody>
          <a:bodyPr wrap="square" lIns="0" tIns="0" rIns="0" bIns="0" anchor="t">
            <a:noAutofit/>
          </a:bodyPr>
          <a:lstStyle/>
          <a:p>
            <a:pPr algn="l" indent="0" marL="0">
              <a:spcAft>
                <a:spcPts val="200"/>
              </a:spcAft>
              <a:buNone/>
            </a:pPr>
            <a:r>
              <a:rPr lang="en-US" sz="1150" b="1" dirty="0">
                <a:solidFill>
                  <a:srgbClr val="141414"/>
                </a:solidFill>
                <a:latin typeface="Arial"/>
                <a:ea typeface="Arial"/>
                <a:cs typeface="Arial"/>
                <a:sym typeface="Arial"/>
              </a:rPr>
              <a:t>1. The collected image</a:t>
            </a:r>
          </a:p>
          <a:p>
            <a:pPr algn="l" indent="0" marL="0">
              <a:buNone/>
            </a:pPr>
            <a:r>
              <a:rPr lang="en-US" sz="1000" dirty="0">
                <a:solidFill>
                  <a:srgbClr val="6E6A63"/>
                </a:solidFill>
                <a:latin typeface="Arial"/>
                <a:ea typeface="Arial"/>
                <a:cs typeface="Arial"/>
                <a:sym typeface="Arial"/>
              </a:rPr>
              <a:t>src, alt, caption, page</a:t>
            </a:r>
          </a:p>
        </p:txBody>
      </p:sp>
      <p:cxnSp>
        <p:nvCxnSpPr>
          <p:cNvPr id="204" name="Line 204"/>
          <p:cNvCxnSpPr/>
          <p:nvPr/>
        </p:nvCxnSpPr>
        <p:spPr>
          <a:xfrm>
            <a:off x="3246120" y="3040380"/>
            <a:ext cx="292608" cy="0"/>
          </a:xfrm>
          <a:prstGeom prst="straightConnector1">
            <a:avLst/>
          </a:prstGeom>
          <a:ln w="19050">
            <a:solidFill>
              <a:srgbClr val="9C978E"/>
            </a:solidFill>
            <a:tailEnd type="triangle" w="med" len="med"/>
          </a:ln>
        </p:spPr>
      </p:cxnSp>
      <p:sp>
        <p:nvSpPr>
          <p:cNvPr id="205" name="Vis 205"/>
          <p:cNvSpPr/>
          <p:nvPr/>
        </p:nvSpPr>
        <p:spPr>
          <a:xfrm>
            <a:off x="3611880" y="2148840"/>
            <a:ext cx="2240280" cy="1783080"/>
          </a:xfrm>
          <a:prstGeom prst="rect">
            <a:avLst/>
          </a:prstGeom>
          <a:solidFill>
            <a:srgbClr val="2A2724"/>
          </a:solidFill>
          <a:ln>
            <a:noFill/>
          </a:ln>
        </p:spPr>
      </p:sp>
      <p:sp>
        <p:nvSpPr>
          <p:cNvPr id="206" name="Vis 206"/>
          <p:cNvSpPr/>
          <p:nvPr/>
        </p:nvSpPr>
        <p:spPr>
          <a:xfrm>
            <a:off x="3767328" y="2331720"/>
            <a:ext cx="2011680" cy="1508760"/>
          </a:xfrm>
          <a:prstGeom prst="rect">
            <a:avLst/>
          </a:prstGeom>
          <a:noFill/>
          <a:ln>
            <a:noFill/>
          </a:ln>
        </p:spPr>
        <p:txBody>
          <a:bodyPr wrap="square" lIns="0" tIns="0" rIns="0" bIns="0" anchor="t">
            <a:noAutofit/>
          </a:bodyPr>
          <a:lstStyle/>
          <a:p>
            <a:pPr algn="l" indent="0" marL="0">
              <a:buNone/>
            </a:pPr>
            <a:r>
              <a:rPr lang="en-US" sz="1050" dirty="0">
                <a:solidFill>
                  <a:srgbClr val="FFFFFF"/>
                </a:solidFill>
                <a:latin typeface="Courier New"/>
                <a:ea typeface="Courier New"/>
                <a:cs typeface="Courier New"/>
                <a:sym typeface="Courier New"/>
              </a:rPr>
              <a:t>describe_image(</a:t>
            </a:r>
          </a:p>
          <a:p>
            <a:pPr algn="l" indent="0" marL="0">
              <a:buNone/>
            </a:pPr>
            <a:r>
              <a:rPr lang="en-US" sz="1050" dirty="0">
                <a:solidFill>
                  <a:srgbClr val="FFFFFF"/>
                </a:solidFill>
                <a:latin typeface="Courier New"/>
                <a:ea typeface="Courier New"/>
                <a:cs typeface="Courier New"/>
                <a:sym typeface="Courier New"/>
              </a:rPr>
              <a:t xml:space="preserve">  path,</a:t>
            </a:r>
          </a:p>
          <a:p>
            <a:pPr algn="l" indent="0" marL="0">
              <a:buNone/>
            </a:pPr>
            <a:r>
              <a:rPr lang="en-US" sz="1050" dirty="0">
                <a:solidFill>
                  <a:srgbClr val="F2B8AA"/>
                </a:solidFill>
                <a:latin typeface="Courier New"/>
                <a:ea typeface="Courier New"/>
                <a:cs typeface="Courier New"/>
                <a:sym typeface="Courier New"/>
              </a:rPr>
              <a:t xml:space="preserve">  DESCRIPTION_PROMPT)</a:t>
            </a:r>
          </a:p>
          <a:p>
            <a:pPr algn="l" indent="0" marL="0">
              <a:buNone/>
            </a:pPr>
            <a:r>
              <a:rPr lang="en-US" sz="600" dirty="0">
                <a:solidFill>
                  <a:srgbClr val="FFFFFF"/>
                </a:solidFill>
                <a:latin typeface="Courier New"/>
                <a:ea typeface="Courier New"/>
                <a:cs typeface="Courier New"/>
                <a:sym typeface="Courier New"/>
              </a:rPr>
              <a:t/>
            </a:r>
          </a:p>
          <a:p>
            <a:pPr algn="l" indent="0" marL="0">
              <a:lnSpc>
                <a:spcPts val="1300"/>
              </a:lnSpc>
              <a:buNone/>
            </a:pPr>
            <a:r>
              <a:rPr lang="en-US" sz="1000" dirty="0">
                <a:solidFill>
                  <a:srgbClr val="D5D1CA"/>
                </a:solidFill>
                <a:latin typeface="Arial"/>
                <a:ea typeface="Arial"/>
                <a:cs typeface="Arial"/>
                <a:sym typeface="Arial"/>
              </a:rPr>
              <a:t>build/images.py, at build time, once per image</a:t>
            </a:r>
          </a:p>
        </p:txBody>
      </p:sp>
      <p:sp>
        <p:nvSpPr>
          <p:cNvPr id="207" name="Vis 207"/>
          <p:cNvSpPr/>
          <p:nvPr/>
        </p:nvSpPr>
        <p:spPr>
          <a:xfrm>
            <a:off x="3611880" y="4023360"/>
            <a:ext cx="2240280" cy="548640"/>
          </a:xfrm>
          <a:prstGeom prst="rect">
            <a:avLst/>
          </a:prstGeom>
          <a:noFill/>
          <a:ln>
            <a:noFill/>
          </a:ln>
        </p:spPr>
        <p:txBody>
          <a:bodyPr wrap="square" lIns="0" tIns="0" rIns="0" bIns="0" anchor="t">
            <a:noAutofit/>
          </a:bodyPr>
          <a:lstStyle/>
          <a:p>
            <a:pPr algn="l" indent="0" marL="0">
              <a:spcAft>
                <a:spcPts val="200"/>
              </a:spcAft>
              <a:buNone/>
            </a:pPr>
            <a:r>
              <a:rPr lang="en-US" sz="1150" b="1" dirty="0">
                <a:solidFill>
                  <a:srgbClr val="141414"/>
                </a:solidFill>
                <a:latin typeface="Arial"/>
                <a:ea typeface="Arial"/>
                <a:cs typeface="Arial"/>
                <a:sym typeface="Arial"/>
              </a:rPr>
              <a:t>2. Vision model</a:t>
            </a:r>
          </a:p>
          <a:p>
            <a:pPr algn="l" indent="0" marL="0">
              <a:buNone/>
            </a:pPr>
            <a:r>
              <a:rPr lang="en-US" sz="1000" dirty="0">
                <a:solidFill>
                  <a:srgbClr val="6E6A63"/>
                </a:solidFill>
                <a:latin typeface="Arial"/>
                <a:ea typeface="Arial"/>
                <a:cs typeface="Arial"/>
                <a:sym typeface="Arial"/>
              </a:rPr>
              <a:t>cached by image URL</a:t>
            </a:r>
          </a:p>
        </p:txBody>
      </p:sp>
      <p:cxnSp>
        <p:nvCxnSpPr>
          <p:cNvPr id="208" name="Line 208"/>
          <p:cNvCxnSpPr/>
          <p:nvPr/>
        </p:nvCxnSpPr>
        <p:spPr>
          <a:xfrm>
            <a:off x="5943600" y="3040380"/>
            <a:ext cx="292608" cy="0"/>
          </a:xfrm>
          <a:prstGeom prst="straightConnector1">
            <a:avLst/>
          </a:prstGeom>
          <a:ln w="19050">
            <a:solidFill>
              <a:srgbClr val="9C978E"/>
            </a:solidFill>
            <a:tailEnd type="triangle" w="med" len="med"/>
          </a:ln>
        </p:spPr>
      </p:cxnSp>
      <p:sp>
        <p:nvSpPr>
          <p:cNvPr id="209" name="Vis 209"/>
          <p:cNvSpPr/>
          <p:nvPr/>
        </p:nvSpPr>
        <p:spPr>
          <a:xfrm>
            <a:off x="6309360" y="2148840"/>
            <a:ext cx="2514600" cy="1783080"/>
          </a:xfrm>
          <a:prstGeom prst="rect">
            <a:avLst/>
          </a:prstGeom>
          <a:solidFill>
            <a:srgbClr val="F2EFEA"/>
          </a:solidFill>
          <a:ln>
            <a:noFill/>
          </a:ln>
        </p:spPr>
      </p:sp>
      <p:sp>
        <p:nvSpPr>
          <p:cNvPr id="210" name="Vis 210"/>
          <p:cNvSpPr/>
          <p:nvPr/>
        </p:nvSpPr>
        <p:spPr>
          <a:xfrm>
            <a:off x="6446520" y="2286000"/>
            <a:ext cx="2286000" cy="1554480"/>
          </a:xfrm>
          <a:prstGeom prst="rect">
            <a:avLst/>
          </a:prstGeom>
          <a:noFill/>
          <a:ln>
            <a:noFill/>
          </a:ln>
        </p:spPr>
        <p:txBody>
          <a:bodyPr wrap="square" lIns="0" tIns="0" rIns="0" bIns="0" anchor="t">
            <a:noAutofit/>
          </a:bodyPr>
          <a:lstStyle/>
          <a:p>
            <a:pPr algn="l" indent="0" marL="0">
              <a:lnSpc>
                <a:spcPts val="1400"/>
              </a:lnSpc>
              <a:buNone/>
            </a:pPr>
            <a:r>
              <a:rPr lang="en-US" sz="1050" dirty="0">
                <a:solidFill>
                  <a:srgbClr val="2A2724"/>
                </a:solidFill>
                <a:latin typeface="Arial"/>
                <a:ea typeface="Arial"/>
                <a:cs typeface="Arial"/>
                <a:sym typeface="Arial"/>
              </a:rPr>
              <a:t>Brainstorming area. Wall sign reads ENGINEERING INNOVATION. Low bench with 3 cushions in front of the tiered seating. Glass doors to the right.</a:t>
            </a:r>
          </a:p>
        </p:txBody>
      </p:sp>
      <p:sp>
        <p:nvSpPr>
          <p:cNvPr id="211" name="Vis 211"/>
          <p:cNvSpPr/>
          <p:nvPr/>
        </p:nvSpPr>
        <p:spPr>
          <a:xfrm>
            <a:off x="6309360" y="4023360"/>
            <a:ext cx="2514600" cy="548640"/>
          </a:xfrm>
          <a:prstGeom prst="rect">
            <a:avLst/>
          </a:prstGeom>
          <a:noFill/>
          <a:ln>
            <a:noFill/>
          </a:ln>
        </p:spPr>
        <p:txBody>
          <a:bodyPr wrap="square" lIns="0" tIns="0" rIns="0" bIns="0" anchor="t">
            <a:noAutofit/>
          </a:bodyPr>
          <a:lstStyle/>
          <a:p>
            <a:pPr algn="l" indent="0" marL="0">
              <a:spcAft>
                <a:spcPts val="200"/>
              </a:spcAft>
              <a:buNone/>
            </a:pPr>
            <a:r>
              <a:rPr lang="en-US" sz="1150" b="1" dirty="0">
                <a:solidFill>
                  <a:srgbClr val="141414"/>
                </a:solidFill>
                <a:latin typeface="Arial"/>
                <a:ea typeface="Arial"/>
                <a:cs typeface="Arial"/>
                <a:sym typeface="Arial"/>
              </a:rPr>
              <a:t>3. The description</a:t>
            </a:r>
          </a:p>
          <a:p>
            <a:pPr algn="l" indent="0" marL="0">
              <a:buNone/>
            </a:pPr>
            <a:r>
              <a:rPr lang="en-US" sz="1000" dirty="0">
                <a:solidFill>
                  <a:srgbClr val="6E6A63"/>
                </a:solidFill>
                <a:latin typeface="Arial"/>
                <a:ea typeface="Arial"/>
                <a:cs typeface="Arial"/>
                <a:sym typeface="Arial"/>
              </a:rPr>
              <a:t>an ordinary text chunk</a:t>
            </a:r>
          </a:p>
        </p:txBody>
      </p:sp>
      <p:cxnSp>
        <p:nvCxnSpPr>
          <p:cNvPr id="212" name="Line 212"/>
          <p:cNvCxnSpPr/>
          <p:nvPr/>
        </p:nvCxnSpPr>
        <p:spPr>
          <a:xfrm>
            <a:off x="8915400" y="3040380"/>
            <a:ext cx="292608" cy="0"/>
          </a:xfrm>
          <a:prstGeom prst="straightConnector1">
            <a:avLst/>
          </a:prstGeom>
          <a:ln w="19050">
            <a:solidFill>
              <a:srgbClr val="9C978E"/>
            </a:solidFill>
            <a:tailEnd type="triangle" w="med" len="med"/>
          </a:ln>
        </p:spPr>
      </p:cxnSp>
      <p:sp>
        <p:nvSpPr>
          <p:cNvPr id="213" name="Vis 213"/>
          <p:cNvSpPr/>
          <p:nvPr/>
        </p:nvSpPr>
        <p:spPr>
          <a:xfrm>
            <a:off x="9281160" y="2148840"/>
            <a:ext cx="2121408" cy="1783080"/>
          </a:xfrm>
          <a:prstGeom prst="rect">
            <a:avLst/>
          </a:prstGeom>
          <a:solidFill>
            <a:srgbClr val="F7E6E0"/>
          </a:solidFill>
          <a:ln>
            <a:noFill/>
          </a:ln>
        </p:spPr>
      </p:sp>
      <p:sp>
        <p:nvSpPr>
          <p:cNvPr id="214" name="Vis 214"/>
          <p:cNvSpPr/>
          <p:nvPr/>
        </p:nvSpPr>
        <p:spPr>
          <a:xfrm>
            <a:off x="9418320" y="2286000"/>
            <a:ext cx="1920240" cy="1600200"/>
          </a:xfrm>
          <a:prstGeom prst="rect">
            <a:avLst/>
          </a:prstGeom>
          <a:noFill/>
          <a:ln>
            <a:noFill/>
          </a:ln>
        </p:spPr>
        <p:txBody>
          <a:bodyPr wrap="square" lIns="0" tIns="0" rIns="0" bIns="0" anchor="t">
            <a:noAutofit/>
          </a:bodyPr>
          <a:lstStyle/>
          <a:p>
            <a:pPr algn="l" indent="0" marL="0">
              <a:buNone/>
            </a:pPr>
            <a:r>
              <a:rPr lang="en-US" sz="950" dirty="0">
                <a:solidFill>
                  <a:srgbClr val="6E6A63"/>
                </a:solidFill>
                <a:latin typeface="Courier New"/>
                <a:ea typeface="Courier New"/>
                <a:cs typeface="Courier New"/>
                <a:sym typeface="Courier New"/>
              </a:rPr>
              <a:t>document</a:t>
            </a:r>
          </a:p>
          <a:p>
            <a:pPr algn="l" indent="0" marL="0">
              <a:buNone/>
            </a:pPr>
            <a:r>
              <a:rPr lang="en-US" sz="1000" dirty="0">
                <a:solidFill>
                  <a:srgbClr val="2A2724"/>
                </a:solidFill>
                <a:latin typeface="Courier New"/>
                <a:ea typeface="Courier New"/>
                <a:cs typeface="Courier New"/>
                <a:sym typeface="Courier New"/>
              </a:rPr>
              <a:t>"Brainstorming</a:t>
            </a:r>
          </a:p>
          <a:p>
            <a:pPr algn="l" indent="0" marL="0">
              <a:buNone/>
            </a:pPr>
            <a:r>
              <a:rPr lang="en-US" sz="1000" dirty="0">
                <a:solidFill>
                  <a:srgbClr val="2A2724"/>
                </a:solidFill>
                <a:latin typeface="Courier New"/>
                <a:ea typeface="Courier New"/>
                <a:cs typeface="Courier New"/>
                <a:sym typeface="Courier New"/>
              </a:rPr>
              <a:t xml:space="preserve"> area. Wall..."</a:t>
            </a:r>
          </a:p>
          <a:p>
            <a:pPr algn="l" indent="0" marL="0">
              <a:buNone/>
            </a:pPr>
            <a:r>
              <a:rPr lang="en-US" sz="500" dirty="0">
                <a:solidFill>
                  <a:srgbClr val="2A2724"/>
                </a:solidFill>
                <a:latin typeface="Courier New"/>
                <a:ea typeface="Courier New"/>
                <a:cs typeface="Courier New"/>
                <a:sym typeface="Courier New"/>
              </a:rPr>
              <a:t/>
            </a:r>
          </a:p>
          <a:p>
            <a:pPr algn="l" indent="0" marL="0">
              <a:buNone/>
            </a:pPr>
            <a:r>
              <a:rPr lang="en-US" sz="1000" dirty="0">
                <a:solidFill>
                  <a:srgbClr val="C0402A"/>
                </a:solidFill>
                <a:latin typeface="Courier New"/>
                <a:ea typeface="Courier New"/>
                <a:cs typeface="Courier New"/>
                <a:sym typeface="Courier New"/>
              </a:rPr>
              <a:t>kind  "image"</a:t>
            </a:r>
          </a:p>
          <a:p>
            <a:pPr algn="l" indent="0" marL="0">
              <a:buNone/>
            </a:pPr>
            <a:r>
              <a:rPr lang="en-US" sz="1000" dirty="0">
                <a:solidFill>
                  <a:srgbClr val="2A2724"/>
                </a:solidFill>
                <a:latin typeface="Courier New"/>
                <a:ea typeface="Courier New"/>
                <a:cs typeface="Courier New"/>
                <a:sym typeface="Courier New"/>
              </a:rPr>
              <a:t>url   page</a:t>
            </a:r>
          </a:p>
          <a:p>
            <a:pPr algn="l" indent="0" marL="0">
              <a:buNone/>
            </a:pPr>
            <a:r>
              <a:rPr lang="en-US" sz="1000" dirty="0">
                <a:solidFill>
                  <a:srgbClr val="2A2724"/>
                </a:solidFill>
                <a:latin typeface="Courier New"/>
                <a:ea typeface="Courier New"/>
                <a:cs typeface="Courier New"/>
                <a:sym typeface="Courier New"/>
              </a:rPr>
              <a:t>image src</a:t>
            </a:r>
          </a:p>
        </p:txBody>
      </p:sp>
      <p:sp>
        <p:nvSpPr>
          <p:cNvPr id="215" name="Vis 215"/>
          <p:cNvSpPr/>
          <p:nvPr/>
        </p:nvSpPr>
        <p:spPr>
          <a:xfrm>
            <a:off x="9281160" y="4023360"/>
            <a:ext cx="2121408" cy="548640"/>
          </a:xfrm>
          <a:prstGeom prst="rect">
            <a:avLst/>
          </a:prstGeom>
          <a:noFill/>
          <a:ln>
            <a:noFill/>
          </a:ln>
        </p:spPr>
        <p:txBody>
          <a:bodyPr wrap="square" lIns="0" tIns="0" rIns="0" bIns="0" anchor="t">
            <a:noAutofit/>
          </a:bodyPr>
          <a:lstStyle/>
          <a:p>
            <a:pPr algn="l" indent="0" marL="0">
              <a:spcAft>
                <a:spcPts val="200"/>
              </a:spcAft>
              <a:buNone/>
            </a:pPr>
            <a:r>
              <a:rPr lang="en-US" sz="1150" b="1" dirty="0">
                <a:solidFill>
                  <a:srgbClr val="141414"/>
                </a:solidFill>
                <a:latin typeface="Arial"/>
                <a:ea typeface="Arial"/>
                <a:cs typeface="Arial"/>
                <a:sym typeface="Arial"/>
              </a:rPr>
              <a:t>4. Same store as text</a:t>
            </a:r>
          </a:p>
          <a:p>
            <a:pPr algn="l" indent="0" marL="0">
              <a:buNone/>
            </a:pPr>
            <a:r>
              <a:rPr lang="en-US" sz="1000" dirty="0">
                <a:solidFill>
                  <a:srgbClr val="6E6A63"/>
                </a:solidFill>
                <a:latin typeface="Arial"/>
                <a:ea typeface="Arial"/>
                <a:cs typeface="Arial"/>
                <a:sym typeface="Arial"/>
              </a:rPr>
              <a:t>retrieved by the same query</a:t>
            </a:r>
          </a:p>
        </p:txBody>
      </p:sp>
      <p:sp>
        <p:nvSpPr>
          <p:cNvPr id="216" name="Vis 216"/>
          <p:cNvSpPr/>
          <p:nvPr/>
        </p:nvSpPr>
        <p:spPr>
          <a:xfrm>
            <a:off x="786384" y="4754880"/>
            <a:ext cx="5193792" cy="13716"/>
          </a:xfrm>
          <a:prstGeom prst="rect">
            <a:avLst/>
          </a:prstGeom>
          <a:solidFill>
            <a:srgbClr val="141414"/>
          </a:solidFill>
          <a:ln>
            <a:noFill/>
          </a:ln>
        </p:spPr>
      </p:sp>
      <p:sp>
        <p:nvSpPr>
          <p:cNvPr id="217" name="Vis 217"/>
          <p:cNvSpPr/>
          <p:nvPr/>
        </p:nvSpPr>
        <p:spPr>
          <a:xfrm>
            <a:off x="786384" y="4846320"/>
            <a:ext cx="5193792" cy="1188720"/>
          </a:xfrm>
          <a:prstGeom prst="rect">
            <a:avLst/>
          </a:prstGeom>
          <a:noFill/>
          <a:ln>
            <a:noFill/>
          </a:ln>
        </p:spPr>
        <p:txBody>
          <a:bodyPr wrap="square" lIns="0" tIns="0" rIns="0" bIns="0" anchor="t">
            <a:noAutofit/>
          </a:bodyPr>
          <a:lstStyle/>
          <a:p>
            <a:pPr algn="l" indent="0" marL="0">
              <a:spcAft>
                <a:spcPts val="400"/>
              </a:spcAft>
              <a:buNone/>
            </a:pPr>
            <a:r>
              <a:rPr lang="en-US" sz="1300" b="1" dirty="0">
                <a:solidFill>
                  <a:srgbClr val="141414"/>
                </a:solidFill>
                <a:latin typeface="Arial"/>
                <a:ea typeface="Arial"/>
                <a:cs typeface="Arial"/>
                <a:sym typeface="Arial"/>
              </a:rPr>
              <a:t>Why this works</a:t>
            </a:r>
          </a:p>
          <a:p>
            <a:pPr algn="l" indent="0" marL="0">
              <a:lnSpc>
                <a:spcPts val="1500"/>
              </a:lnSpc>
              <a:buNone/>
            </a:pPr>
            <a:r>
              <a:rPr lang="en-US" sz="1150" dirty="0">
                <a:solidFill>
                  <a:srgbClr val="2A2724"/>
                </a:solidFill>
                <a:latin typeface="Arial"/>
                <a:ea typeface="Arial"/>
                <a:cs typeface="Arial"/>
                <a:sym typeface="Arial"/>
              </a:rPr>
              <a:t>The description is embedded like any scraped chunk, so your retriever does not need to know an image was involved.</a:t>
            </a:r>
          </a:p>
        </p:txBody>
      </p:sp>
      <p:sp>
        <p:nvSpPr>
          <p:cNvPr id="218" name="Vis 218"/>
          <p:cNvSpPr/>
          <p:nvPr/>
        </p:nvSpPr>
        <p:spPr>
          <a:xfrm>
            <a:off x="6208776" y="4754880"/>
            <a:ext cx="5193792" cy="13716"/>
          </a:xfrm>
          <a:prstGeom prst="rect">
            <a:avLst/>
          </a:prstGeom>
          <a:solidFill>
            <a:srgbClr val="C0402A"/>
          </a:solidFill>
          <a:ln>
            <a:noFill/>
          </a:ln>
        </p:spPr>
      </p:sp>
      <p:sp>
        <p:nvSpPr>
          <p:cNvPr id="219" name="Vis 219"/>
          <p:cNvSpPr/>
          <p:nvPr/>
        </p:nvSpPr>
        <p:spPr>
          <a:xfrm>
            <a:off x="6208776" y="4846320"/>
            <a:ext cx="5193792" cy="1188720"/>
          </a:xfrm>
          <a:prstGeom prst="rect">
            <a:avLst/>
          </a:prstGeom>
          <a:noFill/>
          <a:ln>
            <a:noFill/>
          </a:ln>
        </p:spPr>
        <p:txBody>
          <a:bodyPr wrap="square" lIns="0" tIns="0" rIns="0" bIns="0" anchor="t">
            <a:noAutofit/>
          </a:bodyPr>
          <a:lstStyle/>
          <a:p>
            <a:pPr algn="l" indent="0" marL="0">
              <a:spcAft>
                <a:spcPts val="400"/>
              </a:spcAft>
              <a:buNone/>
            </a:pPr>
            <a:r>
              <a:rPr lang="en-US" sz="1300" b="1" dirty="0">
                <a:solidFill>
                  <a:srgbClr val="141414"/>
                </a:solidFill>
                <a:latin typeface="Arial"/>
                <a:ea typeface="Arial"/>
                <a:cs typeface="Arial"/>
                <a:sym typeface="Arial"/>
              </a:rPr>
              <a:t>Where it happens</a:t>
            </a:r>
          </a:p>
          <a:p>
            <a:pPr algn="l" indent="0" marL="0">
              <a:lnSpc>
                <a:spcPts val="1500"/>
              </a:lnSpc>
              <a:buNone/>
            </a:pPr>
            <a:r>
              <a:rPr lang="en-US" sz="1150" dirty="0">
                <a:solidFill>
                  <a:srgbClr val="2A2724"/>
                </a:solidFill>
                <a:latin typeface="Arial"/>
                <a:ea typeface="Arial"/>
                <a:cs typeface="Arial"/>
                <a:sym typeface="Arial"/>
              </a:rPr>
              <a:t>At ingestion, never while answering. A few hundred images take under an hour once; one call at query time can blow the 30 second limit.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212"/>
        </a:solidFill>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algn="r" indent="0" marL="0">
              <a:buNone/>
            </a:pPr>
            <a:r>
              <a:rPr lang="en-US" sz="9600" b="1" dirty="0">
                <a:solidFill>
                  <a:srgbClr val="3D3934"/>
                </a:solidFill>
                <a:latin typeface="Arial" pitchFamily="34" charset="0"/>
                <a:ea typeface="Arial" pitchFamily="34" charset="-122"/>
                <a:cs typeface="Arial" pitchFamily="34" charset="-120"/>
              </a:rPr>
              <a:t>3</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indent="0" marL="0">
              <a:buNone/>
            </a:pPr>
            <a:r>
              <a:rPr lang="en-US" sz="1200" b="1" spc="260" kern="0" dirty="0">
                <a:solidFill>
                  <a:srgbClr val="C0402A"/>
                </a:solidFill>
                <a:latin typeface="Arial" pitchFamily="34" charset="0"/>
                <a:ea typeface="Arial" pitchFamily="34" charset="-122"/>
                <a:cs typeface="Arial" pitchFamily="34" charset="-120"/>
              </a:rPr>
              <a:t>BLOCK 3  ·  LAB</a:t>
            </a:r>
            <a:endParaRPr lang="en-US" sz="1200" dirty="0"/>
          </a:p>
        </p:txBody>
      </p:sp>
      <p:sp>
        <p:nvSpPr>
          <p:cNvPr id="4" name="Shape 2"/>
          <p:cNvSpPr/>
          <p:nvPr/>
        </p:nvSpPr>
        <p:spPr>
          <a:xfrm>
            <a:off x="786384" y="2377440"/>
            <a:ext cx="1371600" cy="20117"/>
          </a:xfrm>
          <a:prstGeom prst="rect">
            <a:avLst/>
          </a:prstGeom>
          <a:solidFill>
            <a:srgbClr val="C0402A"/>
          </a:solidFill>
          <a:ln/>
        </p:spPr>
      </p:sp>
      <p:sp>
        <p:nvSpPr>
          <p:cNvPr id="5" name="Text 3"/>
          <p:cNvSpPr/>
          <p:nvPr/>
        </p:nvSpPr>
        <p:spPr>
          <a:xfrm>
            <a:off x="786384" y="2596896"/>
            <a:ext cx="7024421" cy="1188720"/>
          </a:xfrm>
          <a:prstGeom prst="rect">
            <a:avLst/>
          </a:prstGeom>
          <a:noFill/>
          <a:ln/>
        </p:spPr>
        <p:txBody>
          <a:bodyPr wrap="square" lIns="0" tIns="0" rIns="0" bIns="0" rtlCol="0" anchor="ctr"/>
          <a:lstStyle/>
          <a:p>
            <a:pPr indent="0" marL="0">
              <a:lnSpc>
                <a:spcPts val="4000"/>
              </a:lnSpc>
              <a:buNone/>
            </a:pPr>
            <a:r>
              <a:rPr lang="en-US" sz="3600" b="1" dirty="0">
                <a:solidFill>
                  <a:srgbClr val="FAF8F5"/>
                </a:solidFill>
                <a:latin typeface="Arial" pitchFamily="34" charset="0"/>
                <a:ea typeface="Arial" pitchFamily="34" charset="-122"/>
                <a:cs typeface="Arial" pitchFamily="34" charset="-120"/>
              </a:rPr>
              <a:t>Descriptions &amp; Metadata</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indent="0" marL="0">
              <a:lnSpc>
                <a:spcPts val="2300"/>
              </a:lnSpc>
              <a:buNone/>
            </a:pPr>
            <a:r>
              <a:rPr lang="en-US" sz="1750" dirty="0">
                <a:solidFill>
                  <a:srgbClr val="A8A39B"/>
                </a:solidFill>
                <a:latin typeface="Arial" pitchFamily="34" charset="0"/>
                <a:ea typeface="Arial" pitchFamily="34" charset="-122"/>
                <a:cs typeface="Arial" pitchFamily="34" charset="-120"/>
              </a:rPr>
              <a:t>Turning each image into searchable text, and tagging it with metadata you can filter on later.</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algn="r" indent="0" marL="0">
              <a:buNone/>
            </a:pPr>
            <a:r>
              <a:rPr lang="en-US" sz="1450" b="1" spc="180" kern="0" dirty="0">
                <a:solidFill>
                  <a:srgbClr val="C0402A"/>
                </a:solidFill>
                <a:latin typeface="Arial" pitchFamily="34" charset="0"/>
                <a:ea typeface="Arial" pitchFamily="34" charset="-122"/>
                <a:cs typeface="Arial" pitchFamily="34" charset="-120"/>
              </a:rPr>
              <a:t>20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sp>
      <p:sp>
        <p:nvSpPr>
          <p:cNvPr id="9" name="Text 7"/>
          <p:cNvSpPr/>
          <p:nvPr/>
        </p:nvSpPr>
        <p:spPr>
          <a:xfrm>
            <a:off x="786384" y="5358384"/>
            <a:ext cx="585216" cy="292608"/>
          </a:xfrm>
          <a:prstGeom prst="rect">
            <a:avLst/>
          </a:prstGeom>
          <a:noFill/>
          <a:ln/>
        </p:spPr>
        <p:txBody>
          <a:bodyPr wrap="square" lIns="0" tIns="0" rIns="0" bIns="0" rtlCol="0" anchor="ctr"/>
          <a:lstStyle/>
          <a:p>
            <a:pPr algn="ctr" indent="0" marL="0">
              <a:buNone/>
            </a:pPr>
            <a:r>
              <a:rPr lang="en-US" sz="1100" b="1" spc="60" kern="0" dirty="0">
                <a:solidFill>
                  <a:srgbClr val="B5B0A8"/>
                </a:solidFill>
                <a:latin typeface="Arial" pitchFamily="34" charset="0"/>
                <a:ea typeface="Arial" pitchFamily="34" charset="-122"/>
                <a:cs typeface="Arial" pitchFamily="34" charset="-120"/>
              </a:rPr>
              <a:t>LV3</a:t>
            </a:r>
            <a:endParaRPr lang="en-US" sz="1100" dirty="0"/>
          </a:p>
        </p:txBody>
      </p:sp>
      <p:sp>
        <p:nvSpPr>
          <p:cNvPr id="10" name="Shape 8"/>
          <p:cNvSpPr/>
          <p:nvPr/>
        </p:nvSpPr>
        <p:spPr>
          <a:xfrm>
            <a:off x="1463040" y="5358384"/>
            <a:ext cx="585216" cy="292608"/>
          </a:xfrm>
          <a:prstGeom prst="rect">
            <a:avLst/>
          </a:prstGeom>
          <a:solidFill>
            <a:srgbClr val="121212"/>
          </a:solidFill>
          <a:ln w="9525">
            <a:solidFill>
              <a:srgbClr val="45423E"/>
            </a:solidFill>
            <a:prstDash val="solid"/>
          </a:ln>
        </p:spPr>
      </p:sp>
      <p:sp>
        <p:nvSpPr>
          <p:cNvPr id="11" name="Text 9"/>
          <p:cNvSpPr/>
          <p:nvPr/>
        </p:nvSpPr>
        <p:spPr>
          <a:xfrm>
            <a:off x="1463040" y="5358384"/>
            <a:ext cx="585216" cy="292608"/>
          </a:xfrm>
          <a:prstGeom prst="rect">
            <a:avLst/>
          </a:prstGeom>
          <a:noFill/>
          <a:ln/>
        </p:spPr>
        <p:txBody>
          <a:bodyPr wrap="square" lIns="0" tIns="0" rIns="0" bIns="0" rtlCol="0" anchor="ctr"/>
          <a:lstStyle/>
          <a:p>
            <a:pPr algn="ctr" indent="0" marL="0">
              <a:buNone/>
            </a:pPr>
            <a:r>
              <a:rPr lang="en-US" sz="1100" b="1" spc="60" kern="0" dirty="0">
                <a:solidFill>
                  <a:srgbClr val="B5B0A8"/>
                </a:solidFill>
                <a:latin typeface="Arial" pitchFamily="34" charset="0"/>
                <a:ea typeface="Arial" pitchFamily="34" charset="-122"/>
                <a:cs typeface="Arial" pitchFamily="34" charset="-120"/>
              </a:rPr>
              <a:t>LV5</a:t>
            </a:r>
            <a:endParaRPr lang="en-US" sz="1100" dirty="0"/>
          </a:p>
        </p:txBody>
      </p:sp>
      <p:sp>
        <p:nvSpPr>
          <p:cNvPr id="12" name="Text 10"/>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56534E"/>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Good Description vs Bad Description</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12</a:t>
            </a:r>
            <a:endParaRPr lang="en-US" sz="1200" dirty="0"/>
          </a:p>
        </p:txBody>
      </p:sp>
      <p:pic>
        <p:nvPicPr>
          <p:cNvPr id="201" name="Picture 201" descr="brainstorm_43.jpg"/>
          <p:cNvPicPr>
            <a:picLocks noChangeAspect="1"/>
          </p:cNvPicPr>
          <p:nvPr/>
        </p:nvPicPr>
        <p:blipFill>
          <a:blip r:embed="rId3"/>
          <a:srcRect l="0" t="77" r="0" b="77"/>
          <a:stretch>
            <a:fillRect/>
          </a:stretch>
        </p:blipFill>
        <p:spPr>
          <a:xfrm>
            <a:off x="786384" y="1645920"/>
            <a:ext cx="3931920" cy="2944368"/>
          </a:xfrm>
          <a:prstGeom prst="rect">
            <a:avLst/>
          </a:prstGeom>
        </p:spPr>
      </p:pic>
      <p:sp>
        <p:nvSpPr>
          <p:cNvPr id="202" name="Vis 202"/>
          <p:cNvSpPr/>
          <p:nvPr/>
        </p:nvSpPr>
        <p:spPr>
          <a:xfrm>
            <a:off x="786384" y="4645152"/>
            <a:ext cx="3931920" cy="274320"/>
          </a:xfrm>
          <a:prstGeom prst="rect">
            <a:avLst/>
          </a:prstGeom>
          <a:noFill/>
          <a:ln>
            <a:noFill/>
          </a:ln>
        </p:spPr>
        <p:txBody>
          <a:bodyPr wrap="square" lIns="0" tIns="0" rIns="0" bIns="0" anchor="t">
            <a:noAutofit/>
          </a:bodyPr>
          <a:lstStyle/>
          <a:p>
            <a:pPr algn="l" indent="0" marL="0">
              <a:buNone/>
            </a:pPr>
            <a:r>
              <a:rPr lang="en-US" sz="900" dirty="0">
                <a:solidFill>
                  <a:srgbClr val="9C978E"/>
                </a:solidFill>
                <a:latin typeface="Arial"/>
                <a:ea typeface="Arial"/>
                <a:cs typeface="Arial"/>
                <a:sym typeface="Arial"/>
              </a:rPr>
              <a:t>images/Brainstorming aerial.JPG  ·  lab 4</a:t>
            </a:r>
          </a:p>
        </p:txBody>
      </p:sp>
      <p:sp>
        <p:nvSpPr>
          <p:cNvPr id="203" name="Vis 203"/>
          <p:cNvSpPr/>
          <p:nvPr/>
        </p:nvSpPr>
        <p:spPr>
          <a:xfrm>
            <a:off x="4983480" y="1627632"/>
            <a:ext cx="6419088" cy="274320"/>
          </a:xfrm>
          <a:prstGeom prst="rect">
            <a:avLst/>
          </a:prstGeom>
          <a:noFill/>
          <a:ln>
            <a:noFill/>
          </a:ln>
        </p:spPr>
        <p:txBody>
          <a:bodyPr wrap="square" lIns="0" tIns="0" rIns="0" bIns="0" anchor="t">
            <a:noAutofit/>
          </a:bodyPr>
          <a:lstStyle/>
          <a:p>
            <a:pPr algn="l" indent="0" marL="0">
              <a:buNone/>
            </a:pPr>
            <a:r>
              <a:rPr lang="en-US" sz="950" b="1" dirty="0">
                <a:solidFill>
                  <a:srgbClr val="9C978E"/>
                </a:solidFill>
                <a:latin typeface="Arial"/>
                <a:ea typeface="Arial"/>
                <a:cs typeface="Arial"/>
                <a:sym typeface="Arial"/>
              </a:rPr>
              <a:t>BAD  ·  REAL MODEL OUTPUT</a:t>
            </a:r>
          </a:p>
        </p:txBody>
      </p:sp>
      <p:sp>
        <p:nvSpPr>
          <p:cNvPr id="204" name="Vis 204"/>
          <p:cNvSpPr/>
          <p:nvPr/>
        </p:nvSpPr>
        <p:spPr>
          <a:xfrm>
            <a:off x="4983480" y="1883664"/>
            <a:ext cx="6419088" cy="411480"/>
          </a:xfrm>
          <a:prstGeom prst="rect">
            <a:avLst/>
          </a:prstGeom>
          <a:noFill/>
          <a:ln>
            <a:noFill/>
          </a:ln>
        </p:spPr>
        <p:txBody>
          <a:bodyPr wrap="square" lIns="0" tIns="0" rIns="0" bIns="0" anchor="t">
            <a:noAutofit/>
          </a:bodyPr>
          <a:lstStyle/>
          <a:p>
            <a:pPr algn="l" indent="0" marL="0">
              <a:buNone/>
            </a:pPr>
            <a:r>
              <a:rPr lang="en-US" sz="1500" i="1" dirty="0">
                <a:solidFill>
                  <a:srgbClr val="6E6A63"/>
                </a:solidFill>
                <a:latin typeface="Arial"/>
                <a:ea typeface="Arial"/>
                <a:cs typeface="Arial"/>
                <a:sym typeface="Arial"/>
              </a:rPr>
              <a:t>"Bright, flexible seating for engineering innovation."</a:t>
            </a:r>
          </a:p>
        </p:txBody>
      </p:sp>
      <p:sp>
        <p:nvSpPr>
          <p:cNvPr id="205" name="Vis 205"/>
          <p:cNvSpPr/>
          <p:nvPr/>
        </p:nvSpPr>
        <p:spPr>
          <a:xfrm>
            <a:off x="4983480" y="2432304"/>
            <a:ext cx="6419088" cy="274320"/>
          </a:xfrm>
          <a:prstGeom prst="rect">
            <a:avLst/>
          </a:prstGeom>
          <a:noFill/>
          <a:ln>
            <a:noFill/>
          </a:ln>
        </p:spPr>
        <p:txBody>
          <a:bodyPr wrap="square" lIns="0" tIns="0" rIns="0" bIns="0" anchor="t">
            <a:noAutofit/>
          </a:bodyPr>
          <a:lstStyle/>
          <a:p>
            <a:pPr algn="l" indent="0" marL="0">
              <a:buNone/>
            </a:pPr>
            <a:r>
              <a:rPr lang="en-US" sz="950" b="1" dirty="0">
                <a:solidFill>
                  <a:srgbClr val="C0402A"/>
                </a:solidFill>
                <a:latin typeface="Arial"/>
                <a:ea typeface="Arial"/>
                <a:cs typeface="Arial"/>
                <a:sym typeface="Arial"/>
              </a:rPr>
              <a:t>GOOD  ·  SPECIFIC, SEARCHABLE FACTS</a:t>
            </a:r>
          </a:p>
        </p:txBody>
      </p:sp>
      <p:sp>
        <p:nvSpPr>
          <p:cNvPr id="206" name="Vis 206"/>
          <p:cNvSpPr/>
          <p:nvPr/>
        </p:nvSpPr>
        <p:spPr>
          <a:xfrm>
            <a:off x="4983480" y="2688336"/>
            <a:ext cx="6419088" cy="1024128"/>
          </a:xfrm>
          <a:prstGeom prst="rect">
            <a:avLst/>
          </a:prstGeom>
          <a:solidFill>
            <a:srgbClr val="F7E6E0"/>
          </a:solidFill>
          <a:ln>
            <a:noFill/>
          </a:ln>
        </p:spPr>
      </p:sp>
      <p:sp>
        <p:nvSpPr>
          <p:cNvPr id="207" name="Vis 207"/>
          <p:cNvSpPr/>
          <p:nvPr/>
        </p:nvSpPr>
        <p:spPr>
          <a:xfrm>
            <a:off x="5166360" y="2761488"/>
            <a:ext cx="6053328" cy="914400"/>
          </a:xfrm>
          <a:prstGeom prst="rect">
            <a:avLst/>
          </a:prstGeom>
          <a:noFill/>
          <a:ln>
            <a:noFill/>
          </a:ln>
        </p:spPr>
        <p:txBody>
          <a:bodyPr wrap="square" lIns="0" tIns="0" rIns="0" bIns="0" anchor="t">
            <a:noAutofit/>
          </a:bodyPr>
          <a:lstStyle/>
          <a:p>
            <a:pPr algn="l" indent="0" marL="0">
              <a:lnSpc>
                <a:spcPts val="1550"/>
              </a:lnSpc>
              <a:buNone/>
            </a:pPr>
            <a:r>
              <a:rPr lang="en-US" sz="1150" dirty="0">
                <a:solidFill>
                  <a:srgbClr val="141414"/>
                </a:solidFill>
                <a:latin typeface="Arial"/>
                <a:ea typeface="Arial"/>
                <a:cs typeface="Arial"/>
                <a:sym typeface="Arial"/>
              </a:rPr>
              <a:t>"Brainstorming area. Wall sign above the tiered seating reads ENGINEERING INNOVATION. Long low bench in front of the seating with 3 cushions (teal, blue, teal). Rows of red, orange and yellow cube stools to the left. Glass doors directly to the right, with a NOTICE sign."</a:t>
            </a:r>
          </a:p>
        </p:txBody>
      </p:sp>
      <p:sp>
        <p:nvSpPr>
          <p:cNvPr id="208" name="Vis 208"/>
          <p:cNvSpPr/>
          <p:nvPr/>
        </p:nvSpPr>
        <p:spPr>
          <a:xfrm>
            <a:off x="4983480" y="3931920"/>
            <a:ext cx="4206240" cy="274320"/>
          </a:xfrm>
          <a:prstGeom prst="rect">
            <a:avLst/>
          </a:prstGeom>
          <a:noFill/>
          <a:ln>
            <a:noFill/>
          </a:ln>
        </p:spPr>
        <p:txBody>
          <a:bodyPr wrap="square" lIns="0" tIns="0" rIns="0" bIns="0" anchor="t">
            <a:noAutofit/>
          </a:bodyPr>
          <a:lstStyle/>
          <a:p>
            <a:pPr algn="l" indent="0" marL="0">
              <a:buNone/>
            </a:pPr>
            <a:r>
              <a:rPr lang="en-US" sz="950" b="1" dirty="0">
                <a:solidFill>
                  <a:srgbClr val="9C978E"/>
                </a:solidFill>
                <a:latin typeface="Arial"/>
                <a:ea typeface="Arial"/>
                <a:cs typeface="Arial"/>
                <a:sym typeface="Arial"/>
              </a:rPr>
              <a:t>Question</a:t>
            </a:r>
          </a:p>
        </p:txBody>
      </p:sp>
      <p:sp>
        <p:nvSpPr>
          <p:cNvPr id="209" name="Vis 209"/>
          <p:cNvSpPr/>
          <p:nvPr/>
        </p:nvSpPr>
        <p:spPr>
          <a:xfrm>
            <a:off x="9281160" y="3931920"/>
            <a:ext cx="914400" cy="274320"/>
          </a:xfrm>
          <a:prstGeom prst="rect">
            <a:avLst/>
          </a:prstGeom>
          <a:noFill/>
          <a:ln>
            <a:noFill/>
          </a:ln>
        </p:spPr>
        <p:txBody>
          <a:bodyPr wrap="square" lIns="0" tIns="0" rIns="0" bIns="0" anchor="t">
            <a:noAutofit/>
          </a:bodyPr>
          <a:lstStyle/>
          <a:p>
            <a:pPr algn="ctr" indent="0" marL="0">
              <a:buNone/>
            </a:pPr>
            <a:r>
              <a:rPr lang="en-US" sz="950" b="1" dirty="0">
                <a:solidFill>
                  <a:srgbClr val="9C978E"/>
                </a:solidFill>
                <a:latin typeface="Arial"/>
                <a:ea typeface="Arial"/>
                <a:cs typeface="Arial"/>
                <a:sym typeface="Arial"/>
              </a:rPr>
              <a:t>BAD</a:t>
            </a:r>
          </a:p>
        </p:txBody>
      </p:sp>
      <p:sp>
        <p:nvSpPr>
          <p:cNvPr id="210" name="Vis 210"/>
          <p:cNvSpPr/>
          <p:nvPr/>
        </p:nvSpPr>
        <p:spPr>
          <a:xfrm>
            <a:off x="10287000" y="3931920"/>
            <a:ext cx="1097280" cy="274320"/>
          </a:xfrm>
          <a:prstGeom prst="rect">
            <a:avLst/>
          </a:prstGeom>
          <a:noFill/>
          <a:ln>
            <a:noFill/>
          </a:ln>
        </p:spPr>
        <p:txBody>
          <a:bodyPr wrap="square" lIns="0" tIns="0" rIns="0" bIns="0" anchor="t">
            <a:noAutofit/>
          </a:bodyPr>
          <a:lstStyle/>
          <a:p>
            <a:pPr algn="ctr" indent="0" marL="0">
              <a:buNone/>
            </a:pPr>
            <a:r>
              <a:rPr lang="en-US" sz="950" b="1" dirty="0">
                <a:solidFill>
                  <a:srgbClr val="9C978E"/>
                </a:solidFill>
                <a:latin typeface="Arial"/>
                <a:ea typeface="Arial"/>
                <a:cs typeface="Arial"/>
                <a:sym typeface="Arial"/>
              </a:rPr>
              <a:t>GOOD</a:t>
            </a:r>
          </a:p>
        </p:txBody>
      </p:sp>
      <p:sp>
        <p:nvSpPr>
          <p:cNvPr id="211" name="Vis 211"/>
          <p:cNvSpPr/>
          <p:nvPr/>
        </p:nvSpPr>
        <p:spPr>
          <a:xfrm>
            <a:off x="4983480" y="4206240"/>
            <a:ext cx="6419088" cy="9144"/>
          </a:xfrm>
          <a:prstGeom prst="rect">
            <a:avLst/>
          </a:prstGeom>
          <a:solidFill>
            <a:srgbClr val="D5D1CA"/>
          </a:solidFill>
          <a:ln>
            <a:noFill/>
          </a:ln>
        </p:spPr>
      </p:sp>
      <p:sp>
        <p:nvSpPr>
          <p:cNvPr id="212" name="Vis 212"/>
          <p:cNvSpPr/>
          <p:nvPr/>
        </p:nvSpPr>
        <p:spPr>
          <a:xfrm>
            <a:off x="4983480" y="4242816"/>
            <a:ext cx="4206240" cy="329184"/>
          </a:xfrm>
          <a:prstGeom prst="rect">
            <a:avLst/>
          </a:prstGeom>
          <a:noFill/>
          <a:ln>
            <a:noFill/>
          </a:ln>
        </p:spPr>
        <p:txBody>
          <a:bodyPr wrap="square" lIns="0" tIns="0" rIns="0" bIns="0" anchor="ctr">
            <a:noAutofit/>
          </a:bodyPr>
          <a:lstStyle/>
          <a:p>
            <a:pPr algn="l" indent="0" marL="0">
              <a:buNone/>
            </a:pPr>
            <a:r>
              <a:rPr lang="en-US" sz="1150" dirty="0">
                <a:solidFill>
                  <a:srgbClr val="2A2724"/>
                </a:solidFill>
                <a:latin typeface="Arial"/>
                <a:ea typeface="Arial"/>
                <a:cs typeface="Arial"/>
                <a:sym typeface="Arial"/>
              </a:rPr>
              <a:t>How many cushions are on the long low bench?</a:t>
            </a:r>
          </a:p>
        </p:txBody>
      </p:sp>
      <p:sp>
        <p:nvSpPr>
          <p:cNvPr id="213" name="Vis 213"/>
          <p:cNvSpPr/>
          <p:nvPr/>
        </p:nvSpPr>
        <p:spPr>
          <a:xfrm>
            <a:off x="9281160" y="4242816"/>
            <a:ext cx="914400" cy="329184"/>
          </a:xfrm>
          <a:prstGeom prst="rect">
            <a:avLst/>
          </a:prstGeom>
          <a:noFill/>
          <a:ln>
            <a:noFill/>
          </a:ln>
        </p:spPr>
        <p:txBody>
          <a:bodyPr wrap="square" lIns="0" tIns="0" rIns="0" bIns="0" anchor="ctr">
            <a:noAutofit/>
          </a:bodyPr>
          <a:lstStyle/>
          <a:p>
            <a:pPr algn="ctr" indent="0" marL="0">
              <a:buNone/>
            </a:pPr>
            <a:r>
              <a:rPr lang="en-US" sz="1150" b="1" dirty="0">
                <a:solidFill>
                  <a:srgbClr val="C0402A"/>
                </a:solidFill>
                <a:latin typeface="Segoe UI Symbol"/>
                <a:ea typeface="Segoe UI Symbol"/>
                <a:cs typeface="Segoe UI Symbol"/>
                <a:sym typeface="Segoe UI Symbol"/>
              </a:rPr>
              <a:t>✗</a:t>
            </a:r>
          </a:p>
        </p:txBody>
      </p:sp>
      <p:sp>
        <p:nvSpPr>
          <p:cNvPr id="214" name="Vis 214"/>
          <p:cNvSpPr/>
          <p:nvPr/>
        </p:nvSpPr>
        <p:spPr>
          <a:xfrm>
            <a:off x="10287000" y="4242816"/>
            <a:ext cx="1097280" cy="329184"/>
          </a:xfrm>
          <a:prstGeom prst="rect">
            <a:avLst/>
          </a:prstGeom>
          <a:noFill/>
          <a:ln>
            <a:noFill/>
          </a:ln>
        </p:spPr>
        <p:txBody>
          <a:bodyPr wrap="square" lIns="0" tIns="0" rIns="0" bIns="0" anchor="ctr">
            <a:noAutofit/>
          </a:bodyPr>
          <a:lstStyle/>
          <a:p>
            <a:pPr algn="ctr" indent="0" marL="0">
              <a:buNone/>
            </a:pPr>
            <a:r>
              <a:rPr lang="en-US" sz="1150" b="1" dirty="0">
                <a:solidFill>
                  <a:srgbClr val="2F7D5B"/>
                </a:solidFill>
                <a:latin typeface="Segoe UI Symbol"/>
                <a:ea typeface="Segoe UI Symbol"/>
                <a:cs typeface="Segoe UI Symbol"/>
                <a:sym typeface="Segoe UI Symbol"/>
              </a:rPr>
              <a:t>✓</a:t>
            </a:r>
            <a:r>
              <a:rPr lang="en-US" sz="1100" b="1" dirty="0">
                <a:solidFill>
                  <a:srgbClr val="2F7D5B"/>
                </a:solidFill>
                <a:latin typeface="Arial"/>
                <a:ea typeface="Arial"/>
                <a:cs typeface="Arial"/>
                <a:sym typeface="Arial"/>
              </a:rPr>
              <a:t xml:space="preserve">  3</a:t>
            </a:r>
          </a:p>
        </p:txBody>
      </p:sp>
      <p:sp>
        <p:nvSpPr>
          <p:cNvPr id="215" name="Vis 215"/>
          <p:cNvSpPr/>
          <p:nvPr/>
        </p:nvSpPr>
        <p:spPr>
          <a:xfrm>
            <a:off x="4983480" y="4572000"/>
            <a:ext cx="6419088" cy="9144"/>
          </a:xfrm>
          <a:prstGeom prst="rect">
            <a:avLst/>
          </a:prstGeom>
          <a:solidFill>
            <a:srgbClr val="D5D1CA"/>
          </a:solidFill>
          <a:ln>
            <a:noFill/>
          </a:ln>
        </p:spPr>
      </p:sp>
      <p:sp>
        <p:nvSpPr>
          <p:cNvPr id="216" name="Vis 216"/>
          <p:cNvSpPr/>
          <p:nvPr/>
        </p:nvSpPr>
        <p:spPr>
          <a:xfrm>
            <a:off x="4983480" y="4608576"/>
            <a:ext cx="4206240" cy="329184"/>
          </a:xfrm>
          <a:prstGeom prst="rect">
            <a:avLst/>
          </a:prstGeom>
          <a:noFill/>
          <a:ln>
            <a:noFill/>
          </a:ln>
        </p:spPr>
        <p:txBody>
          <a:bodyPr wrap="square" lIns="0" tIns="0" rIns="0" bIns="0" anchor="ctr">
            <a:noAutofit/>
          </a:bodyPr>
          <a:lstStyle/>
          <a:p>
            <a:pPr algn="l" indent="0" marL="0">
              <a:buNone/>
            </a:pPr>
            <a:r>
              <a:rPr lang="en-US" sz="1150" dirty="0">
                <a:solidFill>
                  <a:srgbClr val="2A2724"/>
                </a:solidFill>
                <a:latin typeface="Arial"/>
                <a:ea typeface="Arial"/>
                <a:cs typeface="Arial"/>
                <a:sym typeface="Arial"/>
              </a:rPr>
              <a:t>What is directly to the right of the tiered seating?</a:t>
            </a:r>
          </a:p>
        </p:txBody>
      </p:sp>
      <p:sp>
        <p:nvSpPr>
          <p:cNvPr id="217" name="Vis 217"/>
          <p:cNvSpPr/>
          <p:nvPr/>
        </p:nvSpPr>
        <p:spPr>
          <a:xfrm>
            <a:off x="9281160" y="4608576"/>
            <a:ext cx="914400" cy="329184"/>
          </a:xfrm>
          <a:prstGeom prst="rect">
            <a:avLst/>
          </a:prstGeom>
          <a:noFill/>
          <a:ln>
            <a:noFill/>
          </a:ln>
        </p:spPr>
        <p:txBody>
          <a:bodyPr wrap="square" lIns="0" tIns="0" rIns="0" bIns="0" anchor="ctr">
            <a:noAutofit/>
          </a:bodyPr>
          <a:lstStyle/>
          <a:p>
            <a:pPr algn="ctr" indent="0" marL="0">
              <a:buNone/>
            </a:pPr>
            <a:r>
              <a:rPr lang="en-US" sz="1150" b="1" dirty="0">
                <a:solidFill>
                  <a:srgbClr val="C0402A"/>
                </a:solidFill>
                <a:latin typeface="Segoe UI Symbol"/>
                <a:ea typeface="Segoe UI Symbol"/>
                <a:cs typeface="Segoe UI Symbol"/>
                <a:sym typeface="Segoe UI Symbol"/>
              </a:rPr>
              <a:t>✗</a:t>
            </a:r>
          </a:p>
        </p:txBody>
      </p:sp>
      <p:sp>
        <p:nvSpPr>
          <p:cNvPr id="218" name="Vis 218"/>
          <p:cNvSpPr/>
          <p:nvPr/>
        </p:nvSpPr>
        <p:spPr>
          <a:xfrm>
            <a:off x="10287000" y="4608576"/>
            <a:ext cx="1097280" cy="329184"/>
          </a:xfrm>
          <a:prstGeom prst="rect">
            <a:avLst/>
          </a:prstGeom>
          <a:noFill/>
          <a:ln>
            <a:noFill/>
          </a:ln>
        </p:spPr>
        <p:txBody>
          <a:bodyPr wrap="square" lIns="0" tIns="0" rIns="0" bIns="0" anchor="ctr">
            <a:noAutofit/>
          </a:bodyPr>
          <a:lstStyle/>
          <a:p>
            <a:pPr algn="ctr" indent="0" marL="0">
              <a:buNone/>
            </a:pPr>
            <a:r>
              <a:rPr lang="en-US" sz="1150" b="1" dirty="0">
                <a:solidFill>
                  <a:srgbClr val="2F7D5B"/>
                </a:solidFill>
                <a:latin typeface="Segoe UI Symbol"/>
                <a:ea typeface="Segoe UI Symbol"/>
                <a:cs typeface="Segoe UI Symbol"/>
                <a:sym typeface="Segoe UI Symbol"/>
              </a:rPr>
              <a:t>✓</a:t>
            </a:r>
            <a:r>
              <a:rPr lang="en-US" sz="1100" b="1" dirty="0">
                <a:solidFill>
                  <a:srgbClr val="2F7D5B"/>
                </a:solidFill>
                <a:latin typeface="Arial"/>
                <a:ea typeface="Arial"/>
                <a:cs typeface="Arial"/>
                <a:sym typeface="Arial"/>
              </a:rPr>
              <a:t xml:space="preserve">  glass doors</a:t>
            </a:r>
          </a:p>
        </p:txBody>
      </p:sp>
      <p:sp>
        <p:nvSpPr>
          <p:cNvPr id="219" name="Vis 219"/>
          <p:cNvSpPr/>
          <p:nvPr/>
        </p:nvSpPr>
        <p:spPr>
          <a:xfrm>
            <a:off x="4983480" y="4937760"/>
            <a:ext cx="6419088" cy="9144"/>
          </a:xfrm>
          <a:prstGeom prst="rect">
            <a:avLst/>
          </a:prstGeom>
          <a:solidFill>
            <a:srgbClr val="D5D1CA"/>
          </a:solidFill>
          <a:ln>
            <a:noFill/>
          </a:ln>
        </p:spPr>
      </p:sp>
      <p:sp>
        <p:nvSpPr>
          <p:cNvPr id="220" name="Vis 220"/>
          <p:cNvSpPr/>
          <p:nvPr/>
        </p:nvSpPr>
        <p:spPr>
          <a:xfrm>
            <a:off x="4983480" y="4974336"/>
            <a:ext cx="4206240" cy="329184"/>
          </a:xfrm>
          <a:prstGeom prst="rect">
            <a:avLst/>
          </a:prstGeom>
          <a:noFill/>
          <a:ln>
            <a:noFill/>
          </a:ln>
        </p:spPr>
        <p:txBody>
          <a:bodyPr wrap="square" lIns="0" tIns="0" rIns="0" bIns="0" anchor="ctr">
            <a:noAutofit/>
          </a:bodyPr>
          <a:lstStyle/>
          <a:p>
            <a:pPr algn="l" indent="0" marL="0">
              <a:buNone/>
            </a:pPr>
            <a:r>
              <a:rPr lang="en-US" sz="1150" dirty="0">
                <a:solidFill>
                  <a:srgbClr val="2A2724"/>
                </a:solidFill>
                <a:latin typeface="Arial"/>
                <a:ea typeface="Arial"/>
                <a:cs typeface="Arial"/>
                <a:sym typeface="Arial"/>
              </a:rPr>
              <a:t>What words are on the wall?</a:t>
            </a:r>
          </a:p>
        </p:txBody>
      </p:sp>
      <p:sp>
        <p:nvSpPr>
          <p:cNvPr id="221" name="Vis 221"/>
          <p:cNvSpPr/>
          <p:nvPr/>
        </p:nvSpPr>
        <p:spPr>
          <a:xfrm>
            <a:off x="9281160" y="4974336"/>
            <a:ext cx="914400" cy="329184"/>
          </a:xfrm>
          <a:prstGeom prst="rect">
            <a:avLst/>
          </a:prstGeom>
          <a:noFill/>
          <a:ln>
            <a:noFill/>
          </a:ln>
        </p:spPr>
        <p:txBody>
          <a:bodyPr wrap="square" lIns="0" tIns="0" rIns="0" bIns="0" anchor="ctr">
            <a:noAutofit/>
          </a:bodyPr>
          <a:lstStyle/>
          <a:p>
            <a:pPr algn="ctr" indent="0" marL="0">
              <a:buNone/>
            </a:pPr>
            <a:r>
              <a:rPr lang="en-US" sz="1150" b="1" dirty="0">
                <a:solidFill>
                  <a:srgbClr val="6E6A63"/>
                </a:solidFill>
                <a:latin typeface="Arial"/>
                <a:ea typeface="Arial"/>
                <a:cs typeface="Arial"/>
                <a:sym typeface="Arial"/>
              </a:rPr>
              <a:t>by luck</a:t>
            </a:r>
          </a:p>
        </p:txBody>
      </p:sp>
      <p:sp>
        <p:nvSpPr>
          <p:cNvPr id="222" name="Vis 222"/>
          <p:cNvSpPr/>
          <p:nvPr/>
        </p:nvSpPr>
        <p:spPr>
          <a:xfrm>
            <a:off x="10287000" y="4974336"/>
            <a:ext cx="1097280" cy="329184"/>
          </a:xfrm>
          <a:prstGeom prst="rect">
            <a:avLst/>
          </a:prstGeom>
          <a:noFill/>
          <a:ln>
            <a:noFill/>
          </a:ln>
        </p:spPr>
        <p:txBody>
          <a:bodyPr wrap="square" lIns="0" tIns="0" rIns="0" bIns="0" anchor="ctr">
            <a:noAutofit/>
          </a:bodyPr>
          <a:lstStyle/>
          <a:p>
            <a:pPr algn="ctr" indent="0" marL="0">
              <a:buNone/>
            </a:pPr>
            <a:r>
              <a:rPr lang="en-US" sz="1150" b="1" dirty="0">
                <a:solidFill>
                  <a:srgbClr val="2F7D5B"/>
                </a:solidFill>
                <a:latin typeface="Segoe UI Symbol"/>
                <a:ea typeface="Segoe UI Symbol"/>
                <a:cs typeface="Segoe UI Symbol"/>
                <a:sym typeface="Segoe UI Symbol"/>
              </a:rPr>
              <a:t>✓</a:t>
            </a:r>
            <a:r>
              <a:rPr lang="en-US" sz="1100" b="1" dirty="0">
                <a:solidFill>
                  <a:srgbClr val="2F7D5B"/>
                </a:solidFill>
                <a:latin typeface="Arial"/>
                <a:ea typeface="Arial"/>
                <a:cs typeface="Arial"/>
                <a:sym typeface="Arial"/>
              </a:rPr>
              <a:t xml:space="preserve">  exact</a:t>
            </a:r>
          </a:p>
        </p:txBody>
      </p:sp>
      <p:sp>
        <p:nvSpPr>
          <p:cNvPr id="223" name="Vis 223"/>
          <p:cNvSpPr/>
          <p:nvPr/>
        </p:nvSpPr>
        <p:spPr>
          <a:xfrm>
            <a:off x="786384" y="5669280"/>
            <a:ext cx="10616184" cy="411480"/>
          </a:xfrm>
          <a:prstGeom prst="rect">
            <a:avLst/>
          </a:prstGeom>
          <a:noFill/>
          <a:ln>
            <a:noFill/>
          </a:ln>
        </p:spPr>
        <p:txBody>
          <a:bodyPr wrap="square" lIns="0" tIns="0" rIns="0" bIns="0" anchor="t">
            <a:noAutofit/>
          </a:bodyPr>
          <a:lstStyle/>
          <a:p>
            <a:pPr algn="l" indent="0" marL="0">
              <a:buNone/>
            </a:pPr>
            <a:r>
              <a:rPr lang="en-US" sz="1250" b="1" dirty="0">
                <a:solidFill>
                  <a:srgbClr val="141414"/>
                </a:solidFill>
                <a:latin typeface="Arial"/>
                <a:ea typeface="Arial"/>
                <a:cs typeface="Arial"/>
                <a:sym typeface="Arial"/>
              </a:rPr>
              <a:t xml:space="preserve">Whatever the description does not mention cannot be retrieved. </a:t>
            </a:r>
            <a:r>
              <a:rPr lang="en-US" sz="1150" dirty="0">
                <a:solidFill>
                  <a:srgbClr val="6E6A63"/>
                </a:solidFill>
                <a:latin typeface="Arial"/>
                <a:ea typeface="Arial"/>
                <a:cs typeface="Arial"/>
                <a:sym typeface="Arial"/>
              </a:rPr>
              <a:t>The first two questions come from lab 4; the wall question is Lv5 in the dev 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The Description Schema</a:t>
            </a:r>
            <a:endParaRPr lang="en-US" sz="2900" dirty="0"/>
          </a:p>
        </p:txBody>
      </p:sp>
      <p:sp>
        <p:nvSpPr>
          <p:cNvPr id="4" name="Shape 2"/>
          <p:cNvSpPr/>
          <p:nvPr/>
        </p:nvSpPr>
        <p:spPr>
          <a:xfrm>
            <a:off x="10198303" y="877824"/>
            <a:ext cx="585216" cy="292608"/>
          </a:xfrm>
          <a:prstGeom prst="rect">
            <a:avLst/>
          </a:prstGeom>
          <a:solidFill>
            <a:srgbClr val="FAF8F5"/>
          </a:solidFill>
          <a:ln w="9525">
            <a:solidFill>
              <a:srgbClr val="D5D1CA"/>
            </a:solidFill>
            <a:prstDash val="solid"/>
          </a:ln>
        </p:spPr>
      </p:sp>
      <p:sp>
        <p:nvSpPr>
          <p:cNvPr id="5" name="Text 3"/>
          <p:cNvSpPr/>
          <p:nvPr/>
        </p:nvSpPr>
        <p:spPr>
          <a:xfrm>
            <a:off x="10198303"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10874959" y="877824"/>
            <a:ext cx="585216" cy="292608"/>
          </a:xfrm>
          <a:prstGeom prst="rect">
            <a:avLst/>
          </a:prstGeom>
          <a:solidFill>
            <a:srgbClr val="FAF8F5"/>
          </a:solidFill>
          <a:ln w="9525">
            <a:solidFill>
              <a:srgbClr val="D5D1CA"/>
            </a:solidFill>
            <a:prstDash val="solid"/>
          </a:ln>
        </p:spPr>
      </p:sp>
      <p:sp>
        <p:nvSpPr>
          <p:cNvPr id="7" name="Text 5"/>
          <p:cNvSpPr/>
          <p:nvPr/>
        </p:nvSpPr>
        <p:spPr>
          <a:xfrm>
            <a:off x="10874959"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141414"/>
                </a:solidFill>
                <a:latin typeface="Arial" pitchFamily="34" charset="0"/>
                <a:ea typeface="Arial" pitchFamily="34" charset="-122"/>
                <a:cs typeface="Arial" pitchFamily="34" charset="-120"/>
              </a:rPr>
              <a:t>LV5</a:t>
            </a:r>
            <a:endParaRPr lang="en-US" sz="1100" dirty="0"/>
          </a:p>
        </p:txBody>
      </p:sp>
      <p:sp>
        <p:nvSpPr>
          <p:cNvPr id="8" name="Shape 6"/>
          <p:cNvSpPr/>
          <p:nvPr/>
        </p:nvSpPr>
        <p:spPr>
          <a:xfrm>
            <a:off x="786384" y="1426464"/>
            <a:ext cx="10618927" cy="10973"/>
          </a:xfrm>
          <a:prstGeom prst="rect">
            <a:avLst/>
          </a:prstGeom>
          <a:solidFill>
            <a:srgbClr val="D5D1CA"/>
          </a:solidFill>
          <a:ln/>
        </p:spPr>
      </p:sp>
      <p:sp>
        <p:nvSpPr>
          <p:cNvPr id="10" name="Text 8"/>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13</a:t>
            </a:r>
            <a:endParaRPr lang="en-US" sz="1200" dirty="0"/>
          </a:p>
        </p:txBody>
      </p:sp>
      <p:pic>
        <p:nvPicPr>
          <p:cNvPr id="201" name="Picture 201" descr="openA_43.jpg"/>
          <p:cNvPicPr>
            <a:picLocks noChangeAspect="1"/>
          </p:cNvPicPr>
          <p:nvPr/>
        </p:nvPicPr>
        <p:blipFill>
          <a:blip r:embed="rId3"/>
          <a:srcRect l="0" t="0" r="0" b="0"/>
          <a:stretch>
            <a:fillRect/>
          </a:stretch>
        </p:blipFill>
        <p:spPr>
          <a:xfrm>
            <a:off x="786384" y="1645920"/>
            <a:ext cx="5577840" cy="4183380"/>
          </a:xfrm>
          <a:prstGeom prst="rect">
            <a:avLst/>
          </a:prstGeom>
        </p:spPr>
      </p:pic>
      <p:sp>
        <p:nvSpPr>
          <p:cNvPr id="202" name="Vis 202"/>
          <p:cNvSpPr/>
          <p:nvPr/>
        </p:nvSpPr>
        <p:spPr>
          <a:xfrm>
            <a:off x="1250696" y="2575052"/>
            <a:ext cx="310896" cy="310896"/>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200" b="1" dirty="0">
                <a:solidFill>
                  <a:srgbClr val="FFFFFF"/>
                </a:solidFill>
                <a:latin typeface="Arial"/>
                <a:ea typeface="Arial"/>
                <a:cs typeface="Arial"/>
                <a:sym typeface="Arial"/>
              </a:rPr>
              <a:t>1</a:t>
            </a:r>
          </a:p>
        </p:txBody>
      </p:sp>
      <p:sp>
        <p:nvSpPr>
          <p:cNvPr id="203" name="Vis 203"/>
          <p:cNvSpPr/>
          <p:nvPr/>
        </p:nvSpPr>
        <p:spPr>
          <a:xfrm>
            <a:off x="1250696" y="3039872"/>
            <a:ext cx="310896" cy="310896"/>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200" b="1" dirty="0">
                <a:solidFill>
                  <a:srgbClr val="FFFFFF"/>
                </a:solidFill>
                <a:latin typeface="Arial"/>
                <a:ea typeface="Arial"/>
                <a:cs typeface="Arial"/>
                <a:sym typeface="Arial"/>
              </a:rPr>
              <a:t>3</a:t>
            </a:r>
          </a:p>
        </p:txBody>
      </p:sp>
      <p:sp>
        <p:nvSpPr>
          <p:cNvPr id="204" name="Vis 204"/>
          <p:cNvSpPr/>
          <p:nvPr/>
        </p:nvSpPr>
        <p:spPr>
          <a:xfrm>
            <a:off x="3450844" y="3535680"/>
            <a:ext cx="310896" cy="310896"/>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200" b="1" dirty="0">
                <a:solidFill>
                  <a:srgbClr val="FFFFFF"/>
                </a:solidFill>
                <a:latin typeface="Arial"/>
                <a:ea typeface="Arial"/>
                <a:cs typeface="Arial"/>
                <a:sym typeface="Arial"/>
              </a:rPr>
              <a:t>2</a:t>
            </a:r>
          </a:p>
        </p:txBody>
      </p:sp>
      <p:sp>
        <p:nvSpPr>
          <p:cNvPr id="205" name="Vis 205"/>
          <p:cNvSpPr/>
          <p:nvPr/>
        </p:nvSpPr>
        <p:spPr>
          <a:xfrm>
            <a:off x="4907280" y="1924304"/>
            <a:ext cx="310896" cy="310896"/>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200" b="1" dirty="0">
                <a:solidFill>
                  <a:srgbClr val="FFFFFF"/>
                </a:solidFill>
                <a:latin typeface="Arial"/>
                <a:ea typeface="Arial"/>
                <a:cs typeface="Arial"/>
                <a:sym typeface="Arial"/>
              </a:rPr>
              <a:t>4</a:t>
            </a:r>
          </a:p>
        </p:txBody>
      </p:sp>
      <p:sp>
        <p:nvSpPr>
          <p:cNvPr id="206" name="Vis 206"/>
          <p:cNvSpPr/>
          <p:nvPr/>
        </p:nvSpPr>
        <p:spPr>
          <a:xfrm>
            <a:off x="2676144" y="4403344"/>
            <a:ext cx="310896" cy="310896"/>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200" b="1" dirty="0">
                <a:solidFill>
                  <a:srgbClr val="FFFFFF"/>
                </a:solidFill>
                <a:latin typeface="Arial"/>
                <a:ea typeface="Arial"/>
                <a:cs typeface="Arial"/>
                <a:sym typeface="Arial"/>
              </a:rPr>
              <a:t>5</a:t>
            </a:r>
          </a:p>
        </p:txBody>
      </p:sp>
      <p:sp>
        <p:nvSpPr>
          <p:cNvPr id="207" name="Vis 207"/>
          <p:cNvSpPr/>
          <p:nvPr/>
        </p:nvSpPr>
        <p:spPr>
          <a:xfrm>
            <a:off x="786384" y="5870448"/>
            <a:ext cx="5577840" cy="274320"/>
          </a:xfrm>
          <a:prstGeom prst="rect">
            <a:avLst/>
          </a:prstGeom>
          <a:noFill/>
          <a:ln>
            <a:noFill/>
          </a:ln>
        </p:spPr>
        <p:txBody>
          <a:bodyPr wrap="square" lIns="0" tIns="0" rIns="0" bIns="0" anchor="t">
            <a:noAutofit/>
          </a:bodyPr>
          <a:lstStyle/>
          <a:p>
            <a:pPr algn="l" indent="0" marL="0">
              <a:buNone/>
            </a:pPr>
            <a:r>
              <a:rPr lang="en-US" sz="900" dirty="0">
                <a:solidFill>
                  <a:srgbClr val="9C978E"/>
                </a:solidFill>
                <a:latin typeface="Arial"/>
                <a:ea typeface="Arial"/>
                <a:cs typeface="Arial"/>
                <a:sym typeface="Arial"/>
              </a:rPr>
              <a:t>images/Open event.JPG  ·  numbers match the fields on the right</a:t>
            </a:r>
          </a:p>
        </p:txBody>
      </p:sp>
      <p:sp>
        <p:nvSpPr>
          <p:cNvPr id="208" name="Vis 208"/>
          <p:cNvSpPr/>
          <p:nvPr/>
        </p:nvSpPr>
        <p:spPr>
          <a:xfrm>
            <a:off x="6684264" y="1700784"/>
            <a:ext cx="292608" cy="292608"/>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100" b="1" dirty="0">
                <a:solidFill>
                  <a:srgbClr val="FFFFFF"/>
                </a:solidFill>
                <a:latin typeface="Arial"/>
                <a:ea typeface="Arial"/>
                <a:cs typeface="Arial"/>
                <a:sym typeface="Arial"/>
              </a:rPr>
              <a:t>1</a:t>
            </a:r>
          </a:p>
        </p:txBody>
      </p:sp>
      <p:sp>
        <p:nvSpPr>
          <p:cNvPr id="209" name="Vis 209"/>
          <p:cNvSpPr/>
          <p:nvPr/>
        </p:nvSpPr>
        <p:spPr>
          <a:xfrm>
            <a:off x="7132320" y="1664208"/>
            <a:ext cx="4270248" cy="685800"/>
          </a:xfrm>
          <a:prstGeom prst="rect">
            <a:avLst/>
          </a:prstGeom>
          <a:noFill/>
          <a:ln>
            <a:noFill/>
          </a:ln>
        </p:spPr>
        <p:txBody>
          <a:bodyPr wrap="square" lIns="0" tIns="0" rIns="0" bIns="0" anchor="t">
            <a:noAutofit/>
          </a:bodyPr>
          <a:lstStyle/>
          <a:p>
            <a:pPr algn="l" indent="0" marL="0">
              <a:spcAft>
                <a:spcPts val="200"/>
              </a:spcAft>
              <a:buNone/>
            </a:pPr>
            <a:r>
              <a:rPr lang="en-US" sz="1250" b="1" dirty="0">
                <a:solidFill>
                  <a:srgbClr val="141414"/>
                </a:solidFill>
                <a:latin typeface="Arial"/>
                <a:ea typeface="Arial"/>
                <a:cs typeface="Arial"/>
                <a:sym typeface="Arial"/>
              </a:rPr>
              <a:t>Location, as the sign names it</a:t>
            </a:r>
          </a:p>
          <a:p>
            <a:pPr algn="l" indent="0" marL="0">
              <a:lnSpc>
                <a:spcPts val="1300"/>
              </a:lnSpc>
              <a:buNone/>
            </a:pPr>
            <a:r>
              <a:rPr lang="en-US" sz="1050" i="1" dirty="0">
                <a:solidFill>
                  <a:srgbClr val="2A2724"/>
                </a:solidFill>
                <a:latin typeface="Arial"/>
                <a:ea typeface="Arial"/>
                <a:cs typeface="Arial"/>
                <a:sym typeface="Arial"/>
              </a:rPr>
              <a:t>Open Event Area</a:t>
            </a:r>
          </a:p>
        </p:txBody>
      </p:sp>
      <p:sp>
        <p:nvSpPr>
          <p:cNvPr id="210" name="Vis 210"/>
          <p:cNvSpPr/>
          <p:nvPr/>
        </p:nvSpPr>
        <p:spPr>
          <a:xfrm>
            <a:off x="7132320" y="2359152"/>
            <a:ext cx="4270248" cy="9144"/>
          </a:xfrm>
          <a:prstGeom prst="rect">
            <a:avLst/>
          </a:prstGeom>
          <a:solidFill>
            <a:srgbClr val="D5D1CA"/>
          </a:solidFill>
          <a:ln>
            <a:noFill/>
          </a:ln>
        </p:spPr>
      </p:sp>
      <p:sp>
        <p:nvSpPr>
          <p:cNvPr id="211" name="Vis 211"/>
          <p:cNvSpPr/>
          <p:nvPr/>
        </p:nvSpPr>
        <p:spPr>
          <a:xfrm>
            <a:off x="6684264" y="2432304"/>
            <a:ext cx="292608" cy="292608"/>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100" b="1" dirty="0">
                <a:solidFill>
                  <a:srgbClr val="FFFFFF"/>
                </a:solidFill>
                <a:latin typeface="Arial"/>
                <a:ea typeface="Arial"/>
                <a:cs typeface="Arial"/>
                <a:sym typeface="Arial"/>
              </a:rPr>
              <a:t>2</a:t>
            </a:r>
          </a:p>
        </p:txBody>
      </p:sp>
      <p:sp>
        <p:nvSpPr>
          <p:cNvPr id="212" name="Vis 212"/>
          <p:cNvSpPr/>
          <p:nvPr/>
        </p:nvSpPr>
        <p:spPr>
          <a:xfrm>
            <a:off x="7132320" y="2395728"/>
            <a:ext cx="4270248" cy="685800"/>
          </a:xfrm>
          <a:prstGeom prst="rect">
            <a:avLst/>
          </a:prstGeom>
          <a:noFill/>
          <a:ln>
            <a:noFill/>
          </a:ln>
        </p:spPr>
        <p:txBody>
          <a:bodyPr wrap="square" lIns="0" tIns="0" rIns="0" bIns="0" anchor="t">
            <a:noAutofit/>
          </a:bodyPr>
          <a:lstStyle/>
          <a:p>
            <a:pPr algn="l" indent="0" marL="0">
              <a:spcAft>
                <a:spcPts val="200"/>
              </a:spcAft>
              <a:buNone/>
            </a:pPr>
            <a:r>
              <a:rPr lang="en-US" sz="1250" b="1" dirty="0">
                <a:solidFill>
                  <a:srgbClr val="141414"/>
                </a:solidFill>
                <a:latin typeface="Arial"/>
                <a:ea typeface="Arial"/>
                <a:cs typeface="Arial"/>
                <a:sym typeface="Arial"/>
              </a:rPr>
              <a:t>Objects, with counts</a:t>
            </a:r>
          </a:p>
          <a:p>
            <a:pPr algn="l" indent="0" marL="0">
              <a:lnSpc>
                <a:spcPts val="1300"/>
              </a:lnSpc>
              <a:buNone/>
            </a:pPr>
            <a:r>
              <a:rPr lang="en-US" sz="1050" i="1" dirty="0">
                <a:solidFill>
                  <a:srgbClr val="2A2724"/>
                </a:solidFill>
                <a:latin typeface="Arial"/>
                <a:ea typeface="Arial"/>
                <a:cs typeface="Arial"/>
                <a:sym typeface="Arial"/>
              </a:rPr>
              <a:t>"twelve chairs", never "some chairs"</a:t>
            </a:r>
          </a:p>
        </p:txBody>
      </p:sp>
      <p:sp>
        <p:nvSpPr>
          <p:cNvPr id="213" name="Vis 213"/>
          <p:cNvSpPr/>
          <p:nvPr/>
        </p:nvSpPr>
        <p:spPr>
          <a:xfrm>
            <a:off x="7132320" y="3090672"/>
            <a:ext cx="4270248" cy="9144"/>
          </a:xfrm>
          <a:prstGeom prst="rect">
            <a:avLst/>
          </a:prstGeom>
          <a:solidFill>
            <a:srgbClr val="D5D1CA"/>
          </a:solidFill>
          <a:ln>
            <a:noFill/>
          </a:ln>
        </p:spPr>
      </p:sp>
      <p:sp>
        <p:nvSpPr>
          <p:cNvPr id="214" name="Vis 214"/>
          <p:cNvSpPr/>
          <p:nvPr/>
        </p:nvSpPr>
        <p:spPr>
          <a:xfrm>
            <a:off x="6684264" y="3163824"/>
            <a:ext cx="292608" cy="292608"/>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100" b="1" dirty="0">
                <a:solidFill>
                  <a:srgbClr val="FFFFFF"/>
                </a:solidFill>
                <a:latin typeface="Arial"/>
                <a:ea typeface="Arial"/>
                <a:cs typeface="Arial"/>
                <a:sym typeface="Arial"/>
              </a:rPr>
              <a:t>3</a:t>
            </a:r>
          </a:p>
        </p:txBody>
      </p:sp>
      <p:sp>
        <p:nvSpPr>
          <p:cNvPr id="215" name="Vis 215"/>
          <p:cNvSpPr/>
          <p:nvPr/>
        </p:nvSpPr>
        <p:spPr>
          <a:xfrm>
            <a:off x="7132320" y="3127248"/>
            <a:ext cx="4270248" cy="685800"/>
          </a:xfrm>
          <a:prstGeom prst="rect">
            <a:avLst/>
          </a:prstGeom>
          <a:noFill/>
          <a:ln>
            <a:noFill/>
          </a:ln>
        </p:spPr>
        <p:txBody>
          <a:bodyPr wrap="square" lIns="0" tIns="0" rIns="0" bIns="0" anchor="t">
            <a:noAutofit/>
          </a:bodyPr>
          <a:lstStyle/>
          <a:p>
            <a:pPr algn="l" indent="0" marL="0">
              <a:spcAft>
                <a:spcPts val="200"/>
              </a:spcAft>
              <a:buNone/>
            </a:pPr>
            <a:r>
              <a:rPr lang="en-US" sz="1250" b="1" dirty="0">
                <a:solidFill>
                  <a:srgbClr val="C0402A"/>
                </a:solidFill>
                <a:latin typeface="Arial"/>
                <a:ea typeface="Arial"/>
                <a:cs typeface="Arial"/>
                <a:sym typeface="Arial"/>
              </a:rPr>
              <a:t>Visible text, word for word</a:t>
            </a:r>
          </a:p>
          <a:p>
            <a:pPr algn="l" indent="0" marL="0">
              <a:lnSpc>
                <a:spcPts val="1300"/>
              </a:lnSpc>
              <a:buNone/>
            </a:pPr>
            <a:r>
              <a:rPr lang="en-US" sz="1050" b="1" dirty="0">
                <a:solidFill>
                  <a:srgbClr val="2A2724"/>
                </a:solidFill>
                <a:latin typeface="Arial"/>
                <a:ea typeface="Arial"/>
                <a:cs typeface="Arial"/>
                <a:sym typeface="Arial"/>
              </a:rPr>
              <a:t>KEEP CLEAN. DO NOT REARRANGE THE TABLE SET</a:t>
            </a:r>
          </a:p>
        </p:txBody>
      </p:sp>
      <p:sp>
        <p:nvSpPr>
          <p:cNvPr id="216" name="Vis 216"/>
          <p:cNvSpPr/>
          <p:nvPr/>
        </p:nvSpPr>
        <p:spPr>
          <a:xfrm>
            <a:off x="7132320" y="3822192"/>
            <a:ext cx="4270248" cy="9144"/>
          </a:xfrm>
          <a:prstGeom prst="rect">
            <a:avLst/>
          </a:prstGeom>
          <a:solidFill>
            <a:srgbClr val="D5D1CA"/>
          </a:solidFill>
          <a:ln>
            <a:noFill/>
          </a:ln>
        </p:spPr>
      </p:sp>
      <p:sp>
        <p:nvSpPr>
          <p:cNvPr id="217" name="Vis 217"/>
          <p:cNvSpPr/>
          <p:nvPr/>
        </p:nvSpPr>
        <p:spPr>
          <a:xfrm>
            <a:off x="6684264" y="3895344"/>
            <a:ext cx="292608" cy="292608"/>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100" b="1" dirty="0">
                <a:solidFill>
                  <a:srgbClr val="FFFFFF"/>
                </a:solidFill>
                <a:latin typeface="Arial"/>
                <a:ea typeface="Arial"/>
                <a:cs typeface="Arial"/>
                <a:sym typeface="Arial"/>
              </a:rPr>
              <a:t>4</a:t>
            </a:r>
          </a:p>
        </p:txBody>
      </p:sp>
      <p:sp>
        <p:nvSpPr>
          <p:cNvPr id="218" name="Vis 218"/>
          <p:cNvSpPr/>
          <p:nvPr/>
        </p:nvSpPr>
        <p:spPr>
          <a:xfrm>
            <a:off x="7132320" y="3858768"/>
            <a:ext cx="4270248" cy="685800"/>
          </a:xfrm>
          <a:prstGeom prst="rect">
            <a:avLst/>
          </a:prstGeom>
          <a:noFill/>
          <a:ln>
            <a:noFill/>
          </a:ln>
        </p:spPr>
        <p:txBody>
          <a:bodyPr wrap="square" lIns="0" tIns="0" rIns="0" bIns="0" anchor="t">
            <a:noAutofit/>
          </a:bodyPr>
          <a:lstStyle/>
          <a:p>
            <a:pPr algn="l" indent="0" marL="0">
              <a:spcAft>
                <a:spcPts val="200"/>
              </a:spcAft>
              <a:buNone/>
            </a:pPr>
            <a:r>
              <a:rPr lang="en-US" sz="1250" b="1" dirty="0">
                <a:solidFill>
                  <a:srgbClr val="141414"/>
                </a:solidFill>
                <a:latin typeface="Arial"/>
                <a:ea typeface="Arial"/>
                <a:cs typeface="Arial"/>
                <a:sym typeface="Arial"/>
              </a:rPr>
              <a:t>Spatial relations</a:t>
            </a:r>
          </a:p>
          <a:p>
            <a:pPr algn="l" indent="0" marL="0">
              <a:lnSpc>
                <a:spcPts val="1300"/>
              </a:lnSpc>
              <a:buNone/>
            </a:pPr>
            <a:r>
              <a:rPr lang="en-US" sz="1050" i="1" dirty="0">
                <a:solidFill>
                  <a:srgbClr val="2A2724"/>
                </a:solidFill>
                <a:latin typeface="Arial"/>
                <a:ea typeface="Arial"/>
                <a:cs typeface="Arial"/>
                <a:sym typeface="Arial"/>
              </a:rPr>
              <a:t>model aircraft above the storage rack, on the right</a:t>
            </a:r>
          </a:p>
        </p:txBody>
      </p:sp>
      <p:sp>
        <p:nvSpPr>
          <p:cNvPr id="219" name="Vis 219"/>
          <p:cNvSpPr/>
          <p:nvPr/>
        </p:nvSpPr>
        <p:spPr>
          <a:xfrm>
            <a:off x="7132320" y="4553712"/>
            <a:ext cx="4270248" cy="9144"/>
          </a:xfrm>
          <a:prstGeom prst="rect">
            <a:avLst/>
          </a:prstGeom>
          <a:solidFill>
            <a:srgbClr val="D5D1CA"/>
          </a:solidFill>
          <a:ln>
            <a:noFill/>
          </a:ln>
        </p:spPr>
      </p:sp>
      <p:sp>
        <p:nvSpPr>
          <p:cNvPr id="220" name="Vis 220"/>
          <p:cNvSpPr/>
          <p:nvPr/>
        </p:nvSpPr>
        <p:spPr>
          <a:xfrm>
            <a:off x="6684264" y="4626864"/>
            <a:ext cx="292608" cy="292608"/>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100" b="1" dirty="0">
                <a:solidFill>
                  <a:srgbClr val="FFFFFF"/>
                </a:solidFill>
                <a:latin typeface="Arial"/>
                <a:ea typeface="Arial"/>
                <a:cs typeface="Arial"/>
                <a:sym typeface="Arial"/>
              </a:rPr>
              <a:t>5</a:t>
            </a:r>
          </a:p>
        </p:txBody>
      </p:sp>
      <p:sp>
        <p:nvSpPr>
          <p:cNvPr id="221" name="Vis 221"/>
          <p:cNvSpPr/>
          <p:nvPr/>
        </p:nvSpPr>
        <p:spPr>
          <a:xfrm>
            <a:off x="7132320" y="4590288"/>
            <a:ext cx="4270248" cy="685800"/>
          </a:xfrm>
          <a:prstGeom prst="rect">
            <a:avLst/>
          </a:prstGeom>
          <a:noFill/>
          <a:ln>
            <a:noFill/>
          </a:ln>
        </p:spPr>
        <p:txBody>
          <a:bodyPr wrap="square" lIns="0" tIns="0" rIns="0" bIns="0" anchor="t">
            <a:noAutofit/>
          </a:bodyPr>
          <a:lstStyle/>
          <a:p>
            <a:pPr algn="l" indent="0" marL="0">
              <a:spcAft>
                <a:spcPts val="200"/>
              </a:spcAft>
              <a:buNone/>
            </a:pPr>
            <a:r>
              <a:rPr lang="en-US" sz="1250" b="1" dirty="0">
                <a:solidFill>
                  <a:srgbClr val="141414"/>
                </a:solidFill>
                <a:latin typeface="Arial"/>
                <a:ea typeface="Arial"/>
                <a:cs typeface="Arial"/>
                <a:sym typeface="Arial"/>
              </a:rPr>
              <a:t>Colours and materials</a:t>
            </a:r>
          </a:p>
          <a:p>
            <a:pPr algn="l" indent="0" marL="0">
              <a:lnSpc>
                <a:spcPts val="1300"/>
              </a:lnSpc>
              <a:buNone/>
            </a:pPr>
            <a:r>
              <a:rPr lang="en-US" sz="1050" i="1" dirty="0">
                <a:solidFill>
                  <a:srgbClr val="2A2724"/>
                </a:solidFill>
                <a:latin typeface="Arial"/>
                <a:ea typeface="Arial"/>
                <a:cs typeface="Arial"/>
                <a:sym typeface="Arial"/>
              </a:rPr>
              <a:t>white tables, grey chairs: only when it tells rooms apart</a:t>
            </a:r>
          </a:p>
        </p:txBody>
      </p:sp>
      <p:sp>
        <p:nvSpPr>
          <p:cNvPr id="222" name="Vis 222"/>
          <p:cNvSpPr/>
          <p:nvPr/>
        </p:nvSpPr>
        <p:spPr>
          <a:xfrm>
            <a:off x="6675120" y="5440680"/>
            <a:ext cx="4727448" cy="658368"/>
          </a:xfrm>
          <a:prstGeom prst="rect">
            <a:avLst/>
          </a:prstGeom>
          <a:solidFill>
            <a:srgbClr val="F7E6E0"/>
          </a:solidFill>
          <a:ln>
            <a:noFill/>
          </a:ln>
        </p:spPr>
      </p:sp>
      <p:sp>
        <p:nvSpPr>
          <p:cNvPr id="223" name="Vis 223"/>
          <p:cNvSpPr/>
          <p:nvPr/>
        </p:nvSpPr>
        <p:spPr>
          <a:xfrm>
            <a:off x="6812280" y="5477256"/>
            <a:ext cx="4453128" cy="603504"/>
          </a:xfrm>
          <a:prstGeom prst="rect">
            <a:avLst/>
          </a:prstGeom>
          <a:noFill/>
          <a:ln>
            <a:noFill/>
          </a:ln>
        </p:spPr>
        <p:txBody>
          <a:bodyPr wrap="square" lIns="0" tIns="0" rIns="0" bIns="0" anchor="ctr">
            <a:noAutofit/>
          </a:bodyPr>
          <a:lstStyle/>
          <a:p>
            <a:pPr algn="l" indent="0" marL="0">
              <a:lnSpc>
                <a:spcPts val="1350"/>
              </a:lnSpc>
              <a:buNone/>
            </a:pPr>
            <a:r>
              <a:rPr lang="en-US" sz="1050" dirty="0">
                <a:solidFill>
                  <a:srgbClr val="141414"/>
                </a:solidFill>
                <a:latin typeface="Arial"/>
                <a:ea typeface="Arial"/>
                <a:cs typeface="Arial"/>
                <a:sym typeface="Arial"/>
              </a:rPr>
              <a:t>Anything you do not ask for will not be in the description. Say "copy text exactly" and "write [unreadable] rather than guess".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LAB</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Lab: Writing Image Descriptions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Text 4"/>
          <p:cNvSpPr/>
          <p:nvPr/>
        </p:nvSpPr>
        <p:spPr>
          <a:xfrm>
            <a:off x="8662111" y="420624"/>
            <a:ext cx="2743200" cy="237744"/>
          </a:xfrm>
          <a:prstGeom prst="rect">
            <a:avLst/>
          </a:prstGeom>
          <a:noFill/>
          <a:ln/>
        </p:spPr>
        <p:txBody>
          <a:bodyPr wrap="square" lIns="0" tIns="0" rIns="0" bIns="0" rtlCol="0" anchor="ctr"/>
          <a:lstStyle/>
          <a:p>
            <a:pPr algn="r" indent="0" marL="0">
              <a:buNone/>
            </a:pPr>
            <a:r>
              <a:rPr lang="en-US" sz="950" b="1" spc="180" kern="0" dirty="0">
                <a:solidFill>
                  <a:srgbClr val="9C978E"/>
                </a:solidFill>
                <a:latin typeface="Arial" pitchFamily="34" charset="0"/>
                <a:ea typeface="Arial" pitchFamily="34" charset="-122"/>
                <a:cs typeface="Arial" pitchFamily="34" charset="-120"/>
              </a:rPr>
              <a:t>20 MINUTES</a:t>
            </a:r>
            <a:endParaRPr lang="en-US" sz="950" dirty="0"/>
          </a:p>
        </p:txBody>
      </p:sp>
      <p:sp>
        <p:nvSpPr>
          <p:cNvPr id="7" name="Shape 5"/>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14</a:t>
            </a:r>
            <a:endParaRPr lang="en-US" sz="1200" dirty="0"/>
          </a:p>
        </p:txBody>
      </p:sp>
      <p:sp>
        <p:nvSpPr>
          <p:cNvPr id="10" name="Text 7"/>
          <p:cNvSpPr/>
          <p:nvPr/>
        </p:nvSpPr>
        <p:spPr>
          <a:xfrm>
            <a:off x="786384" y="1765592"/>
            <a:ext cx="10087981" cy="334947"/>
          </a:xfrm>
          <a:prstGeom prst="rect">
            <a:avLst/>
          </a:prstGeom>
          <a:noFill/>
          <a:ln/>
        </p:spPr>
        <p:txBody>
          <a:bodyPr wrap="square" lIns="0" tIns="0" rIns="0" bIns="0" rtlCol="0" anchor="ctr"/>
          <a:lstStyle/>
          <a:p>
            <a:pPr indent="0" marL="0">
              <a:buNone/>
            </a:pPr>
            <a:r>
              <a:rPr lang="en-US" sz="1500" dirty="0">
                <a:solidFill>
                  <a:srgbClr val="6E6A63"/>
                </a:solidFill>
                <a:latin typeface="Arial" pitchFamily="34" charset="0"/>
                <a:ea typeface="Arial" pitchFamily="34" charset="-122"/>
                <a:cs typeface="Arial" pitchFamily="34" charset="-120"/>
              </a:rPr>
              <a:t>20 minutes. Five Inno Wing photographs and three questions about them are in the workshop folder.</a:t>
            </a:r>
            <a:endParaRPr lang="en-US" sz="1500" dirty="0"/>
          </a:p>
        </p:txBody>
      </p:sp>
      <p:sp>
        <p:nvSpPr>
          <p:cNvPr id="11" name="Text 8"/>
          <p:cNvSpPr/>
          <p:nvPr/>
        </p:nvSpPr>
        <p:spPr>
          <a:xfrm>
            <a:off x="786384" y="2193581"/>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01</a:t>
            </a:r>
            <a:endParaRPr lang="en-US" sz="1750" dirty="0"/>
          </a:p>
        </p:txBody>
      </p:sp>
      <p:sp>
        <p:nvSpPr>
          <p:cNvPr id="12" name="Text 9"/>
          <p:cNvSpPr/>
          <p:nvPr/>
        </p:nvSpPr>
        <p:spPr>
          <a:xfrm>
            <a:off x="1353312" y="2193581"/>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Write the description instructions in DESCRIPTION_PROMPT</a:t>
            </a:r>
            <a:endParaRPr lang="en-US" sz="1950" dirty="0"/>
          </a:p>
        </p:txBody>
      </p:sp>
      <p:sp>
        <p:nvSpPr>
          <p:cNvPr id="13" name="Text 10"/>
          <p:cNvSpPr/>
          <p:nvPr/>
        </p:nvSpPr>
        <p:spPr>
          <a:xfrm>
            <a:off x="1353312" y="2580993"/>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Use the five fields as a checklist. Give instructions, not a request.</a:t>
            </a:r>
            <a:endParaRPr lang="en-US" sz="1650" dirty="0"/>
          </a:p>
        </p:txBody>
      </p:sp>
      <p:sp>
        <p:nvSpPr>
          <p:cNvPr id="14" name="Text 11"/>
          <p:cNvSpPr/>
          <p:nvPr/>
        </p:nvSpPr>
        <p:spPr>
          <a:xfrm>
            <a:off x="786384" y="3026297"/>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02</a:t>
            </a:r>
            <a:endParaRPr lang="en-US" sz="1750" dirty="0"/>
          </a:p>
        </p:txBody>
      </p:sp>
      <p:sp>
        <p:nvSpPr>
          <p:cNvPr id="15" name="Text 12"/>
          <p:cNvSpPr/>
          <p:nvPr/>
        </p:nvSpPr>
        <p:spPr>
          <a:xfrm>
            <a:off x="1353312" y="3026297"/>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Generate descriptions for the five images</a:t>
            </a:r>
            <a:endParaRPr lang="en-US" sz="1950" dirty="0"/>
          </a:p>
        </p:txBody>
      </p:sp>
      <p:sp>
        <p:nvSpPr>
          <p:cNvPr id="16" name="Text 13"/>
          <p:cNvSpPr/>
          <p:nvPr/>
        </p:nvSpPr>
        <p:spPr>
          <a:xfrm>
            <a:off x="1353312" y="3413709"/>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Before indexing: can you answer the three questions from the descriptions alone?</a:t>
            </a:r>
            <a:endParaRPr lang="en-US" sz="1650" dirty="0"/>
          </a:p>
        </p:txBody>
      </p:sp>
      <p:sp>
        <p:nvSpPr>
          <p:cNvPr id="17" name="Text 14"/>
          <p:cNvSpPr/>
          <p:nvPr/>
        </p:nvSpPr>
        <p:spPr>
          <a:xfrm>
            <a:off x="786384" y="3859013"/>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03</a:t>
            </a:r>
            <a:endParaRPr lang="en-US" sz="1750" dirty="0"/>
          </a:p>
        </p:txBody>
      </p:sp>
      <p:sp>
        <p:nvSpPr>
          <p:cNvPr id="18" name="Text 15"/>
          <p:cNvSpPr/>
          <p:nvPr/>
        </p:nvSpPr>
        <p:spPr>
          <a:xfrm>
            <a:off x="1353312" y="3859013"/>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Revise the instructions and regenerate</a:t>
            </a:r>
            <a:endParaRPr lang="en-US" sz="1950" dirty="0"/>
          </a:p>
        </p:txBody>
      </p:sp>
      <p:sp>
        <p:nvSpPr>
          <p:cNvPr id="19" name="Text 16"/>
          <p:cNvSpPr/>
          <p:nvPr/>
        </p:nvSpPr>
        <p:spPr>
          <a:xfrm>
            <a:off x="1353312" y="4246425"/>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Most teams need two or three attempts. The first descriptions are almost always too general.</a:t>
            </a:r>
            <a:endParaRPr lang="en-US" sz="1650" dirty="0"/>
          </a:p>
        </p:txBody>
      </p:sp>
      <p:sp>
        <p:nvSpPr>
          <p:cNvPr id="20" name="Text 17"/>
          <p:cNvSpPr/>
          <p:nvPr/>
        </p:nvSpPr>
        <p:spPr>
          <a:xfrm>
            <a:off x="786384" y="4691729"/>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04</a:t>
            </a:r>
            <a:endParaRPr lang="en-US" sz="1750" dirty="0"/>
          </a:p>
        </p:txBody>
      </p:sp>
      <p:sp>
        <p:nvSpPr>
          <p:cNvPr id="21" name="Text 18"/>
          <p:cNvSpPr/>
          <p:nvPr/>
        </p:nvSpPr>
        <p:spPr>
          <a:xfrm>
            <a:off x="1353312" y="4691729"/>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Index the descriptions, re-score Lv3</a:t>
            </a:r>
            <a:endParaRPr lang="en-US" sz="1950" dirty="0"/>
          </a:p>
        </p:txBody>
      </p:sp>
      <p:sp>
        <p:nvSpPr>
          <p:cNvPr id="22" name="Text 19"/>
          <p:cNvSpPr/>
          <p:nvPr/>
        </p:nvSpPr>
        <p:spPr>
          <a:xfrm>
            <a:off x="1353312" y="5079141"/>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Ordinary text chunks in your existing store, with metadata attached. No new pipeline.</a:t>
            </a:r>
            <a:endParaRPr lang="en-US" sz="1650" dirty="0"/>
          </a:p>
        </p:txBody>
      </p:sp>
      <p:sp>
        <p:nvSpPr>
          <p:cNvPr id="23" name="Text 20"/>
          <p:cNvSpPr/>
          <p:nvPr/>
        </p:nvSpPr>
        <p:spPr>
          <a:xfrm>
            <a:off x="786384" y="5524445"/>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05</a:t>
            </a:r>
            <a:endParaRPr lang="en-US" sz="1750" dirty="0"/>
          </a:p>
        </p:txBody>
      </p:sp>
      <p:sp>
        <p:nvSpPr>
          <p:cNvPr id="24" name="Text 21"/>
          <p:cNvSpPr/>
          <p:nvPr/>
        </p:nvSpPr>
        <p:spPr>
          <a:xfrm>
            <a:off x="1353312" y="5524445"/>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Swap descriptions with the team next to you</a:t>
            </a:r>
            <a:endParaRPr lang="en-US" sz="1950" dirty="0"/>
          </a:p>
        </p:txBody>
      </p:sp>
      <p:sp>
        <p:nvSpPr>
          <p:cNvPr id="25" name="Text 22"/>
          <p:cNvSpPr/>
          <p:nvPr/>
        </p:nvSpPr>
        <p:spPr>
          <a:xfrm>
            <a:off x="1353312" y="5911857"/>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Which questions do their descriptions answer that yours miss?</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Store Metadata With Every Description</a:t>
            </a:r>
            <a:endParaRPr lang="en-US" sz="2900" dirty="0"/>
          </a:p>
        </p:txBody>
      </p:sp>
      <p:sp>
        <p:nvSpPr>
          <p:cNvPr id="4" name="Shape 2"/>
          <p:cNvSpPr/>
          <p:nvPr/>
        </p:nvSpPr>
        <p:spPr>
          <a:xfrm>
            <a:off x="10198303" y="877824"/>
            <a:ext cx="585216" cy="292608"/>
          </a:xfrm>
          <a:prstGeom prst="rect">
            <a:avLst/>
          </a:prstGeom>
          <a:solidFill>
            <a:srgbClr val="FAF8F5"/>
          </a:solidFill>
          <a:ln w="9525">
            <a:solidFill>
              <a:srgbClr val="D5D1CA"/>
            </a:solidFill>
            <a:prstDash val="solid"/>
          </a:ln>
        </p:spPr>
      </p:sp>
      <p:sp>
        <p:nvSpPr>
          <p:cNvPr id="5" name="Text 3"/>
          <p:cNvSpPr/>
          <p:nvPr/>
        </p:nvSpPr>
        <p:spPr>
          <a:xfrm>
            <a:off x="10198303"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10874959" y="877824"/>
            <a:ext cx="585216" cy="292608"/>
          </a:xfrm>
          <a:prstGeom prst="rect">
            <a:avLst/>
          </a:prstGeom>
          <a:solidFill>
            <a:srgbClr val="FAF8F5"/>
          </a:solidFill>
          <a:ln w="9525">
            <a:solidFill>
              <a:srgbClr val="D5D1CA"/>
            </a:solidFill>
            <a:prstDash val="solid"/>
          </a:ln>
        </p:spPr>
      </p:sp>
      <p:sp>
        <p:nvSpPr>
          <p:cNvPr id="7" name="Text 5"/>
          <p:cNvSpPr/>
          <p:nvPr/>
        </p:nvSpPr>
        <p:spPr>
          <a:xfrm>
            <a:off x="10874959"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141414"/>
                </a:solidFill>
                <a:latin typeface="Arial" pitchFamily="34" charset="0"/>
                <a:ea typeface="Arial" pitchFamily="34" charset="-122"/>
                <a:cs typeface="Arial" pitchFamily="34" charset="-120"/>
              </a:rPr>
              <a:t>LV5</a:t>
            </a:r>
            <a:endParaRPr lang="en-US" sz="1100" dirty="0"/>
          </a:p>
        </p:txBody>
      </p:sp>
      <p:sp>
        <p:nvSpPr>
          <p:cNvPr id="8" name="Shape 6"/>
          <p:cNvSpPr/>
          <p:nvPr/>
        </p:nvSpPr>
        <p:spPr>
          <a:xfrm>
            <a:off x="786384" y="1426464"/>
            <a:ext cx="10618927" cy="10973"/>
          </a:xfrm>
          <a:prstGeom prst="rect">
            <a:avLst/>
          </a:prstGeom>
          <a:solidFill>
            <a:srgbClr val="D5D1CA"/>
          </a:solidFill>
          <a:ln/>
        </p:spPr>
      </p:sp>
      <p:sp>
        <p:nvSpPr>
          <p:cNvPr id="10" name="Text 8"/>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15</a:t>
            </a:r>
            <a:endParaRPr lang="en-US" sz="1200" dirty="0"/>
          </a:p>
        </p:txBody>
      </p:sp>
      <p:sp>
        <p:nvSpPr>
          <p:cNvPr id="201" name="Vis 201"/>
          <p:cNvSpPr/>
          <p:nvPr/>
        </p:nvSpPr>
        <p:spPr>
          <a:xfrm>
            <a:off x="786384" y="1572768"/>
            <a:ext cx="10616184" cy="457200"/>
          </a:xfrm>
          <a:prstGeom prst="rect">
            <a:avLst/>
          </a:prstGeom>
          <a:noFill/>
          <a:ln>
            <a:noFill/>
          </a:ln>
        </p:spPr>
        <p:txBody>
          <a:bodyPr wrap="square" lIns="0" tIns="0" rIns="0" bIns="0" anchor="t">
            <a:noAutofit/>
          </a:bodyPr>
          <a:lstStyle/>
          <a:p>
            <a:pPr algn="l" indent="0" marL="0">
              <a:lnSpc>
                <a:spcPts val="1800"/>
              </a:lnSpc>
              <a:buNone/>
            </a:pPr>
            <a:r>
              <a:rPr lang="en-US" sz="1350" dirty="0">
                <a:solidFill>
                  <a:srgbClr val="6E6A63"/>
                </a:solidFill>
                <a:latin typeface="Arial"/>
                <a:ea typeface="Arial"/>
                <a:cs typeface="Arial"/>
                <a:sym typeface="Arial"/>
              </a:rPr>
              <a:t>The description lets a question find an image by meaning. Metadata lets you find it by fact: which page, what type, which year, which zone.</a:t>
            </a:r>
          </a:p>
        </p:txBody>
      </p:sp>
      <p:sp>
        <p:nvSpPr>
          <p:cNvPr id="202" name="Vis 202"/>
          <p:cNvSpPr/>
          <p:nvPr/>
        </p:nvSpPr>
        <p:spPr>
          <a:xfrm>
            <a:off x="786384" y="2194560"/>
            <a:ext cx="5440680" cy="2788920"/>
          </a:xfrm>
          <a:prstGeom prst="rect">
            <a:avLst/>
          </a:prstGeom>
          <a:solidFill>
            <a:srgbClr val="F2EFEA"/>
          </a:solidFill>
          <a:ln>
            <a:noFill/>
          </a:ln>
        </p:spPr>
      </p:sp>
      <p:sp>
        <p:nvSpPr>
          <p:cNvPr id="203" name="Vis 203"/>
          <p:cNvSpPr/>
          <p:nvPr/>
        </p:nvSpPr>
        <p:spPr>
          <a:xfrm>
            <a:off x="786384" y="2194560"/>
            <a:ext cx="27432" cy="2788920"/>
          </a:xfrm>
          <a:prstGeom prst="rect">
            <a:avLst/>
          </a:prstGeom>
          <a:solidFill>
            <a:srgbClr val="C0402A"/>
          </a:solidFill>
          <a:ln>
            <a:noFill/>
          </a:ln>
        </p:spPr>
      </p:sp>
      <p:sp>
        <p:nvSpPr>
          <p:cNvPr id="204" name="Vis 204"/>
          <p:cNvSpPr/>
          <p:nvPr/>
        </p:nvSpPr>
        <p:spPr>
          <a:xfrm>
            <a:off x="1042416" y="2322576"/>
            <a:ext cx="5038344" cy="228600"/>
          </a:xfrm>
          <a:prstGeom prst="rect">
            <a:avLst/>
          </a:prstGeom>
          <a:noFill/>
          <a:ln>
            <a:noFill/>
          </a:ln>
        </p:spPr>
        <p:txBody>
          <a:bodyPr wrap="square" lIns="0" tIns="0" rIns="0" bIns="0" anchor="t">
            <a:noAutofit/>
          </a:bodyPr>
          <a:lstStyle/>
          <a:p>
            <a:pPr algn="l" indent="0" marL="0">
              <a:buNone/>
            </a:pPr>
            <a:r>
              <a:rPr lang="en-US" sz="950" b="1" dirty="0">
                <a:solidFill>
                  <a:srgbClr val="9C978E"/>
                </a:solidFill>
                <a:latin typeface="Arial"/>
                <a:ea typeface="Arial"/>
                <a:cs typeface="Arial"/>
                <a:sym typeface="Arial"/>
              </a:rPr>
              <a:t>submission_repo/build/images.py  ·  index_descriptions()</a:t>
            </a:r>
          </a:p>
        </p:txBody>
      </p:sp>
      <p:sp>
        <p:nvSpPr>
          <p:cNvPr id="205" name="Vis 205"/>
          <p:cNvSpPr/>
          <p:nvPr/>
        </p:nvSpPr>
        <p:spPr>
          <a:xfrm>
            <a:off x="1042416" y="2606040"/>
            <a:ext cx="4983480" cy="2286000"/>
          </a:xfrm>
          <a:prstGeom prst="rect">
            <a:avLst/>
          </a:prstGeom>
          <a:noFill/>
          <a:ln>
            <a:noFill/>
          </a:ln>
        </p:spPr>
        <p:txBody>
          <a:bodyPr wrap="square" lIns="0" tIns="0" rIns="0" bIns="0" anchor="t">
            <a:noAutofit/>
          </a:bodyPr>
          <a:lstStyle/>
          <a:p>
            <a:pPr algn="l" indent="0" marL="0">
              <a:lnSpc>
                <a:spcPts val="1595"/>
              </a:lnSpc>
              <a:buNone/>
            </a:pPr>
            <a:r>
              <a:rPr lang="en-US" sz="1100" dirty="0">
                <a:solidFill>
                  <a:srgbClr val="2A2724"/>
                </a:solidFill>
                <a:latin typeface="Courier New"/>
                <a:ea typeface="Courier New"/>
                <a:cs typeface="Courier New"/>
                <a:sym typeface="Courier New"/>
              </a:rPr>
              <a:t>metas.append({</a:t>
            </a:r>
          </a:p>
          <a:p>
            <a:pPr algn="l" indent="0" marL="0">
              <a:lnSpc>
                <a:spcPts val="1595"/>
              </a:lnSpc>
              <a:buNone/>
            </a:pPr>
            <a:r>
              <a:rPr lang="en-US" sz="1100" dirty="0">
                <a:solidFill>
                  <a:srgbClr val="2A2724"/>
                </a:solidFill>
                <a:latin typeface="Courier New"/>
                <a:ea typeface="Courier New"/>
                <a:cs typeface="Courier New"/>
                <a:sym typeface="Courier New"/>
              </a:rPr>
              <a:t xml:space="preserve">    "url":   im.get("page", src),</a:t>
            </a:r>
          </a:p>
          <a:p>
            <a:pPr algn="l" indent="0" marL="0">
              <a:lnSpc>
                <a:spcPts val="1595"/>
              </a:lnSpc>
              <a:buNone/>
            </a:pPr>
            <a:r>
              <a:rPr lang="en-US" sz="1100" dirty="0">
                <a:solidFill>
                  <a:srgbClr val="2A2724"/>
                </a:solidFill>
                <a:latin typeface="Courier New"/>
                <a:ea typeface="Courier New"/>
                <a:cs typeface="Courier New"/>
                <a:sym typeface="Courier New"/>
              </a:rPr>
              <a:t xml:space="preserve">    "image": src,</a:t>
            </a:r>
          </a:p>
          <a:p>
            <a:pPr algn="l" indent="0" marL="0">
              <a:lnSpc>
                <a:spcPts val="1595"/>
              </a:lnSpc>
              <a:buNone/>
            </a:pPr>
            <a:r>
              <a:rPr lang="en-US" sz="1100" dirty="0">
                <a:solidFill>
                  <a:srgbClr val="2A2724"/>
                </a:solidFill>
                <a:latin typeface="Courier New"/>
                <a:ea typeface="Courier New"/>
                <a:cs typeface="Courier New"/>
                <a:sym typeface="Courier New"/>
              </a:rPr>
              <a:t xml:space="preserve">    "kind":  "image",</a:t>
            </a:r>
          </a:p>
          <a:p>
            <a:pPr algn="l" indent="0" marL="0">
              <a:lnSpc>
                <a:spcPts val="1595"/>
              </a:lnSpc>
              <a:buNone/>
            </a:pPr>
            <a:r>
              <a:rPr lang="en-US" sz="1100" dirty="0">
                <a:solidFill>
                  <a:srgbClr val="6E6A63"/>
                </a:solidFill>
                <a:latin typeface="Courier New"/>
                <a:ea typeface="Courier New"/>
                <a:cs typeface="Courier New"/>
                <a:sym typeface="Courier New"/>
              </a:rPr>
              <a:t xml:space="preserve">    # add what a question could filter on</a:t>
            </a:r>
          </a:p>
          <a:p>
            <a:pPr algn="l" indent="0" marL="0">
              <a:lnSpc>
                <a:spcPts val="1595"/>
              </a:lnSpc>
              <a:buNone/>
            </a:pPr>
            <a:r>
              <a:rPr lang="en-US" sz="1100" b="1" dirty="0">
                <a:solidFill>
                  <a:srgbClr val="C0402A"/>
                </a:solidFill>
                <a:latin typeface="Courier New"/>
                <a:ea typeface="Courier New"/>
                <a:cs typeface="Courier New"/>
                <a:sym typeface="Courier New"/>
              </a:rPr>
              <a:t xml:space="preserve">    "type":  "poster",</a:t>
            </a:r>
          </a:p>
          <a:p>
            <a:pPr algn="l" indent="0" marL="0">
              <a:lnSpc>
                <a:spcPts val="1595"/>
              </a:lnSpc>
              <a:buNone/>
            </a:pPr>
            <a:r>
              <a:rPr lang="en-US" sz="1100" b="1" dirty="0">
                <a:solidFill>
                  <a:srgbClr val="C0402A"/>
                </a:solidFill>
                <a:latin typeface="Courier New"/>
                <a:ea typeface="Courier New"/>
                <a:cs typeface="Courier New"/>
                <a:sym typeface="Courier New"/>
              </a:rPr>
              <a:t xml:space="preserve">    "year":  "2025",</a:t>
            </a:r>
          </a:p>
          <a:p>
            <a:pPr algn="l" indent="0" marL="0">
              <a:lnSpc>
                <a:spcPts val="1595"/>
              </a:lnSpc>
              <a:buNone/>
            </a:pPr>
            <a:r>
              <a:rPr lang="en-US" sz="1100" b="1" dirty="0">
                <a:solidFill>
                  <a:srgbClr val="C0402A"/>
                </a:solidFill>
                <a:latin typeface="Courier New"/>
                <a:ea typeface="Courier New"/>
                <a:cs typeface="Courier New"/>
                <a:sym typeface="Courier New"/>
              </a:rPr>
              <a:t xml:space="preserve">    "zone":  "Open Event Area",</a:t>
            </a:r>
          </a:p>
          <a:p>
            <a:pPr algn="l" indent="0" marL="0">
              <a:lnSpc>
                <a:spcPts val="1595"/>
              </a:lnSpc>
              <a:buNone/>
            </a:pPr>
            <a:r>
              <a:rPr lang="en-US" sz="1100" dirty="0">
                <a:solidFill>
                  <a:srgbClr val="2A2724"/>
                </a:solidFill>
                <a:latin typeface="Courier New"/>
                <a:ea typeface="Courier New"/>
                <a:cs typeface="Courier New"/>
                <a:sym typeface="Courier New"/>
              </a:rPr>
              <a:t>})</a:t>
            </a:r>
          </a:p>
        </p:txBody>
      </p:sp>
      <p:sp>
        <p:nvSpPr>
          <p:cNvPr id="206" name="Vis 206"/>
          <p:cNvSpPr/>
          <p:nvPr/>
        </p:nvSpPr>
        <p:spPr>
          <a:xfrm>
            <a:off x="6492240" y="2194560"/>
            <a:ext cx="4910328" cy="274320"/>
          </a:xfrm>
          <a:prstGeom prst="rect">
            <a:avLst/>
          </a:prstGeom>
          <a:noFill/>
          <a:ln>
            <a:noFill/>
          </a:ln>
        </p:spPr>
        <p:txBody>
          <a:bodyPr wrap="square" lIns="0" tIns="0" rIns="0" bIns="0" anchor="t">
            <a:noAutofit/>
          </a:bodyPr>
          <a:lstStyle/>
          <a:p>
            <a:pPr algn="l" indent="0" marL="0">
              <a:buNone/>
            </a:pPr>
            <a:r>
              <a:rPr lang="en-US" sz="950" b="1" dirty="0">
                <a:solidFill>
                  <a:srgbClr val="9C978E"/>
                </a:solidFill>
                <a:latin typeface="Arial"/>
                <a:ea typeface="Arial"/>
                <a:cs typeface="Arial"/>
                <a:sym typeface="Arial"/>
              </a:rPr>
              <a:t>ONE STORED RECORD  ·  EXAMPLE</a:t>
            </a:r>
          </a:p>
        </p:txBody>
      </p:sp>
      <p:sp>
        <p:nvSpPr>
          <p:cNvPr id="207" name="Vis 207"/>
          <p:cNvSpPr/>
          <p:nvPr/>
        </p:nvSpPr>
        <p:spPr>
          <a:xfrm>
            <a:off x="6492240" y="2468880"/>
            <a:ext cx="4910328" cy="566928"/>
          </a:xfrm>
          <a:prstGeom prst="rect">
            <a:avLst/>
          </a:prstGeom>
          <a:solidFill>
            <a:srgbClr val="F2EFEA"/>
          </a:solidFill>
          <a:ln>
            <a:noFill/>
          </a:ln>
        </p:spPr>
      </p:sp>
      <p:sp>
        <p:nvSpPr>
          <p:cNvPr id="208" name="Vis 208"/>
          <p:cNvSpPr/>
          <p:nvPr/>
        </p:nvSpPr>
        <p:spPr>
          <a:xfrm>
            <a:off x="6629400" y="2487168"/>
            <a:ext cx="4636008" cy="530352"/>
          </a:xfrm>
          <a:prstGeom prst="rect">
            <a:avLst/>
          </a:prstGeom>
          <a:noFill/>
          <a:ln>
            <a:noFill/>
          </a:ln>
        </p:spPr>
        <p:txBody>
          <a:bodyPr wrap="square" lIns="0" tIns="0" rIns="0" bIns="0" anchor="ctr">
            <a:noAutofit/>
          </a:bodyPr>
          <a:lstStyle/>
          <a:p>
            <a:pPr algn="l" indent="0" marL="0">
              <a:buNone/>
            </a:pPr>
            <a:r>
              <a:rPr lang="en-US" sz="1050" i="1" dirty="0">
                <a:solidFill>
                  <a:srgbClr val="2A2724"/>
                </a:solidFill>
                <a:latin typeface="Arial"/>
                <a:ea typeface="Arial"/>
                <a:cs typeface="Arial"/>
                <a:sym typeface="Arial"/>
              </a:rPr>
              <a:t>"Workshop poster: Design, Build and Fly Team 2023. ..."</a:t>
            </a:r>
          </a:p>
        </p:txBody>
      </p:sp>
      <p:sp>
        <p:nvSpPr>
          <p:cNvPr id="209" name="Vis 209"/>
          <p:cNvSpPr/>
          <p:nvPr/>
        </p:nvSpPr>
        <p:spPr>
          <a:xfrm>
            <a:off x="6492240" y="3392424"/>
            <a:ext cx="4910328" cy="7315"/>
          </a:xfrm>
          <a:prstGeom prst="rect">
            <a:avLst/>
          </a:prstGeom>
          <a:solidFill>
            <a:srgbClr val="D5D1CA"/>
          </a:solidFill>
          <a:ln>
            <a:noFill/>
          </a:ln>
        </p:spPr>
      </p:sp>
      <p:sp>
        <p:nvSpPr>
          <p:cNvPr id="210" name="Vis 210"/>
          <p:cNvSpPr/>
          <p:nvPr/>
        </p:nvSpPr>
        <p:spPr>
          <a:xfrm>
            <a:off x="6583680" y="3108960"/>
            <a:ext cx="1097280" cy="274320"/>
          </a:xfrm>
          <a:prstGeom prst="rect">
            <a:avLst/>
          </a:prstGeom>
          <a:noFill/>
          <a:ln>
            <a:noFill/>
          </a:ln>
        </p:spPr>
        <p:txBody>
          <a:bodyPr wrap="square" lIns="0" tIns="0" rIns="0" bIns="0" anchor="ctr">
            <a:noAutofit/>
          </a:bodyPr>
          <a:lstStyle/>
          <a:p>
            <a:pPr algn="l" indent="0" marL="0">
              <a:buNone/>
            </a:pPr>
            <a:r>
              <a:rPr lang="en-US" sz="1050" dirty="0">
                <a:solidFill>
                  <a:srgbClr val="6E6A63"/>
                </a:solidFill>
                <a:latin typeface="Courier New"/>
                <a:ea typeface="Courier New"/>
                <a:cs typeface="Courier New"/>
                <a:sym typeface="Courier New"/>
              </a:rPr>
              <a:t>url</a:t>
            </a:r>
          </a:p>
        </p:txBody>
      </p:sp>
      <p:sp>
        <p:nvSpPr>
          <p:cNvPr id="211" name="Vis 211"/>
          <p:cNvSpPr/>
          <p:nvPr/>
        </p:nvSpPr>
        <p:spPr>
          <a:xfrm>
            <a:off x="7680960" y="3108960"/>
            <a:ext cx="3630168" cy="274320"/>
          </a:xfrm>
          <a:prstGeom prst="rect">
            <a:avLst/>
          </a:prstGeom>
          <a:noFill/>
          <a:ln>
            <a:noFill/>
          </a:ln>
        </p:spPr>
        <p:txBody>
          <a:bodyPr wrap="square" lIns="0" tIns="0" rIns="0" bIns="0" anchor="ctr">
            <a:noAutofit/>
          </a:bodyPr>
          <a:lstStyle/>
          <a:p>
            <a:pPr algn="l" indent="0" marL="0">
              <a:buNone/>
            </a:pPr>
            <a:r>
              <a:rPr lang="en-US" sz="1050" dirty="0">
                <a:solidFill>
                  <a:srgbClr val="141414"/>
                </a:solidFill>
                <a:latin typeface="Courier New"/>
                <a:ea typeface="Courier New"/>
                <a:cs typeface="Courier New"/>
                <a:sym typeface="Courier New"/>
              </a:rPr>
              <a:t>.../innowing1/</a:t>
            </a:r>
          </a:p>
        </p:txBody>
      </p:sp>
      <p:sp>
        <p:nvSpPr>
          <p:cNvPr id="212" name="Vis 212"/>
          <p:cNvSpPr/>
          <p:nvPr/>
        </p:nvSpPr>
        <p:spPr>
          <a:xfrm>
            <a:off x="6492240" y="3694176"/>
            <a:ext cx="4910328" cy="7315"/>
          </a:xfrm>
          <a:prstGeom prst="rect">
            <a:avLst/>
          </a:prstGeom>
          <a:solidFill>
            <a:srgbClr val="D5D1CA"/>
          </a:solidFill>
          <a:ln>
            <a:noFill/>
          </a:ln>
        </p:spPr>
      </p:sp>
      <p:sp>
        <p:nvSpPr>
          <p:cNvPr id="213" name="Vis 213"/>
          <p:cNvSpPr/>
          <p:nvPr/>
        </p:nvSpPr>
        <p:spPr>
          <a:xfrm>
            <a:off x="6583680" y="3410712"/>
            <a:ext cx="1097280" cy="274320"/>
          </a:xfrm>
          <a:prstGeom prst="rect">
            <a:avLst/>
          </a:prstGeom>
          <a:noFill/>
          <a:ln>
            <a:noFill/>
          </a:ln>
        </p:spPr>
        <p:txBody>
          <a:bodyPr wrap="square" lIns="0" tIns="0" rIns="0" bIns="0" anchor="ctr">
            <a:noAutofit/>
          </a:bodyPr>
          <a:lstStyle/>
          <a:p>
            <a:pPr algn="l" indent="0" marL="0">
              <a:buNone/>
            </a:pPr>
            <a:r>
              <a:rPr lang="en-US" sz="1050" dirty="0">
                <a:solidFill>
                  <a:srgbClr val="6E6A63"/>
                </a:solidFill>
                <a:latin typeface="Courier New"/>
                <a:ea typeface="Courier New"/>
                <a:cs typeface="Courier New"/>
                <a:sym typeface="Courier New"/>
              </a:rPr>
              <a:t>image</a:t>
            </a:r>
          </a:p>
        </p:txBody>
      </p:sp>
      <p:sp>
        <p:nvSpPr>
          <p:cNvPr id="214" name="Vis 214"/>
          <p:cNvSpPr/>
          <p:nvPr/>
        </p:nvSpPr>
        <p:spPr>
          <a:xfrm>
            <a:off x="7680960" y="3410712"/>
            <a:ext cx="3630168" cy="274320"/>
          </a:xfrm>
          <a:prstGeom prst="rect">
            <a:avLst/>
          </a:prstGeom>
          <a:noFill/>
          <a:ln>
            <a:noFill/>
          </a:ln>
        </p:spPr>
        <p:txBody>
          <a:bodyPr wrap="square" lIns="0" tIns="0" rIns="0" bIns="0" anchor="ctr">
            <a:noAutofit/>
          </a:bodyPr>
          <a:lstStyle/>
          <a:p>
            <a:pPr algn="l" indent="0" marL="0">
              <a:buNone/>
            </a:pPr>
            <a:r>
              <a:rPr lang="en-US" sz="1050" dirty="0">
                <a:solidFill>
                  <a:srgbClr val="141414"/>
                </a:solidFill>
                <a:latin typeface="Courier New"/>
                <a:ea typeface="Courier New"/>
                <a:cs typeface="Courier New"/>
                <a:sym typeface="Courier New"/>
              </a:rPr>
              <a:t>...Fly-Team-2023-Poster.png</a:t>
            </a:r>
          </a:p>
        </p:txBody>
      </p:sp>
      <p:sp>
        <p:nvSpPr>
          <p:cNvPr id="215" name="Vis 215"/>
          <p:cNvSpPr/>
          <p:nvPr/>
        </p:nvSpPr>
        <p:spPr>
          <a:xfrm>
            <a:off x="6492240" y="3995928"/>
            <a:ext cx="4910328" cy="7315"/>
          </a:xfrm>
          <a:prstGeom prst="rect">
            <a:avLst/>
          </a:prstGeom>
          <a:solidFill>
            <a:srgbClr val="D5D1CA"/>
          </a:solidFill>
          <a:ln>
            <a:noFill/>
          </a:ln>
        </p:spPr>
      </p:sp>
      <p:sp>
        <p:nvSpPr>
          <p:cNvPr id="216" name="Vis 216"/>
          <p:cNvSpPr/>
          <p:nvPr/>
        </p:nvSpPr>
        <p:spPr>
          <a:xfrm>
            <a:off x="6583680" y="3712464"/>
            <a:ext cx="1097280" cy="274320"/>
          </a:xfrm>
          <a:prstGeom prst="rect">
            <a:avLst/>
          </a:prstGeom>
          <a:noFill/>
          <a:ln>
            <a:noFill/>
          </a:ln>
        </p:spPr>
        <p:txBody>
          <a:bodyPr wrap="square" lIns="0" tIns="0" rIns="0" bIns="0" anchor="ctr">
            <a:noAutofit/>
          </a:bodyPr>
          <a:lstStyle/>
          <a:p>
            <a:pPr algn="l" indent="0" marL="0">
              <a:buNone/>
            </a:pPr>
            <a:r>
              <a:rPr lang="en-US" sz="1050" dirty="0">
                <a:solidFill>
                  <a:srgbClr val="6E6A63"/>
                </a:solidFill>
                <a:latin typeface="Courier New"/>
                <a:ea typeface="Courier New"/>
                <a:cs typeface="Courier New"/>
                <a:sym typeface="Courier New"/>
              </a:rPr>
              <a:t>kind</a:t>
            </a:r>
          </a:p>
        </p:txBody>
      </p:sp>
      <p:sp>
        <p:nvSpPr>
          <p:cNvPr id="217" name="Vis 217"/>
          <p:cNvSpPr/>
          <p:nvPr/>
        </p:nvSpPr>
        <p:spPr>
          <a:xfrm>
            <a:off x="7680960" y="3712464"/>
            <a:ext cx="3630168" cy="274320"/>
          </a:xfrm>
          <a:prstGeom prst="rect">
            <a:avLst/>
          </a:prstGeom>
          <a:noFill/>
          <a:ln>
            <a:noFill/>
          </a:ln>
        </p:spPr>
        <p:txBody>
          <a:bodyPr wrap="square" lIns="0" tIns="0" rIns="0" bIns="0" anchor="ctr">
            <a:noAutofit/>
          </a:bodyPr>
          <a:lstStyle/>
          <a:p>
            <a:pPr algn="l" indent="0" marL="0">
              <a:buNone/>
            </a:pPr>
            <a:r>
              <a:rPr lang="en-US" sz="1050" dirty="0">
                <a:solidFill>
                  <a:srgbClr val="141414"/>
                </a:solidFill>
                <a:latin typeface="Courier New"/>
                <a:ea typeface="Courier New"/>
                <a:cs typeface="Courier New"/>
                <a:sym typeface="Courier New"/>
              </a:rPr>
              <a:t>image</a:t>
            </a:r>
          </a:p>
        </p:txBody>
      </p:sp>
      <p:sp>
        <p:nvSpPr>
          <p:cNvPr id="218" name="Vis 218"/>
          <p:cNvSpPr/>
          <p:nvPr/>
        </p:nvSpPr>
        <p:spPr>
          <a:xfrm>
            <a:off x="6492240" y="4297680"/>
            <a:ext cx="4910328" cy="7315"/>
          </a:xfrm>
          <a:prstGeom prst="rect">
            <a:avLst/>
          </a:prstGeom>
          <a:solidFill>
            <a:srgbClr val="D5D1CA"/>
          </a:solidFill>
          <a:ln>
            <a:noFill/>
          </a:ln>
        </p:spPr>
      </p:sp>
      <p:sp>
        <p:nvSpPr>
          <p:cNvPr id="219" name="Vis 219"/>
          <p:cNvSpPr/>
          <p:nvPr/>
        </p:nvSpPr>
        <p:spPr>
          <a:xfrm>
            <a:off x="6583680" y="4014216"/>
            <a:ext cx="1097280" cy="274320"/>
          </a:xfrm>
          <a:prstGeom prst="rect">
            <a:avLst/>
          </a:prstGeom>
          <a:noFill/>
          <a:ln>
            <a:noFill/>
          </a:ln>
        </p:spPr>
        <p:txBody>
          <a:bodyPr wrap="square" lIns="0" tIns="0" rIns="0" bIns="0" anchor="ctr">
            <a:noAutofit/>
          </a:bodyPr>
          <a:lstStyle/>
          <a:p>
            <a:pPr algn="l" indent="0" marL="0">
              <a:buNone/>
            </a:pPr>
            <a:r>
              <a:rPr lang="en-US" sz="1050" dirty="0">
                <a:solidFill>
                  <a:srgbClr val="6E6A63"/>
                </a:solidFill>
                <a:latin typeface="Courier New"/>
                <a:ea typeface="Courier New"/>
                <a:cs typeface="Courier New"/>
                <a:sym typeface="Courier New"/>
              </a:rPr>
              <a:t>type</a:t>
            </a:r>
          </a:p>
        </p:txBody>
      </p:sp>
      <p:sp>
        <p:nvSpPr>
          <p:cNvPr id="220" name="Vis 220"/>
          <p:cNvSpPr/>
          <p:nvPr/>
        </p:nvSpPr>
        <p:spPr>
          <a:xfrm>
            <a:off x="7680960" y="4014216"/>
            <a:ext cx="3630168" cy="274320"/>
          </a:xfrm>
          <a:prstGeom prst="rect">
            <a:avLst/>
          </a:prstGeom>
          <a:noFill/>
          <a:ln>
            <a:noFill/>
          </a:ln>
        </p:spPr>
        <p:txBody>
          <a:bodyPr wrap="square" lIns="0" tIns="0" rIns="0" bIns="0" anchor="ctr">
            <a:noAutofit/>
          </a:bodyPr>
          <a:lstStyle/>
          <a:p>
            <a:pPr algn="l" indent="0" marL="0">
              <a:buNone/>
            </a:pPr>
            <a:r>
              <a:rPr lang="en-US" sz="1050" b="1" dirty="0">
                <a:solidFill>
                  <a:srgbClr val="C0402A"/>
                </a:solidFill>
                <a:latin typeface="Courier New"/>
                <a:ea typeface="Courier New"/>
                <a:cs typeface="Courier New"/>
                <a:sym typeface="Courier New"/>
              </a:rPr>
              <a:t>poster</a:t>
            </a:r>
          </a:p>
        </p:txBody>
      </p:sp>
      <p:sp>
        <p:nvSpPr>
          <p:cNvPr id="221" name="Vis 221"/>
          <p:cNvSpPr/>
          <p:nvPr/>
        </p:nvSpPr>
        <p:spPr>
          <a:xfrm>
            <a:off x="6492240" y="4599432"/>
            <a:ext cx="4910328" cy="7315"/>
          </a:xfrm>
          <a:prstGeom prst="rect">
            <a:avLst/>
          </a:prstGeom>
          <a:solidFill>
            <a:srgbClr val="D5D1CA"/>
          </a:solidFill>
          <a:ln>
            <a:noFill/>
          </a:ln>
        </p:spPr>
      </p:sp>
      <p:sp>
        <p:nvSpPr>
          <p:cNvPr id="222" name="Vis 222"/>
          <p:cNvSpPr/>
          <p:nvPr/>
        </p:nvSpPr>
        <p:spPr>
          <a:xfrm>
            <a:off x="6583680" y="4315968"/>
            <a:ext cx="1097280" cy="274320"/>
          </a:xfrm>
          <a:prstGeom prst="rect">
            <a:avLst/>
          </a:prstGeom>
          <a:noFill/>
          <a:ln>
            <a:noFill/>
          </a:ln>
        </p:spPr>
        <p:txBody>
          <a:bodyPr wrap="square" lIns="0" tIns="0" rIns="0" bIns="0" anchor="ctr">
            <a:noAutofit/>
          </a:bodyPr>
          <a:lstStyle/>
          <a:p>
            <a:pPr algn="l" indent="0" marL="0">
              <a:buNone/>
            </a:pPr>
            <a:r>
              <a:rPr lang="en-US" sz="1050" dirty="0">
                <a:solidFill>
                  <a:srgbClr val="6E6A63"/>
                </a:solidFill>
                <a:latin typeface="Courier New"/>
                <a:ea typeface="Courier New"/>
                <a:cs typeface="Courier New"/>
                <a:sym typeface="Courier New"/>
              </a:rPr>
              <a:t>year</a:t>
            </a:r>
          </a:p>
        </p:txBody>
      </p:sp>
      <p:sp>
        <p:nvSpPr>
          <p:cNvPr id="223" name="Vis 223"/>
          <p:cNvSpPr/>
          <p:nvPr/>
        </p:nvSpPr>
        <p:spPr>
          <a:xfrm>
            <a:off x="7680960" y="4315968"/>
            <a:ext cx="3630168" cy="274320"/>
          </a:xfrm>
          <a:prstGeom prst="rect">
            <a:avLst/>
          </a:prstGeom>
          <a:noFill/>
          <a:ln>
            <a:noFill/>
          </a:ln>
        </p:spPr>
        <p:txBody>
          <a:bodyPr wrap="square" lIns="0" tIns="0" rIns="0" bIns="0" anchor="ctr">
            <a:noAutofit/>
          </a:bodyPr>
          <a:lstStyle/>
          <a:p>
            <a:pPr algn="l" indent="0" marL="0">
              <a:buNone/>
            </a:pPr>
            <a:r>
              <a:rPr lang="en-US" sz="1050" b="1" dirty="0">
                <a:solidFill>
                  <a:srgbClr val="C0402A"/>
                </a:solidFill>
                <a:latin typeface="Courier New"/>
                <a:ea typeface="Courier New"/>
                <a:cs typeface="Courier New"/>
                <a:sym typeface="Courier New"/>
              </a:rPr>
              <a:t>2023</a:t>
            </a:r>
          </a:p>
        </p:txBody>
      </p:sp>
      <p:sp>
        <p:nvSpPr>
          <p:cNvPr id="224" name="Vis 224"/>
          <p:cNvSpPr/>
          <p:nvPr/>
        </p:nvSpPr>
        <p:spPr>
          <a:xfrm>
            <a:off x="6492240" y="4901184"/>
            <a:ext cx="4910328" cy="7315"/>
          </a:xfrm>
          <a:prstGeom prst="rect">
            <a:avLst/>
          </a:prstGeom>
          <a:solidFill>
            <a:srgbClr val="D5D1CA"/>
          </a:solidFill>
          <a:ln>
            <a:noFill/>
          </a:ln>
        </p:spPr>
      </p:sp>
      <p:sp>
        <p:nvSpPr>
          <p:cNvPr id="225" name="Vis 225"/>
          <p:cNvSpPr/>
          <p:nvPr/>
        </p:nvSpPr>
        <p:spPr>
          <a:xfrm>
            <a:off x="6583680" y="4617720"/>
            <a:ext cx="1097280" cy="274320"/>
          </a:xfrm>
          <a:prstGeom prst="rect">
            <a:avLst/>
          </a:prstGeom>
          <a:noFill/>
          <a:ln>
            <a:noFill/>
          </a:ln>
        </p:spPr>
        <p:txBody>
          <a:bodyPr wrap="square" lIns="0" tIns="0" rIns="0" bIns="0" anchor="ctr">
            <a:noAutofit/>
          </a:bodyPr>
          <a:lstStyle/>
          <a:p>
            <a:pPr algn="l" indent="0" marL="0">
              <a:buNone/>
            </a:pPr>
            <a:r>
              <a:rPr lang="en-US" sz="1050" dirty="0">
                <a:solidFill>
                  <a:srgbClr val="6E6A63"/>
                </a:solidFill>
                <a:latin typeface="Courier New"/>
                <a:ea typeface="Courier New"/>
                <a:cs typeface="Courier New"/>
                <a:sym typeface="Courier New"/>
              </a:rPr>
              <a:t>zone</a:t>
            </a:r>
          </a:p>
        </p:txBody>
      </p:sp>
      <p:sp>
        <p:nvSpPr>
          <p:cNvPr id="226" name="Vis 226"/>
          <p:cNvSpPr/>
          <p:nvPr/>
        </p:nvSpPr>
        <p:spPr>
          <a:xfrm>
            <a:off x="7680960" y="4617720"/>
            <a:ext cx="3630168" cy="274320"/>
          </a:xfrm>
          <a:prstGeom prst="rect">
            <a:avLst/>
          </a:prstGeom>
          <a:noFill/>
          <a:ln>
            <a:noFill/>
          </a:ln>
        </p:spPr>
        <p:txBody>
          <a:bodyPr wrap="square" lIns="0" tIns="0" rIns="0" bIns="0" anchor="ctr">
            <a:noAutofit/>
          </a:bodyPr>
          <a:lstStyle/>
          <a:p>
            <a:pPr algn="l" indent="0" marL="0">
              <a:buNone/>
            </a:pPr>
            <a:r>
              <a:rPr lang="en-US" sz="1050" b="1" dirty="0">
                <a:solidFill>
                  <a:srgbClr val="C0402A"/>
                </a:solidFill>
                <a:latin typeface="Courier New"/>
                <a:ea typeface="Courier New"/>
                <a:cs typeface="Courier New"/>
                <a:sym typeface="Courier New"/>
              </a:rPr>
              <a:t>-  (website image)</a:t>
            </a:r>
          </a:p>
        </p:txBody>
      </p:sp>
      <p:sp>
        <p:nvSpPr>
          <p:cNvPr id="227" name="Vis 227"/>
          <p:cNvSpPr/>
          <p:nvPr/>
        </p:nvSpPr>
        <p:spPr>
          <a:xfrm>
            <a:off x="6492240" y="4983480"/>
            <a:ext cx="4910328" cy="822960"/>
          </a:xfrm>
          <a:prstGeom prst="rect">
            <a:avLst/>
          </a:prstGeom>
          <a:noFill/>
          <a:ln>
            <a:noFill/>
          </a:ln>
        </p:spPr>
        <p:txBody>
          <a:bodyPr wrap="square" lIns="0" tIns="0" rIns="0" bIns="0" anchor="t">
            <a:noAutofit/>
          </a:bodyPr>
          <a:lstStyle/>
          <a:p>
            <a:pPr algn="l" indent="0" marL="0">
              <a:spcAft>
                <a:spcPts val="300"/>
              </a:spcAft>
              <a:buNone/>
            </a:pPr>
            <a:r>
              <a:rPr lang="en-US" sz="1250" b="1" dirty="0">
                <a:solidFill>
                  <a:srgbClr val="141414"/>
                </a:solidFill>
                <a:latin typeface="Arial"/>
                <a:ea typeface="Arial"/>
                <a:cs typeface="Arial"/>
                <a:sym typeface="Arial"/>
              </a:rPr>
              <a:t>Why now, not later</a:t>
            </a:r>
          </a:p>
          <a:p>
            <a:pPr algn="l" indent="0" marL="0">
              <a:lnSpc>
                <a:spcPts val="1400"/>
              </a:lnSpc>
              <a:buNone/>
            </a:pPr>
            <a:r>
              <a:rPr lang="en-US" sz="1100" dirty="0">
                <a:solidFill>
                  <a:srgbClr val="2A2724"/>
                </a:solidFill>
                <a:latin typeface="Arial"/>
                <a:ea typeface="Arial"/>
                <a:cs typeface="Arial"/>
                <a:sym typeface="Arial"/>
              </a:rPr>
              <a:t>Block 4 filters on these fields to count exactly. A field you skip now means rebuilding the index.</a:t>
            </a:r>
          </a:p>
        </p:txBody>
      </p:sp>
      <p:sp>
        <p:nvSpPr>
          <p:cNvPr id="228" name="Vis 228"/>
          <p:cNvSpPr/>
          <p:nvPr/>
        </p:nvSpPr>
        <p:spPr>
          <a:xfrm>
            <a:off x="786384" y="5120640"/>
            <a:ext cx="5440680" cy="548640"/>
          </a:xfrm>
          <a:prstGeom prst="rect">
            <a:avLst/>
          </a:prstGeom>
          <a:noFill/>
          <a:ln>
            <a:noFill/>
          </a:ln>
        </p:spPr>
        <p:txBody>
          <a:bodyPr wrap="square" lIns="0" tIns="0" rIns="0" bIns="0" anchor="t">
            <a:noAutofit/>
          </a:bodyPr>
          <a:lstStyle/>
          <a:p>
            <a:pPr algn="l" indent="0" marL="0">
              <a:lnSpc>
                <a:spcPts val="1400"/>
              </a:lnSpc>
              <a:buNone/>
            </a:pPr>
            <a:r>
              <a:rPr lang="en-US" sz="1100" dirty="0">
                <a:solidFill>
                  <a:srgbClr val="6E6A63"/>
                </a:solidFill>
                <a:latin typeface="Arial"/>
                <a:ea typeface="Arial"/>
                <a:cs typeface="Arial"/>
                <a:sym typeface="Arial"/>
              </a:rPr>
              <a:t>The template stores url, image and kind. The red lines are yours to add.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0EA"/>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sp>
      <p:sp>
        <p:nvSpPr>
          <p:cNvPr id="4" name="Text 2"/>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Tips From Last Year</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sp>
      <p:sp>
        <p:nvSpPr>
          <p:cNvPr id="6" name="Text 4"/>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7" name="Shape 5"/>
          <p:cNvSpPr/>
          <p:nvPr/>
        </p:nvSpPr>
        <p:spPr>
          <a:xfrm>
            <a:off x="786384" y="1426464"/>
            <a:ext cx="10618927" cy="10973"/>
          </a:xfrm>
          <a:prstGeom prst="rect">
            <a:avLst/>
          </a:prstGeom>
          <a:solidFill>
            <a:srgbClr val="D5D1CA"/>
          </a:solidFill>
          <a:ln/>
        </p:spPr>
      </p:sp>
      <p:sp>
        <p:nvSpPr>
          <p:cNvPr id="8" name="Text 6"/>
          <p:cNvSpPr/>
          <p:nvPr/>
        </p:nvSpPr>
        <p:spPr>
          <a:xfrm>
            <a:off x="786384" y="1554480"/>
            <a:ext cx="8821674" cy="694944"/>
          </a:xfrm>
          <a:prstGeom prst="rect">
            <a:avLst/>
          </a:prstGeom>
          <a:noFill/>
          <a:ln/>
        </p:spPr>
        <p:txBody>
          <a:bodyPr wrap="square" lIns="0" tIns="0" rIns="0" bIns="0" rtlCol="0" anchor="ctr"/>
          <a:lstStyle/>
          <a:p>
            <a:pPr indent="0" marL="0">
              <a:lnSpc>
                <a:spcPts val="2200"/>
              </a:lnSpc>
              <a:buNone/>
            </a:pPr>
            <a:r>
              <a:rPr lang="en-US" sz="1750" dirty="0">
                <a:solidFill>
                  <a:srgbClr val="6E6A63"/>
                </a:solidFill>
                <a:latin typeface="Arial" pitchFamily="34" charset="0"/>
                <a:ea typeface="Arial" pitchFamily="34" charset="-122"/>
                <a:cs typeface="Arial" pitchFamily="34" charset="-120"/>
              </a:rPr>
              <a:t>Patterns we noticed, not rules. Your corpus may reward something different, which is why you compare descriptions with the team next to you.</a:t>
            </a:r>
            <a:endParaRPr lang="en-US" sz="1750" dirty="0"/>
          </a:p>
        </p:txBody>
      </p:sp>
      <p:sp>
        <p:nvSpPr>
          <p:cNvPr id="9" name="Text 7"/>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16</a:t>
            </a:r>
            <a:endParaRPr lang="en-US" sz="1200" dirty="0"/>
          </a:p>
        </p:txBody>
      </p:sp>
      <p:sp>
        <p:nvSpPr>
          <p:cNvPr id="10" name="Shape 8"/>
          <p:cNvSpPr/>
          <p:nvPr/>
        </p:nvSpPr>
        <p:spPr>
          <a:xfrm>
            <a:off x="786384" y="2422329"/>
            <a:ext cx="5227168" cy="2309802"/>
          </a:xfrm>
          <a:prstGeom prst="rect">
            <a:avLst/>
          </a:prstGeom>
          <a:solidFill>
            <a:srgbClr val="F7E6E0"/>
          </a:solidFill>
          <a:ln/>
        </p:spPr>
      </p:sp>
      <p:sp>
        <p:nvSpPr>
          <p:cNvPr id="11" name="Shape 9"/>
          <p:cNvSpPr/>
          <p:nvPr/>
        </p:nvSpPr>
        <p:spPr>
          <a:xfrm>
            <a:off x="1024128" y="2669715"/>
            <a:ext cx="4751680" cy="24739"/>
          </a:xfrm>
          <a:prstGeom prst="rect">
            <a:avLst/>
          </a:prstGeom>
          <a:solidFill>
            <a:srgbClr val="C0402A"/>
          </a:solidFill>
          <a:ln/>
        </p:spPr>
      </p:sp>
      <p:sp>
        <p:nvSpPr>
          <p:cNvPr id="12" name="Text 10"/>
          <p:cNvSpPr/>
          <p:nvPr/>
        </p:nvSpPr>
        <p:spPr>
          <a:xfrm>
            <a:off x="1024128" y="2834640"/>
            <a:ext cx="4751680" cy="387973"/>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Tended to help</a:t>
            </a:r>
            <a:endParaRPr lang="en-US" sz="1950" dirty="0"/>
          </a:p>
        </p:txBody>
      </p:sp>
      <p:sp>
        <p:nvSpPr>
          <p:cNvPr id="13" name="Text 11"/>
          <p:cNvSpPr/>
          <p:nvPr/>
        </p:nvSpPr>
        <p:spPr>
          <a:xfrm>
            <a:off x="1024128" y="3305076"/>
            <a:ext cx="4751680" cy="1282746"/>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Asking for counts in so many words.</a:t>
            </a: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Saying "copy the text exactly".</a:t>
            </a: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Naming the room or area.</a:t>
            </a: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Saying what to do when something is unreadable.</a:t>
            </a:r>
            <a:endParaRPr lang="en-US" sz="1450" dirty="0"/>
          </a:p>
        </p:txBody>
      </p:sp>
      <p:sp>
        <p:nvSpPr>
          <p:cNvPr id="14" name="Shape 12"/>
          <p:cNvSpPr/>
          <p:nvPr/>
        </p:nvSpPr>
        <p:spPr>
          <a:xfrm>
            <a:off x="6178144" y="2422329"/>
            <a:ext cx="5227168" cy="18554"/>
          </a:xfrm>
          <a:prstGeom prst="rect">
            <a:avLst/>
          </a:prstGeom>
          <a:solidFill>
            <a:srgbClr val="141414"/>
          </a:solidFill>
          <a:ln/>
        </p:spPr>
      </p:sp>
      <p:sp>
        <p:nvSpPr>
          <p:cNvPr id="15" name="Text 13"/>
          <p:cNvSpPr/>
          <p:nvPr/>
        </p:nvSpPr>
        <p:spPr>
          <a:xfrm>
            <a:off x="6178144" y="2587253"/>
            <a:ext cx="5227168" cy="387973"/>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Tended not to</a:t>
            </a:r>
            <a:endParaRPr lang="en-US" sz="1950" dirty="0"/>
          </a:p>
        </p:txBody>
      </p:sp>
      <p:sp>
        <p:nvSpPr>
          <p:cNvPr id="16" name="Text 14"/>
          <p:cNvSpPr/>
          <p:nvPr/>
        </p:nvSpPr>
        <p:spPr>
          <a:xfrm>
            <a:off x="6178144" y="3057689"/>
            <a:ext cx="5227168" cy="1282746"/>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"Describe this image."</a:t>
            </a: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Asking for a summary or a caption.</a:t>
            </a: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Not mentioning text at all.</a:t>
            </a: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Leaving the model to decide what mattered.</a:t>
            </a:r>
            <a:endParaRPr lang="en-US" sz="1450" dirty="0"/>
          </a:p>
        </p:txBody>
      </p:sp>
      <p:sp>
        <p:nvSpPr>
          <p:cNvPr id="17" name="Text 15"/>
          <p:cNvSpPr/>
          <p:nvPr/>
        </p:nvSpPr>
        <p:spPr>
          <a:xfrm>
            <a:off x="786384" y="4813734"/>
            <a:ext cx="10087981" cy="721545"/>
          </a:xfrm>
          <a:prstGeom prst="rect">
            <a:avLst/>
          </a:prstGeom>
          <a:noFill/>
          <a:ln/>
        </p:spPr>
        <p:txBody>
          <a:bodyPr wrap="square" lIns="0" tIns="0" rIns="0" bIns="0" rtlCol="0" anchor="ctr"/>
          <a:lstStyle/>
          <a:p>
            <a:pPr indent="0" marL="0">
              <a:lnSpc>
                <a:spcPts val="2300"/>
              </a:lnSpc>
              <a:buNone/>
            </a:pPr>
            <a:r>
              <a:rPr lang="en-US" sz="1550" dirty="0">
                <a:solidFill>
                  <a:srgbClr val="141414"/>
                </a:solidFill>
                <a:latin typeface="Arial" pitchFamily="34" charset="0"/>
                <a:ea typeface="Arial" pitchFamily="34" charset="-122"/>
                <a:cs typeface="Arial" pitchFamily="34" charset="-120"/>
              </a:rPr>
              <a:t>The pattern underneath: the model writes about whatever you name, and skips whatever you do not. That much has held every time. The specific wording is yours to find.</a:t>
            </a:r>
            <a:endParaRPr lang="en-US" sz="1550" dirty="0"/>
          </a:p>
        </p:txBody>
      </p:sp>
      <p:sp>
        <p:nvSpPr>
          <p:cNvPr id="18" name="Text 16"/>
          <p:cNvSpPr/>
          <p:nvPr/>
        </p:nvSpPr>
        <p:spPr>
          <a:xfrm>
            <a:off x="786384" y="5617741"/>
            <a:ext cx="10087981" cy="618467"/>
          </a:xfrm>
          <a:prstGeom prst="rect">
            <a:avLst/>
          </a:prstGeom>
          <a:noFill/>
          <a:ln/>
        </p:spPr>
        <p:txBody>
          <a:bodyPr wrap="square" lIns="0" tIns="0" rIns="0" bIns="0" rtlCol="0" anchor="ctr"/>
          <a:lstStyle/>
          <a:p>
            <a:pPr indent="0" marL="0">
              <a:lnSpc>
                <a:spcPts val="2200"/>
              </a:lnSpc>
              <a:buNone/>
            </a:pPr>
            <a:r>
              <a:rPr lang="en-US" sz="1500" dirty="0">
                <a:solidFill>
                  <a:srgbClr val="6E6A63"/>
                </a:solidFill>
                <a:latin typeface="Arial" pitchFamily="34" charset="0"/>
                <a:ea typeface="Arial" pitchFamily="34" charset="-122"/>
                <a:cs typeface="Arial" pitchFamily="34" charset="-120"/>
              </a:rPr>
              <a:t>Swap instructions with the team next to you and run theirs on your five images. Which questions do their descriptions answer that yours miss?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Advanced Description Techniques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17</a:t>
            </a:r>
            <a:endParaRPr lang="en-US" sz="1200" dirty="0"/>
          </a:p>
        </p:txBody>
      </p:sp>
      <p:sp>
        <p:nvSpPr>
          <p:cNvPr id="201" name="Vis 201"/>
          <p:cNvSpPr/>
          <p:nvPr/>
        </p:nvSpPr>
        <p:spPr>
          <a:xfrm>
            <a:off x="786384" y="1572768"/>
            <a:ext cx="10616184" cy="365760"/>
          </a:xfrm>
          <a:prstGeom prst="rect">
            <a:avLst/>
          </a:prstGeom>
          <a:noFill/>
          <a:ln>
            <a:noFill/>
          </a:ln>
        </p:spPr>
        <p:txBody>
          <a:bodyPr wrap="square" lIns="0" tIns="0" rIns="0" bIns="0" anchor="t">
            <a:noAutofit/>
          </a:bodyPr>
          <a:lstStyle/>
          <a:p>
            <a:pPr algn="l" indent="0" marL="0">
              <a:buNone/>
            </a:pPr>
            <a:r>
              <a:rPr lang="en-US" sz="1400" dirty="0">
                <a:solidFill>
                  <a:srgbClr val="6E6A63"/>
                </a:solidFill>
                <a:latin typeface="Arial"/>
                <a:ea typeface="Arial"/>
                <a:cs typeface="Arial"/>
                <a:sym typeface="Arial"/>
              </a:rPr>
              <a:t>Not needed to score on Lv3. Worth trying once your basic prompt works.</a:t>
            </a:r>
          </a:p>
        </p:txBody>
      </p:sp>
      <p:sp>
        <p:nvSpPr>
          <p:cNvPr id="202" name="Vis 202"/>
          <p:cNvSpPr/>
          <p:nvPr/>
        </p:nvSpPr>
        <p:spPr>
          <a:xfrm>
            <a:off x="786384" y="2057400"/>
            <a:ext cx="3392424" cy="13716"/>
          </a:xfrm>
          <a:prstGeom prst="rect">
            <a:avLst/>
          </a:prstGeom>
          <a:solidFill>
            <a:srgbClr val="D5D1CA"/>
          </a:solidFill>
          <a:ln>
            <a:noFill/>
          </a:ln>
        </p:spPr>
      </p:sp>
      <p:sp>
        <p:nvSpPr>
          <p:cNvPr id="203" name="Vis 203"/>
          <p:cNvSpPr/>
          <p:nvPr/>
        </p:nvSpPr>
        <p:spPr>
          <a:xfrm>
            <a:off x="786384" y="2130552"/>
            <a:ext cx="3392424" cy="329184"/>
          </a:xfrm>
          <a:prstGeom prst="rect">
            <a:avLst/>
          </a:prstGeom>
          <a:noFill/>
          <a:ln>
            <a:noFill/>
          </a:ln>
        </p:spPr>
        <p:txBody>
          <a:bodyPr wrap="square" lIns="0" tIns="0" rIns="0" bIns="0" anchor="t">
            <a:noAutofit/>
          </a:bodyPr>
          <a:lstStyle/>
          <a:p>
            <a:pPr algn="l" indent="0" marL="0">
              <a:buNone/>
            </a:pPr>
            <a:r>
              <a:rPr lang="en-US" sz="1400" b="1" dirty="0">
                <a:solidFill>
                  <a:srgbClr val="141414"/>
                </a:solidFill>
                <a:latin typeface="Arial"/>
                <a:ea typeface="Arial"/>
                <a:cs typeface="Arial"/>
                <a:sym typeface="Arial"/>
              </a:rPr>
              <a:t>Two prompts per image</a:t>
            </a:r>
          </a:p>
        </p:txBody>
      </p:sp>
      <p:sp>
        <p:nvSpPr>
          <p:cNvPr id="204" name="Vis 204"/>
          <p:cNvSpPr/>
          <p:nvPr/>
        </p:nvSpPr>
        <p:spPr>
          <a:xfrm>
            <a:off x="4398264" y="2057400"/>
            <a:ext cx="3392424" cy="13716"/>
          </a:xfrm>
          <a:prstGeom prst="rect">
            <a:avLst/>
          </a:prstGeom>
          <a:solidFill>
            <a:srgbClr val="D5D1CA"/>
          </a:solidFill>
          <a:ln>
            <a:noFill/>
          </a:ln>
        </p:spPr>
      </p:sp>
      <p:sp>
        <p:nvSpPr>
          <p:cNvPr id="205" name="Vis 205"/>
          <p:cNvSpPr/>
          <p:nvPr/>
        </p:nvSpPr>
        <p:spPr>
          <a:xfrm>
            <a:off x="4398264" y="2130552"/>
            <a:ext cx="3392424" cy="329184"/>
          </a:xfrm>
          <a:prstGeom prst="rect">
            <a:avLst/>
          </a:prstGeom>
          <a:noFill/>
          <a:ln>
            <a:noFill/>
          </a:ln>
        </p:spPr>
        <p:txBody>
          <a:bodyPr wrap="square" lIns="0" tIns="0" rIns="0" bIns="0" anchor="t">
            <a:noAutofit/>
          </a:bodyPr>
          <a:lstStyle/>
          <a:p>
            <a:pPr algn="l" indent="0" marL="0">
              <a:buNone/>
            </a:pPr>
            <a:r>
              <a:rPr lang="en-US" sz="1400" b="1" dirty="0">
                <a:solidFill>
                  <a:srgbClr val="141414"/>
                </a:solidFill>
                <a:latin typeface="Arial"/>
                <a:ea typeface="Arial"/>
                <a:cs typeface="Arial"/>
                <a:sym typeface="Arial"/>
              </a:rPr>
              <a:t>Split large images</a:t>
            </a:r>
          </a:p>
        </p:txBody>
      </p:sp>
      <p:sp>
        <p:nvSpPr>
          <p:cNvPr id="206" name="Vis 206"/>
          <p:cNvSpPr/>
          <p:nvPr/>
        </p:nvSpPr>
        <p:spPr>
          <a:xfrm>
            <a:off x="8010144" y="2057400"/>
            <a:ext cx="3392424" cy="13716"/>
          </a:xfrm>
          <a:prstGeom prst="rect">
            <a:avLst/>
          </a:prstGeom>
          <a:solidFill>
            <a:srgbClr val="D5D1CA"/>
          </a:solidFill>
          <a:ln>
            <a:noFill/>
          </a:ln>
        </p:spPr>
      </p:sp>
      <p:sp>
        <p:nvSpPr>
          <p:cNvPr id="207" name="Vis 207"/>
          <p:cNvSpPr/>
          <p:nvPr/>
        </p:nvSpPr>
        <p:spPr>
          <a:xfrm>
            <a:off x="8010144" y="2130552"/>
            <a:ext cx="3392424" cy="329184"/>
          </a:xfrm>
          <a:prstGeom prst="rect">
            <a:avLst/>
          </a:prstGeom>
          <a:noFill/>
          <a:ln>
            <a:noFill/>
          </a:ln>
        </p:spPr>
        <p:txBody>
          <a:bodyPr wrap="square" lIns="0" tIns="0" rIns="0" bIns="0" anchor="t">
            <a:noAutofit/>
          </a:bodyPr>
          <a:lstStyle/>
          <a:p>
            <a:pPr algn="l" indent="0" marL="0">
              <a:buNone/>
            </a:pPr>
            <a:r>
              <a:rPr lang="en-US" sz="1400" b="1" dirty="0">
                <a:solidFill>
                  <a:srgbClr val="141414"/>
                </a:solidFill>
                <a:latin typeface="Arial"/>
                <a:ea typeface="Arial"/>
                <a:cs typeface="Arial"/>
                <a:sym typeface="Arial"/>
              </a:rPr>
              <a:t>Cache the results</a:t>
            </a:r>
          </a:p>
        </p:txBody>
      </p:sp>
      <p:pic>
        <p:nvPicPr>
          <p:cNvPr id="208" name="Picture 208" descr="brainstorm_43.jpg"/>
          <p:cNvPicPr>
            <a:picLocks noChangeAspect="1"/>
          </p:cNvPicPr>
          <p:nvPr/>
        </p:nvPicPr>
        <p:blipFill>
          <a:blip r:embed="rId3"/>
          <a:srcRect l="33970" t="0" r="27794" b="0"/>
          <a:stretch>
            <a:fillRect/>
          </a:stretch>
        </p:blipFill>
        <p:spPr>
          <a:xfrm>
            <a:off x="786384" y="2560320"/>
            <a:ext cx="1188720" cy="2331720"/>
          </a:xfrm>
          <a:prstGeom prst="rect">
            <a:avLst/>
          </a:prstGeom>
        </p:spPr>
      </p:pic>
      <p:cxnSp>
        <p:nvCxnSpPr>
          <p:cNvPr id="209" name="Line 209"/>
          <p:cNvCxnSpPr/>
          <p:nvPr/>
        </p:nvCxnSpPr>
        <p:spPr>
          <a:xfrm flipV="1">
            <a:off x="1975104" y="3143250"/>
            <a:ext cx="182880" cy="582930"/>
          </a:xfrm>
          <a:prstGeom prst="straightConnector1">
            <a:avLst/>
          </a:prstGeom>
          <a:ln w="15875">
            <a:solidFill>
              <a:srgbClr val="9C978E"/>
            </a:solidFill>
            <a:tailEnd type="triangle" w="med" len="med"/>
          </a:ln>
        </p:spPr>
      </p:cxnSp>
      <p:sp>
        <p:nvSpPr>
          <p:cNvPr id="210" name="Vis 210"/>
          <p:cNvSpPr/>
          <p:nvPr/>
        </p:nvSpPr>
        <p:spPr>
          <a:xfrm>
            <a:off x="2203704" y="2560320"/>
            <a:ext cx="1975104" cy="1129284"/>
          </a:xfrm>
          <a:prstGeom prst="rect">
            <a:avLst/>
          </a:prstGeom>
          <a:solidFill>
            <a:srgbClr val="F2EFEA"/>
          </a:solidFill>
          <a:ln>
            <a:noFill/>
          </a:ln>
        </p:spPr>
      </p:sp>
      <p:sp>
        <p:nvSpPr>
          <p:cNvPr id="211" name="Vis 211"/>
          <p:cNvSpPr/>
          <p:nvPr/>
        </p:nvSpPr>
        <p:spPr>
          <a:xfrm>
            <a:off x="2313432" y="2633472"/>
            <a:ext cx="1792224" cy="1028700"/>
          </a:xfrm>
          <a:prstGeom prst="rect">
            <a:avLst/>
          </a:prstGeom>
          <a:noFill/>
          <a:ln>
            <a:noFill/>
          </a:ln>
        </p:spPr>
        <p:txBody>
          <a:bodyPr wrap="square" lIns="0" tIns="0" rIns="0" bIns="0" anchor="t">
            <a:noAutofit/>
          </a:bodyPr>
          <a:lstStyle/>
          <a:p>
            <a:pPr algn="l" indent="0" marL="0">
              <a:spcAft>
                <a:spcPts val="300"/>
              </a:spcAft>
              <a:buNone/>
            </a:pPr>
            <a:r>
              <a:rPr lang="en-US" sz="950" b="1" dirty="0">
                <a:solidFill>
                  <a:srgbClr val="C0402A"/>
                </a:solidFill>
                <a:latin typeface="Arial"/>
                <a:ea typeface="Arial"/>
                <a:cs typeface="Arial"/>
                <a:sym typeface="Arial"/>
              </a:rPr>
              <a:t>prompt: objects and layout</a:t>
            </a:r>
          </a:p>
          <a:p>
            <a:pPr algn="l" indent="0" marL="0">
              <a:lnSpc>
                <a:spcPts val="1250"/>
              </a:lnSpc>
              <a:buNone/>
            </a:pPr>
            <a:r>
              <a:rPr lang="en-US" sz="1000" dirty="0">
                <a:solidFill>
                  <a:srgbClr val="2A2724"/>
                </a:solidFill>
                <a:latin typeface="Courier New"/>
                <a:ea typeface="Courier New"/>
                <a:cs typeface="Courier New"/>
                <a:sym typeface="Courier New"/>
              </a:rPr>
              <a:t>3 cushions on the bench; glass doors to the right</a:t>
            </a:r>
          </a:p>
        </p:txBody>
      </p:sp>
      <p:cxnSp>
        <p:nvCxnSpPr>
          <p:cNvPr id="212" name="Line 212"/>
          <p:cNvCxnSpPr/>
          <p:nvPr/>
        </p:nvCxnSpPr>
        <p:spPr>
          <a:xfrm>
            <a:off x="1975104" y="3726180"/>
            <a:ext cx="182880" cy="619506"/>
          </a:xfrm>
          <a:prstGeom prst="straightConnector1">
            <a:avLst/>
          </a:prstGeom>
          <a:ln w="15875">
            <a:solidFill>
              <a:srgbClr val="9C978E"/>
            </a:solidFill>
            <a:tailEnd type="triangle" w="med" len="med"/>
          </a:ln>
        </p:spPr>
      </p:cxnSp>
      <p:sp>
        <p:nvSpPr>
          <p:cNvPr id="213" name="Vis 213"/>
          <p:cNvSpPr/>
          <p:nvPr/>
        </p:nvSpPr>
        <p:spPr>
          <a:xfrm>
            <a:off x="2203704" y="3762756"/>
            <a:ext cx="1975104" cy="1129284"/>
          </a:xfrm>
          <a:prstGeom prst="rect">
            <a:avLst/>
          </a:prstGeom>
          <a:solidFill>
            <a:srgbClr val="F2EFEA"/>
          </a:solidFill>
          <a:ln>
            <a:noFill/>
          </a:ln>
        </p:spPr>
      </p:sp>
      <p:sp>
        <p:nvSpPr>
          <p:cNvPr id="214" name="Vis 214"/>
          <p:cNvSpPr/>
          <p:nvPr/>
        </p:nvSpPr>
        <p:spPr>
          <a:xfrm>
            <a:off x="2313432" y="3835908"/>
            <a:ext cx="1792224" cy="1028700"/>
          </a:xfrm>
          <a:prstGeom prst="rect">
            <a:avLst/>
          </a:prstGeom>
          <a:noFill/>
          <a:ln>
            <a:noFill/>
          </a:ln>
        </p:spPr>
        <p:txBody>
          <a:bodyPr wrap="square" lIns="0" tIns="0" rIns="0" bIns="0" anchor="t">
            <a:noAutofit/>
          </a:bodyPr>
          <a:lstStyle/>
          <a:p>
            <a:pPr algn="l" indent="0" marL="0">
              <a:spcAft>
                <a:spcPts val="300"/>
              </a:spcAft>
              <a:buNone/>
            </a:pPr>
            <a:r>
              <a:rPr lang="en-US" sz="950" b="1" dirty="0">
                <a:solidFill>
                  <a:srgbClr val="C0402A"/>
                </a:solidFill>
                <a:latin typeface="Arial"/>
                <a:ea typeface="Arial"/>
                <a:cs typeface="Arial"/>
                <a:sym typeface="Arial"/>
              </a:rPr>
              <a:t>prompt: text only</a:t>
            </a:r>
          </a:p>
          <a:p>
            <a:pPr algn="l" indent="0" marL="0">
              <a:lnSpc>
                <a:spcPts val="1250"/>
              </a:lnSpc>
              <a:buNone/>
            </a:pPr>
            <a:r>
              <a:rPr lang="en-US" sz="1000" dirty="0">
                <a:solidFill>
                  <a:srgbClr val="2A2724"/>
                </a:solidFill>
                <a:latin typeface="Courier New"/>
                <a:ea typeface="Courier New"/>
                <a:cs typeface="Courier New"/>
                <a:sym typeface="Courier New"/>
              </a:rPr>
              <a:t>ENGINEERING INNOVATION  /  NOTICE</a:t>
            </a:r>
          </a:p>
        </p:txBody>
      </p:sp>
      <p:pic>
        <p:nvPicPr>
          <p:cNvPr id="215" name="Picture 215" descr="mclose_43.jpg"/>
          <p:cNvPicPr>
            <a:picLocks noChangeAspect="1"/>
          </p:cNvPicPr>
          <p:nvPr/>
        </p:nvPicPr>
        <p:blipFill>
          <a:blip r:embed="rId4"/>
          <a:srcRect l="0" t="2924" r="0" b="5431"/>
          <a:stretch>
            <a:fillRect/>
          </a:stretch>
        </p:blipFill>
        <p:spPr>
          <a:xfrm>
            <a:off x="4398264" y="2560320"/>
            <a:ext cx="3392424" cy="2331720"/>
          </a:xfrm>
          <a:prstGeom prst="rect">
            <a:avLst/>
          </a:prstGeom>
        </p:spPr>
      </p:pic>
      <p:sp>
        <p:nvSpPr>
          <p:cNvPr id="216" name="Vis 216"/>
          <p:cNvSpPr/>
          <p:nvPr/>
        </p:nvSpPr>
        <p:spPr>
          <a:xfrm>
            <a:off x="4425696" y="2587752"/>
            <a:ext cx="1912742" cy="1297534"/>
          </a:xfrm>
          <a:prstGeom prst="rect">
            <a:avLst/>
          </a:prstGeom>
          <a:noFill/>
          <a:ln w="25400">
            <a:solidFill>
              <a:srgbClr val="FFFFFF"/>
            </a:solidFill>
            <a:prstDash val="dash"/>
          </a:ln>
        </p:spPr>
      </p:sp>
      <p:sp>
        <p:nvSpPr>
          <p:cNvPr id="217" name="Vis 217"/>
          <p:cNvSpPr/>
          <p:nvPr/>
        </p:nvSpPr>
        <p:spPr>
          <a:xfrm>
            <a:off x="5850514" y="2587752"/>
            <a:ext cx="1912742" cy="1297534"/>
          </a:xfrm>
          <a:prstGeom prst="rect">
            <a:avLst/>
          </a:prstGeom>
          <a:noFill/>
          <a:ln w="25400">
            <a:solidFill>
              <a:srgbClr val="FFFFFF"/>
            </a:solidFill>
            <a:prstDash val="dash"/>
          </a:ln>
        </p:spPr>
      </p:sp>
      <p:sp>
        <p:nvSpPr>
          <p:cNvPr id="218" name="Vis 218"/>
          <p:cNvSpPr/>
          <p:nvPr/>
        </p:nvSpPr>
        <p:spPr>
          <a:xfrm>
            <a:off x="4425696" y="3567074"/>
            <a:ext cx="1912742" cy="1297534"/>
          </a:xfrm>
          <a:prstGeom prst="rect">
            <a:avLst/>
          </a:prstGeom>
          <a:noFill/>
          <a:ln w="25400">
            <a:solidFill>
              <a:srgbClr val="FFFFFF"/>
            </a:solidFill>
            <a:prstDash val="dash"/>
          </a:ln>
        </p:spPr>
      </p:sp>
      <p:sp>
        <p:nvSpPr>
          <p:cNvPr id="219" name="Vis 219"/>
          <p:cNvSpPr/>
          <p:nvPr/>
        </p:nvSpPr>
        <p:spPr>
          <a:xfrm>
            <a:off x="5850514" y="3567074"/>
            <a:ext cx="1912742" cy="1297534"/>
          </a:xfrm>
          <a:prstGeom prst="rect">
            <a:avLst/>
          </a:prstGeom>
          <a:noFill/>
          <a:ln w="25400">
            <a:solidFill>
              <a:srgbClr val="FFFFFF"/>
            </a:solidFill>
            <a:prstDash val="dash"/>
          </a:ln>
        </p:spPr>
      </p:sp>
      <p:sp>
        <p:nvSpPr>
          <p:cNvPr id="220" name="Vis 220"/>
          <p:cNvSpPr/>
          <p:nvPr/>
        </p:nvSpPr>
        <p:spPr>
          <a:xfrm>
            <a:off x="5850514" y="2587752"/>
            <a:ext cx="1912742" cy="1297534"/>
          </a:xfrm>
          <a:prstGeom prst="rect">
            <a:avLst/>
          </a:prstGeom>
          <a:noFill/>
          <a:ln w="31750">
            <a:solidFill>
              <a:srgbClr val="C0402A"/>
            </a:solidFill>
          </a:ln>
        </p:spPr>
      </p:sp>
      <p:sp>
        <p:nvSpPr>
          <p:cNvPr id="221" name="Vis 221"/>
          <p:cNvSpPr/>
          <p:nvPr/>
        </p:nvSpPr>
        <p:spPr>
          <a:xfrm>
            <a:off x="8010144" y="2560320"/>
            <a:ext cx="3392424" cy="2331720"/>
          </a:xfrm>
          <a:prstGeom prst="rect">
            <a:avLst/>
          </a:prstGeom>
          <a:solidFill>
            <a:srgbClr val="F2EFEA"/>
          </a:solidFill>
          <a:ln>
            <a:noFill/>
          </a:ln>
        </p:spPr>
      </p:sp>
      <p:sp>
        <p:nvSpPr>
          <p:cNvPr id="222" name="Vis 222"/>
          <p:cNvSpPr/>
          <p:nvPr/>
        </p:nvSpPr>
        <p:spPr>
          <a:xfrm>
            <a:off x="8211312" y="2706624"/>
            <a:ext cx="3044952" cy="2093976"/>
          </a:xfrm>
          <a:prstGeom prst="rect">
            <a:avLst/>
          </a:prstGeom>
          <a:noFill/>
          <a:ln>
            <a:noFill/>
          </a:ln>
        </p:spPr>
        <p:txBody>
          <a:bodyPr wrap="square" lIns="0" tIns="0" rIns="0" bIns="0" anchor="t">
            <a:noAutofit/>
          </a:bodyPr>
          <a:lstStyle/>
          <a:p>
            <a:pPr algn="l" indent="0" marL="0">
              <a:lnSpc>
                <a:spcPts val="1450"/>
              </a:lnSpc>
              <a:buNone/>
            </a:pPr>
            <a:r>
              <a:rPr lang="en-US" sz="900" dirty="0">
                <a:solidFill>
                  <a:srgbClr val="6E6A63"/>
                </a:solidFill>
                <a:latin typeface="Courier New"/>
                <a:ea typeface="Courier New"/>
                <a:cs typeface="Courier New"/>
                <a:sym typeface="Courier New"/>
              </a:rPr>
              <a:t>build/images.py  describe_all()</a:t>
            </a:r>
          </a:p>
          <a:p>
            <a:pPr algn="l" indent="0" marL="0">
              <a:lnSpc>
                <a:spcPts val="1450"/>
              </a:lnSpc>
              <a:buNone/>
            </a:pPr>
            <a:r>
              <a:rPr lang="en-US" sz="500" dirty="0">
                <a:solidFill>
                  <a:srgbClr val="2A2724"/>
                </a:solidFill>
                <a:latin typeface="Courier New"/>
                <a:ea typeface="Courier New"/>
                <a:cs typeface="Courier New"/>
                <a:sym typeface="Courier New"/>
              </a:rPr>
              <a:t/>
            </a:r>
          </a:p>
          <a:p>
            <a:pPr algn="l" indent="0" marL="0">
              <a:lnSpc>
                <a:spcPts val="1450"/>
              </a:lnSpc>
              <a:buNone/>
            </a:pPr>
            <a:r>
              <a:rPr lang="en-US" sz="1000" dirty="0">
                <a:solidFill>
                  <a:srgbClr val="2A2724"/>
                </a:solidFill>
                <a:latin typeface="Courier New"/>
                <a:ea typeface="Courier New"/>
                <a:cs typeface="Courier New"/>
                <a:sym typeface="Courier New"/>
              </a:rPr>
              <a:t>for im in images:</a:t>
            </a:r>
          </a:p>
          <a:p>
            <a:pPr algn="l" indent="0" marL="0">
              <a:lnSpc>
                <a:spcPts val="1450"/>
              </a:lnSpc>
              <a:buNone/>
            </a:pPr>
            <a:r>
              <a:rPr lang="en-US" sz="1000" dirty="0">
                <a:solidFill>
                  <a:srgbClr val="2A2724"/>
                </a:solidFill>
                <a:latin typeface="Courier New"/>
                <a:ea typeface="Courier New"/>
                <a:cs typeface="Courier New"/>
                <a:sym typeface="Courier New"/>
              </a:rPr>
              <a:t xml:space="preserve">    src = im["src"]</a:t>
            </a:r>
          </a:p>
          <a:p>
            <a:pPr algn="l" indent="0" marL="0">
              <a:lnSpc>
                <a:spcPts val="1450"/>
              </a:lnSpc>
              <a:buNone/>
            </a:pPr>
            <a:r>
              <a:rPr lang="en-US" sz="1000" b="1" dirty="0">
                <a:solidFill>
                  <a:srgbClr val="C0402A"/>
                </a:solidFill>
                <a:latin typeface="Courier New"/>
                <a:ea typeface="Courier New"/>
                <a:cs typeface="Courier New"/>
                <a:sym typeface="Courier New"/>
              </a:rPr>
              <a:t xml:space="preserve">    if src in cache:</a:t>
            </a:r>
          </a:p>
          <a:p>
            <a:pPr algn="l" indent="0" marL="0">
              <a:lnSpc>
                <a:spcPts val="1450"/>
              </a:lnSpc>
              <a:buNone/>
            </a:pPr>
            <a:r>
              <a:rPr lang="en-US" sz="1000" b="1" dirty="0">
                <a:solidFill>
                  <a:srgbClr val="C0402A"/>
                </a:solidFill>
                <a:latin typeface="Courier New"/>
                <a:ea typeface="Courier New"/>
                <a:cs typeface="Courier New"/>
                <a:sym typeface="Courier New"/>
              </a:rPr>
              <a:t xml:space="preserve">        continue</a:t>
            </a:r>
          </a:p>
          <a:p>
            <a:pPr algn="l" indent="0" marL="0">
              <a:lnSpc>
                <a:spcPts val="1450"/>
              </a:lnSpc>
              <a:buNone/>
            </a:pPr>
            <a:r>
              <a:rPr lang="en-US" sz="1000" dirty="0">
                <a:solidFill>
                  <a:srgbClr val="2A2724"/>
                </a:solidFill>
                <a:latin typeface="Courier New"/>
                <a:ea typeface="Courier New"/>
                <a:cs typeface="Courier New"/>
                <a:sym typeface="Courier New"/>
              </a:rPr>
              <a:t xml:space="preserve">    cache[src] = describe_image(</a:t>
            </a:r>
          </a:p>
          <a:p>
            <a:pPr algn="l" indent="0" marL="0">
              <a:lnSpc>
                <a:spcPts val="1450"/>
              </a:lnSpc>
              <a:buNone/>
            </a:pPr>
            <a:r>
              <a:rPr lang="en-US" sz="1000" dirty="0">
                <a:solidFill>
                  <a:srgbClr val="2A2724"/>
                </a:solidFill>
                <a:latin typeface="Courier New"/>
                <a:ea typeface="Courier New"/>
                <a:cs typeface="Courier New"/>
                <a:sym typeface="Courier New"/>
              </a:rPr>
              <a:t xml:space="preserve">        tmp, DESCRIPTION_PROMPT)</a:t>
            </a:r>
          </a:p>
        </p:txBody>
      </p:sp>
      <p:sp>
        <p:nvSpPr>
          <p:cNvPr id="223" name="Vis 223"/>
          <p:cNvSpPr/>
          <p:nvPr/>
        </p:nvSpPr>
        <p:spPr>
          <a:xfrm>
            <a:off x="786384" y="5029200"/>
            <a:ext cx="3392424" cy="822960"/>
          </a:xfrm>
          <a:prstGeom prst="rect">
            <a:avLst/>
          </a:prstGeom>
          <a:noFill/>
          <a:ln>
            <a:noFill/>
          </a:ln>
        </p:spPr>
        <p:txBody>
          <a:bodyPr wrap="square" lIns="0" tIns="0" rIns="0" bIns="0" anchor="t">
            <a:noAutofit/>
          </a:bodyPr>
          <a:lstStyle/>
          <a:p>
            <a:pPr algn="l" indent="0" marL="0">
              <a:lnSpc>
                <a:spcPts val="1450"/>
              </a:lnSpc>
              <a:buNone/>
            </a:pPr>
            <a:r>
              <a:rPr lang="en-US" sz="1100" dirty="0">
                <a:solidFill>
                  <a:srgbClr val="2A2724"/>
                </a:solidFill>
                <a:latin typeface="Arial"/>
                <a:ea typeface="Arial"/>
                <a:cs typeface="Arial"/>
                <a:sym typeface="Arial"/>
              </a:rPr>
              <a:t>Two focused passes beat one that asks for everything. The model attends to what the prompt emphasises.</a:t>
            </a:r>
          </a:p>
        </p:txBody>
      </p:sp>
      <p:sp>
        <p:nvSpPr>
          <p:cNvPr id="224" name="Vis 224"/>
          <p:cNvSpPr/>
          <p:nvPr/>
        </p:nvSpPr>
        <p:spPr>
          <a:xfrm>
            <a:off x="4398264" y="5029200"/>
            <a:ext cx="3392424" cy="822960"/>
          </a:xfrm>
          <a:prstGeom prst="rect">
            <a:avLst/>
          </a:prstGeom>
          <a:noFill/>
          <a:ln>
            <a:noFill/>
          </a:ln>
        </p:spPr>
        <p:txBody>
          <a:bodyPr wrap="square" lIns="0" tIns="0" rIns="0" bIns="0" anchor="t">
            <a:noAutofit/>
          </a:bodyPr>
          <a:lstStyle/>
          <a:p>
            <a:pPr algn="l" indent="0" marL="0">
              <a:lnSpc>
                <a:spcPts val="1450"/>
              </a:lnSpc>
              <a:buNone/>
            </a:pPr>
            <a:r>
              <a:rPr lang="en-US" sz="1100" dirty="0">
                <a:solidFill>
                  <a:srgbClr val="2A2724"/>
                </a:solidFill>
                <a:latin typeface="Arial"/>
                <a:ea typeface="Arial"/>
                <a:cs typeface="Arial"/>
                <a:sym typeface="Arial"/>
              </a:rPr>
              <a:t>A big screen or poster loses its small print when shrunk. Cut the photo into overlapping tiles and describe each one.</a:t>
            </a:r>
          </a:p>
        </p:txBody>
      </p:sp>
      <p:sp>
        <p:nvSpPr>
          <p:cNvPr id="225" name="Vis 225"/>
          <p:cNvSpPr/>
          <p:nvPr/>
        </p:nvSpPr>
        <p:spPr>
          <a:xfrm>
            <a:off x="8010144" y="5029200"/>
            <a:ext cx="3392424" cy="822960"/>
          </a:xfrm>
          <a:prstGeom prst="rect">
            <a:avLst/>
          </a:prstGeom>
          <a:noFill/>
          <a:ln>
            <a:noFill/>
          </a:ln>
        </p:spPr>
        <p:txBody>
          <a:bodyPr wrap="square" lIns="0" tIns="0" rIns="0" bIns="0" anchor="t">
            <a:noAutofit/>
          </a:bodyPr>
          <a:lstStyle/>
          <a:p>
            <a:pPr algn="l" indent="0" marL="0">
              <a:lnSpc>
                <a:spcPts val="1450"/>
              </a:lnSpc>
              <a:buNone/>
            </a:pPr>
            <a:r>
              <a:rPr lang="en-US" sz="1100" dirty="0">
                <a:solidFill>
                  <a:srgbClr val="2A2724"/>
                </a:solidFill>
                <a:latin typeface="Arial"/>
                <a:ea typeface="Arial"/>
                <a:cs typeface="Arial"/>
                <a:sym typeface="Arial"/>
              </a:rPr>
              <a:t>Key the cache by image URL. Change the prompt, clear the cache; change anything else, keep 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0EA"/>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sp>
      <p:sp>
        <p:nvSpPr>
          <p:cNvPr id="4" name="Text 2"/>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Notes on Image Data</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sp>
      <p:sp>
        <p:nvSpPr>
          <p:cNvPr id="6" name="Text 4"/>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7" name="Shape 5"/>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18</a:t>
            </a:r>
            <a:endParaRPr lang="en-US" sz="1200" dirty="0"/>
          </a:p>
        </p:txBody>
      </p:sp>
      <p:sp>
        <p:nvSpPr>
          <p:cNvPr id="9" name="Shape 7"/>
          <p:cNvSpPr/>
          <p:nvPr/>
        </p:nvSpPr>
        <p:spPr>
          <a:xfrm>
            <a:off x="786384" y="1827703"/>
            <a:ext cx="5227168" cy="21726"/>
          </a:xfrm>
          <a:prstGeom prst="rect">
            <a:avLst/>
          </a:prstGeom>
          <a:solidFill>
            <a:srgbClr val="141414"/>
          </a:solidFill>
          <a:ln/>
        </p:spPr>
      </p:sp>
      <p:sp>
        <p:nvSpPr>
          <p:cNvPr id="10" name="Text 8"/>
          <p:cNvSpPr/>
          <p:nvPr/>
        </p:nvSpPr>
        <p:spPr>
          <a:xfrm>
            <a:off x="786384" y="2020824"/>
            <a:ext cx="5227168"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Describe the same image twice</a:t>
            </a:r>
            <a:endParaRPr lang="en-US" sz="1950" dirty="0"/>
          </a:p>
        </p:txBody>
      </p:sp>
      <p:sp>
        <p:nvSpPr>
          <p:cNvPr id="11" name="Text 9"/>
          <p:cNvSpPr/>
          <p:nvPr/>
        </p:nvSpPr>
        <p:spPr>
          <a:xfrm>
            <a:off x="786384" y="2571689"/>
            <a:ext cx="5227168" cy="1468526"/>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Once asking for objects and layout, once asking only for text. The model gives more attention to whatever the prompt emphasises, so two focused passes usually beat one that asks for everything.</a:t>
            </a:r>
            <a:endParaRPr lang="en-US" sz="1400" dirty="0"/>
          </a:p>
        </p:txBody>
      </p:sp>
      <p:sp>
        <p:nvSpPr>
          <p:cNvPr id="12" name="Shape 10"/>
          <p:cNvSpPr/>
          <p:nvPr/>
        </p:nvSpPr>
        <p:spPr>
          <a:xfrm>
            <a:off x="6178144" y="1827703"/>
            <a:ext cx="5227168" cy="2671176"/>
          </a:xfrm>
          <a:prstGeom prst="rect">
            <a:avLst/>
          </a:prstGeom>
          <a:solidFill>
            <a:srgbClr val="F7E6E0"/>
          </a:solidFill>
          <a:ln/>
        </p:spPr>
      </p:sp>
      <p:sp>
        <p:nvSpPr>
          <p:cNvPr id="13" name="Shape 11"/>
          <p:cNvSpPr/>
          <p:nvPr/>
        </p:nvSpPr>
        <p:spPr>
          <a:xfrm>
            <a:off x="6415888" y="2117385"/>
            <a:ext cx="4751680" cy="28968"/>
          </a:xfrm>
          <a:prstGeom prst="rect">
            <a:avLst/>
          </a:prstGeom>
          <a:solidFill>
            <a:srgbClr val="C0402A"/>
          </a:solidFill>
          <a:ln/>
        </p:spPr>
      </p:sp>
      <p:sp>
        <p:nvSpPr>
          <p:cNvPr id="14" name="Text 12"/>
          <p:cNvSpPr/>
          <p:nvPr/>
        </p:nvSpPr>
        <p:spPr>
          <a:xfrm>
            <a:off x="6415888" y="2310506"/>
            <a:ext cx="4751680"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Run OCR alongside</a:t>
            </a:r>
            <a:endParaRPr lang="en-US" sz="1950" dirty="0"/>
          </a:p>
        </p:txBody>
      </p:sp>
      <p:sp>
        <p:nvSpPr>
          <p:cNvPr id="15" name="Text 13"/>
          <p:cNvSpPr/>
          <p:nvPr/>
        </p:nvSpPr>
        <p:spPr>
          <a:xfrm>
            <a:off x="6415888" y="2861371"/>
            <a:ext cx="4751680" cy="1468526"/>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A vision model paraphrases text; an OCR engine transcribes it character by character. For dense signage that difference is the answer. Tesseract or PaddleOCR, both local, both permitted.</a:t>
            </a:r>
            <a:endParaRPr lang="en-US" sz="1400" dirty="0"/>
          </a:p>
        </p:txBody>
      </p:sp>
      <p:sp>
        <p:nvSpPr>
          <p:cNvPr id="16" name="Shape 14"/>
          <p:cNvSpPr/>
          <p:nvPr/>
        </p:nvSpPr>
        <p:spPr>
          <a:xfrm>
            <a:off x="786384" y="4121018"/>
            <a:ext cx="5227168" cy="21726"/>
          </a:xfrm>
          <a:prstGeom prst="rect">
            <a:avLst/>
          </a:prstGeom>
          <a:solidFill>
            <a:srgbClr val="141414"/>
          </a:solidFill>
          <a:ln/>
        </p:spPr>
      </p:sp>
      <p:sp>
        <p:nvSpPr>
          <p:cNvPr id="17" name="Text 15"/>
          <p:cNvSpPr/>
          <p:nvPr/>
        </p:nvSpPr>
        <p:spPr>
          <a:xfrm>
            <a:off x="786384" y="4314139"/>
            <a:ext cx="5227168"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Index alt text regardless</a:t>
            </a:r>
            <a:endParaRPr lang="en-US" sz="1950" dirty="0"/>
          </a:p>
        </p:txBody>
      </p:sp>
      <p:sp>
        <p:nvSpPr>
          <p:cNvPr id="18" name="Text 16"/>
          <p:cNvSpPr/>
          <p:nvPr/>
        </p:nvSpPr>
        <p:spPr>
          <a:xfrm>
            <a:off x="786384" y="4865004"/>
            <a:ext cx="5227168" cy="1116482"/>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Alt attributes and captions are already text and cost nothing to index. Occasionally they contain the answer with no vision model involved at all.</a:t>
            </a:r>
            <a:endParaRPr lang="en-US" sz="1400" dirty="0"/>
          </a:p>
        </p:txBody>
      </p:sp>
      <p:sp>
        <p:nvSpPr>
          <p:cNvPr id="19" name="Shape 17"/>
          <p:cNvSpPr/>
          <p:nvPr/>
        </p:nvSpPr>
        <p:spPr>
          <a:xfrm>
            <a:off x="6178144" y="4121018"/>
            <a:ext cx="5227168" cy="21726"/>
          </a:xfrm>
          <a:prstGeom prst="rect">
            <a:avLst/>
          </a:prstGeom>
          <a:solidFill>
            <a:srgbClr val="141414"/>
          </a:solidFill>
          <a:ln/>
        </p:spPr>
      </p:sp>
      <p:sp>
        <p:nvSpPr>
          <p:cNvPr id="20" name="Text 18"/>
          <p:cNvSpPr/>
          <p:nvPr/>
        </p:nvSpPr>
        <p:spPr>
          <a:xfrm>
            <a:off x="6178144" y="4314139"/>
            <a:ext cx="5227168"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Describe once, cache forever</a:t>
            </a:r>
            <a:endParaRPr lang="en-US" sz="1950" dirty="0"/>
          </a:p>
        </p:txBody>
      </p:sp>
      <p:sp>
        <p:nvSpPr>
          <p:cNvPr id="21" name="Text 19"/>
          <p:cNvSpPr/>
          <p:nvPr/>
        </p:nvSpPr>
        <p:spPr>
          <a:xfrm>
            <a:off x="6178144" y="4865004"/>
            <a:ext cx="5227168" cy="1116482"/>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Key the cache by image URL. Without it you re-describe every image each time you change something downstream, and experimenting becomes slow enough that you stop.</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212"/>
        </a:solidFill>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algn="r" indent="0" marL="0">
              <a:buNone/>
            </a:pPr>
            <a:r>
              <a:rPr lang="en-US" sz="9600" b="1" dirty="0">
                <a:solidFill>
                  <a:srgbClr val="3D3934"/>
                </a:solidFill>
                <a:latin typeface="Arial" pitchFamily="34" charset="0"/>
                <a:ea typeface="Arial" pitchFamily="34" charset="-122"/>
                <a:cs typeface="Arial" pitchFamily="34" charset="-120"/>
              </a:rPr>
              <a:t>4</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indent="0" marL="0">
              <a:buNone/>
            </a:pPr>
            <a:r>
              <a:rPr lang="en-US" sz="1200" b="1" spc="260" kern="0" dirty="0">
                <a:solidFill>
                  <a:srgbClr val="C0402A"/>
                </a:solidFill>
                <a:latin typeface="Arial" pitchFamily="34" charset="0"/>
                <a:ea typeface="Arial" pitchFamily="34" charset="-122"/>
                <a:cs typeface="Arial" pitchFamily="34" charset="-120"/>
              </a:rPr>
              <a:t>BLOCK 4  ·  LAB</a:t>
            </a:r>
            <a:endParaRPr lang="en-US" sz="1200" dirty="0"/>
          </a:p>
        </p:txBody>
      </p:sp>
      <p:sp>
        <p:nvSpPr>
          <p:cNvPr id="4" name="Shape 2"/>
          <p:cNvSpPr/>
          <p:nvPr/>
        </p:nvSpPr>
        <p:spPr>
          <a:xfrm>
            <a:off x="786384" y="2377440"/>
            <a:ext cx="1371600" cy="20117"/>
          </a:xfrm>
          <a:prstGeom prst="rect">
            <a:avLst/>
          </a:prstGeom>
          <a:solidFill>
            <a:srgbClr val="C0402A"/>
          </a:solidFill>
          <a:ln/>
        </p:spPr>
      </p:sp>
      <p:sp>
        <p:nvSpPr>
          <p:cNvPr id="5" name="Text 3"/>
          <p:cNvSpPr/>
          <p:nvPr/>
        </p:nvSpPr>
        <p:spPr>
          <a:xfrm>
            <a:off x="786384" y="2596896"/>
            <a:ext cx="7024421" cy="1188720"/>
          </a:xfrm>
          <a:prstGeom prst="rect">
            <a:avLst/>
          </a:prstGeom>
          <a:noFill/>
          <a:ln/>
        </p:spPr>
        <p:txBody>
          <a:bodyPr wrap="square" lIns="0" tIns="0" rIns="0" bIns="0" rtlCol="0" anchor="ctr"/>
          <a:lstStyle/>
          <a:p>
            <a:pPr indent="0" marL="0">
              <a:lnSpc>
                <a:spcPts val="4000"/>
              </a:lnSpc>
              <a:buNone/>
            </a:pPr>
            <a:r>
              <a:rPr lang="en-US" sz="3600" b="1" dirty="0">
                <a:solidFill>
                  <a:srgbClr val="FAF8F5"/>
                </a:solidFill>
                <a:latin typeface="Arial" pitchFamily="34" charset="0"/>
                <a:ea typeface="Arial" pitchFamily="34" charset="-122"/>
                <a:cs typeface="Arial" pitchFamily="34" charset="-120"/>
              </a:rPr>
              <a:t>Reasoning &amp; Synthesis</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indent="0" marL="0">
              <a:lnSpc>
                <a:spcPts val="2300"/>
              </a:lnSpc>
              <a:buNone/>
            </a:pPr>
            <a:r>
              <a:rPr lang="en-US" sz="1750" dirty="0">
                <a:solidFill>
                  <a:srgbClr val="A8A39B"/>
                </a:solidFill>
                <a:latin typeface="Arial" pitchFamily="34" charset="0"/>
                <a:ea typeface="Arial" pitchFamily="34" charset="-122"/>
                <a:cs typeface="Arial" pitchFamily="34" charset="-120"/>
              </a:rPr>
              <a:t>Questions whose answer is not written down anywhere. You find every matching item and count it yourself.</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algn="r" indent="0" marL="0">
              <a:buNone/>
            </a:pPr>
            <a:r>
              <a:rPr lang="en-US" sz="1450" b="1" spc="180" kern="0" dirty="0">
                <a:solidFill>
                  <a:srgbClr val="C0402A"/>
                </a:solidFill>
                <a:latin typeface="Arial" pitchFamily="34" charset="0"/>
                <a:ea typeface="Arial" pitchFamily="34" charset="-122"/>
                <a:cs typeface="Arial" pitchFamily="34" charset="-120"/>
              </a:rPr>
              <a:t>25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sp>
      <p:sp>
        <p:nvSpPr>
          <p:cNvPr id="9" name="Text 7"/>
          <p:cNvSpPr/>
          <p:nvPr/>
        </p:nvSpPr>
        <p:spPr>
          <a:xfrm>
            <a:off x="786384" y="5358384"/>
            <a:ext cx="585216" cy="292608"/>
          </a:xfrm>
          <a:prstGeom prst="rect">
            <a:avLst/>
          </a:prstGeom>
          <a:noFill/>
          <a:ln/>
        </p:spPr>
        <p:txBody>
          <a:bodyPr wrap="square" lIns="0" tIns="0" rIns="0" bIns="0" rtlCol="0" anchor="ctr"/>
          <a:lstStyle/>
          <a:p>
            <a:pPr algn="ctr" indent="0" marL="0">
              <a:buNone/>
            </a:pPr>
            <a:r>
              <a:rPr lang="en-US" sz="1100" b="1" spc="60" kern="0" dirty="0">
                <a:solidFill>
                  <a:srgbClr val="B5B0A8"/>
                </a:solidFill>
                <a:latin typeface="Arial" pitchFamily="34" charset="0"/>
                <a:ea typeface="Arial" pitchFamily="34" charset="-122"/>
                <a:cs typeface="Arial" pitchFamily="34" charset="-120"/>
              </a:rPr>
              <a:t>LV4</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56534E"/>
                </a:solidFill>
                <a:latin typeface="Arial" pitchFamily="34" charset="0"/>
                <a:ea typeface="Arial" pitchFamily="34" charset="-122"/>
                <a:cs typeface="Arial" pitchFamily="34" charset="-120"/>
              </a:rPr>
              <a:t>19</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Counting, Step by Step</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22</a:t>
            </a:r>
            <a:endParaRPr lang="en-US" sz="1200" dirty="0"/>
          </a:p>
        </p:txBody>
      </p:sp>
      <p:sp>
        <p:nvSpPr>
          <p:cNvPr id="201" name="Vis 201"/>
          <p:cNvSpPr/>
          <p:nvPr/>
        </p:nvSpPr>
        <p:spPr>
          <a:xfrm>
            <a:off x="786384" y="1627632"/>
            <a:ext cx="10616184" cy="512064"/>
          </a:xfrm>
          <a:prstGeom prst="rect">
            <a:avLst/>
          </a:prstGeom>
          <a:solidFill>
            <a:srgbClr val="2A2724"/>
          </a:solidFill>
          <a:ln>
            <a:noFill/>
          </a:ln>
        </p:spPr>
      </p:sp>
      <p:sp>
        <p:nvSpPr>
          <p:cNvPr id="202" name="Vis 202"/>
          <p:cNvSpPr/>
          <p:nvPr/>
        </p:nvSpPr>
        <p:spPr>
          <a:xfrm>
            <a:off x="1014984" y="1627632"/>
            <a:ext cx="10158984" cy="512064"/>
          </a:xfrm>
          <a:prstGeom prst="rect">
            <a:avLst/>
          </a:prstGeom>
          <a:noFill/>
          <a:ln>
            <a:noFill/>
          </a:ln>
        </p:spPr>
        <p:txBody>
          <a:bodyPr wrap="square" lIns="0" tIns="0" rIns="0" bIns="0" anchor="ctr">
            <a:noAutofit/>
          </a:bodyPr>
          <a:lstStyle/>
          <a:p>
            <a:pPr algn="l" indent="0" marL="0">
              <a:buNone/>
            </a:pPr>
            <a:r>
              <a:rPr lang="en-US" sz="1200" b="1" dirty="0">
                <a:solidFill>
                  <a:srgbClr val="F2B8AA"/>
                </a:solidFill>
                <a:latin typeface="Arial"/>
                <a:ea typeface="Arial"/>
                <a:cs typeface="Arial"/>
                <a:sym typeface="Arial"/>
              </a:rPr>
              <a:t xml:space="preserve">Q  </a:t>
            </a:r>
            <a:r>
              <a:rPr lang="en-US" sz="1300" dirty="0">
                <a:solidFill>
                  <a:srgbClr val="FFFFFF"/>
                </a:solidFill>
                <a:latin typeface="Arial"/>
                <a:ea typeface="Arial"/>
                <a:cs typeface="Arial"/>
                <a:sym typeface="Arial"/>
              </a:rPr>
              <a:t>"How many workshop posters are on the Innovation Academy website for 2025?"</a:t>
            </a:r>
          </a:p>
        </p:txBody>
      </p:sp>
      <p:sp>
        <p:nvSpPr>
          <p:cNvPr id="203" name="Vis 203"/>
          <p:cNvSpPr/>
          <p:nvPr/>
        </p:nvSpPr>
        <p:spPr>
          <a:xfrm>
            <a:off x="786384" y="2377440"/>
            <a:ext cx="2386584" cy="274320"/>
          </a:xfrm>
          <a:prstGeom prst="rect">
            <a:avLst/>
          </a:prstGeom>
          <a:noFill/>
          <a:ln>
            <a:noFill/>
          </a:ln>
        </p:spPr>
        <p:txBody>
          <a:bodyPr wrap="square" lIns="0" tIns="0" rIns="0" bIns="0" anchor="t">
            <a:noAutofit/>
          </a:bodyPr>
          <a:lstStyle/>
          <a:p>
            <a:pPr algn="l" indent="0" marL="0">
              <a:buNone/>
            </a:pPr>
            <a:r>
              <a:rPr lang="en-US" sz="1200" b="1" dirty="0">
                <a:solidFill>
                  <a:srgbClr val="141414"/>
                </a:solidFill>
                <a:latin typeface="Arial"/>
                <a:ea typeface="Arial"/>
                <a:cs typeface="Arial"/>
                <a:sym typeface="Arial"/>
              </a:rPr>
              <a:t>1  Spot the count</a:t>
            </a:r>
          </a:p>
        </p:txBody>
      </p:sp>
      <p:cxnSp>
        <p:nvCxnSpPr>
          <p:cNvPr id="204" name="Line 204"/>
          <p:cNvCxnSpPr/>
          <p:nvPr/>
        </p:nvCxnSpPr>
        <p:spPr>
          <a:xfrm>
            <a:off x="3218688" y="3209544"/>
            <a:ext cx="256032" cy="0"/>
          </a:xfrm>
          <a:prstGeom prst="straightConnector1">
            <a:avLst/>
          </a:prstGeom>
          <a:ln w="19050">
            <a:solidFill>
              <a:srgbClr val="9C978E"/>
            </a:solidFill>
            <a:tailEnd type="triangle" w="med" len="med"/>
          </a:ln>
        </p:spPr>
      </p:cxnSp>
      <p:sp>
        <p:nvSpPr>
          <p:cNvPr id="205" name="Vis 205"/>
          <p:cNvSpPr/>
          <p:nvPr/>
        </p:nvSpPr>
        <p:spPr>
          <a:xfrm>
            <a:off x="786384" y="3493008"/>
            <a:ext cx="2386584" cy="548640"/>
          </a:xfrm>
          <a:prstGeom prst="rect">
            <a:avLst/>
          </a:prstGeom>
          <a:noFill/>
          <a:ln>
            <a:noFill/>
          </a:ln>
        </p:spPr>
        <p:txBody>
          <a:bodyPr wrap="square" lIns="0" tIns="0" rIns="0" bIns="0" anchor="t">
            <a:noAutofit/>
          </a:bodyPr>
          <a:lstStyle/>
          <a:p>
            <a:pPr algn="l" indent="0" marL="0">
              <a:lnSpc>
                <a:spcPts val="1250"/>
              </a:lnSpc>
              <a:buNone/>
            </a:pPr>
            <a:r>
              <a:rPr lang="en-US" sz="1000" dirty="0">
                <a:solidFill>
                  <a:srgbClr val="6E6A63"/>
                </a:solidFill>
                <a:latin typeface="Arial"/>
                <a:ea typeface="Arial"/>
                <a:cs typeface="Arial"/>
                <a:sym typeface="Arial"/>
              </a:rPr>
              <a:t>"How many" sends it down the counting path, not the normal one.</a:t>
            </a:r>
          </a:p>
        </p:txBody>
      </p:sp>
      <p:sp>
        <p:nvSpPr>
          <p:cNvPr id="206" name="Vis 206"/>
          <p:cNvSpPr/>
          <p:nvPr/>
        </p:nvSpPr>
        <p:spPr>
          <a:xfrm>
            <a:off x="3529584" y="2377440"/>
            <a:ext cx="2386584" cy="274320"/>
          </a:xfrm>
          <a:prstGeom prst="rect">
            <a:avLst/>
          </a:prstGeom>
          <a:noFill/>
          <a:ln>
            <a:noFill/>
          </a:ln>
        </p:spPr>
        <p:txBody>
          <a:bodyPr wrap="square" lIns="0" tIns="0" rIns="0" bIns="0" anchor="t">
            <a:noAutofit/>
          </a:bodyPr>
          <a:lstStyle/>
          <a:p>
            <a:pPr algn="l" indent="0" marL="0">
              <a:buNone/>
            </a:pPr>
            <a:r>
              <a:rPr lang="en-US" sz="1200" b="1" dirty="0">
                <a:solidFill>
                  <a:srgbClr val="C0402A"/>
                </a:solidFill>
                <a:latin typeface="Arial"/>
                <a:ea typeface="Arial"/>
                <a:cs typeface="Arial"/>
                <a:sym typeface="Arial"/>
              </a:rPr>
              <a:t>2  Filter, do not search</a:t>
            </a:r>
          </a:p>
        </p:txBody>
      </p:sp>
      <p:cxnSp>
        <p:nvCxnSpPr>
          <p:cNvPr id="207" name="Line 207"/>
          <p:cNvCxnSpPr/>
          <p:nvPr/>
        </p:nvCxnSpPr>
        <p:spPr>
          <a:xfrm>
            <a:off x="5961888" y="3209544"/>
            <a:ext cx="256032" cy="0"/>
          </a:xfrm>
          <a:prstGeom prst="straightConnector1">
            <a:avLst/>
          </a:prstGeom>
          <a:ln w="19050">
            <a:solidFill>
              <a:srgbClr val="9C978E"/>
            </a:solidFill>
            <a:tailEnd type="triangle" w="med" len="med"/>
          </a:ln>
        </p:spPr>
      </p:cxnSp>
      <p:sp>
        <p:nvSpPr>
          <p:cNvPr id="208" name="Vis 208"/>
          <p:cNvSpPr/>
          <p:nvPr/>
        </p:nvSpPr>
        <p:spPr>
          <a:xfrm>
            <a:off x="3529584" y="3493008"/>
            <a:ext cx="2386584" cy="548640"/>
          </a:xfrm>
          <a:prstGeom prst="rect">
            <a:avLst/>
          </a:prstGeom>
          <a:noFill/>
          <a:ln>
            <a:noFill/>
          </a:ln>
        </p:spPr>
        <p:txBody>
          <a:bodyPr wrap="square" lIns="0" tIns="0" rIns="0" bIns="0" anchor="t">
            <a:noAutofit/>
          </a:bodyPr>
          <a:lstStyle/>
          <a:p>
            <a:pPr algn="l" indent="0" marL="0">
              <a:lnSpc>
                <a:spcPts val="1250"/>
              </a:lnSpc>
              <a:buNone/>
            </a:pPr>
            <a:r>
              <a:rPr lang="en-US" sz="1000" dirty="0">
                <a:solidFill>
                  <a:srgbClr val="6E6A63"/>
                </a:solidFill>
                <a:latin typeface="Arial"/>
                <a:ea typeface="Arial"/>
                <a:cs typeface="Arial"/>
                <a:sym typeface="Arial"/>
              </a:rPr>
              <a:t>Every chunk tagged year 2025 and type poster. All of them, not the nearest 5.</a:t>
            </a:r>
          </a:p>
        </p:txBody>
      </p:sp>
      <p:sp>
        <p:nvSpPr>
          <p:cNvPr id="209" name="Vis 209"/>
          <p:cNvSpPr/>
          <p:nvPr/>
        </p:nvSpPr>
        <p:spPr>
          <a:xfrm>
            <a:off x="6272784" y="2377440"/>
            <a:ext cx="2386584" cy="274320"/>
          </a:xfrm>
          <a:prstGeom prst="rect">
            <a:avLst/>
          </a:prstGeom>
          <a:noFill/>
          <a:ln>
            <a:noFill/>
          </a:ln>
        </p:spPr>
        <p:txBody>
          <a:bodyPr wrap="square" lIns="0" tIns="0" rIns="0" bIns="0" anchor="t">
            <a:noAutofit/>
          </a:bodyPr>
          <a:lstStyle/>
          <a:p>
            <a:pPr algn="l" indent="0" marL="0">
              <a:buNone/>
            </a:pPr>
            <a:r>
              <a:rPr lang="en-US" sz="1200" b="1" dirty="0">
                <a:solidFill>
                  <a:srgbClr val="141414"/>
                </a:solidFill>
                <a:latin typeface="Arial"/>
                <a:ea typeface="Arial"/>
                <a:cs typeface="Arial"/>
                <a:sym typeface="Arial"/>
              </a:rPr>
              <a:t>3  List the evidence</a:t>
            </a:r>
          </a:p>
        </p:txBody>
      </p:sp>
      <p:cxnSp>
        <p:nvCxnSpPr>
          <p:cNvPr id="210" name="Line 210"/>
          <p:cNvCxnSpPr/>
          <p:nvPr/>
        </p:nvCxnSpPr>
        <p:spPr>
          <a:xfrm>
            <a:off x="8705088" y="3209544"/>
            <a:ext cx="256032" cy="0"/>
          </a:xfrm>
          <a:prstGeom prst="straightConnector1">
            <a:avLst/>
          </a:prstGeom>
          <a:ln w="19050">
            <a:solidFill>
              <a:srgbClr val="9C978E"/>
            </a:solidFill>
            <a:tailEnd type="triangle" w="med" len="med"/>
          </a:ln>
        </p:spPr>
      </p:cxnSp>
      <p:sp>
        <p:nvSpPr>
          <p:cNvPr id="211" name="Vis 211"/>
          <p:cNvSpPr/>
          <p:nvPr/>
        </p:nvSpPr>
        <p:spPr>
          <a:xfrm>
            <a:off x="6272784" y="3493008"/>
            <a:ext cx="2386584" cy="548640"/>
          </a:xfrm>
          <a:prstGeom prst="rect">
            <a:avLst/>
          </a:prstGeom>
          <a:noFill/>
          <a:ln>
            <a:noFill/>
          </a:ln>
        </p:spPr>
        <p:txBody>
          <a:bodyPr wrap="square" lIns="0" tIns="0" rIns="0" bIns="0" anchor="t">
            <a:noAutofit/>
          </a:bodyPr>
          <a:lstStyle/>
          <a:p>
            <a:pPr algn="l" indent="0" marL="0">
              <a:lnSpc>
                <a:spcPts val="1250"/>
              </a:lnSpc>
              <a:buNone/>
            </a:pPr>
            <a:r>
              <a:rPr lang="en-US" sz="1000" dirty="0">
                <a:solidFill>
                  <a:srgbClr val="6E6A63"/>
                </a:solidFill>
                <a:latin typeface="Arial"/>
                <a:ea typeface="Arial"/>
                <a:cs typeface="Arial"/>
                <a:sym typeface="Arial"/>
              </a:rPr>
              <a:t>The model writes out each item it was given before it answers.</a:t>
            </a:r>
          </a:p>
        </p:txBody>
      </p:sp>
      <p:sp>
        <p:nvSpPr>
          <p:cNvPr id="212" name="Vis 212"/>
          <p:cNvSpPr/>
          <p:nvPr/>
        </p:nvSpPr>
        <p:spPr>
          <a:xfrm>
            <a:off x="9015984" y="2377440"/>
            <a:ext cx="2386584" cy="274320"/>
          </a:xfrm>
          <a:prstGeom prst="rect">
            <a:avLst/>
          </a:prstGeom>
          <a:noFill/>
          <a:ln>
            <a:noFill/>
          </a:ln>
        </p:spPr>
        <p:txBody>
          <a:bodyPr wrap="square" lIns="0" tIns="0" rIns="0" bIns="0" anchor="t">
            <a:noAutofit/>
          </a:bodyPr>
          <a:lstStyle/>
          <a:p>
            <a:pPr algn="l" indent="0" marL="0">
              <a:buNone/>
            </a:pPr>
            <a:r>
              <a:rPr lang="en-US" sz="1200" b="1" dirty="0">
                <a:solidFill>
                  <a:srgbClr val="141414"/>
                </a:solidFill>
                <a:latin typeface="Arial"/>
                <a:ea typeface="Arial"/>
                <a:cs typeface="Arial"/>
                <a:sym typeface="Arial"/>
              </a:rPr>
              <a:t>4  Count the list</a:t>
            </a:r>
          </a:p>
        </p:txBody>
      </p:sp>
      <p:sp>
        <p:nvSpPr>
          <p:cNvPr id="213" name="Vis 213"/>
          <p:cNvSpPr/>
          <p:nvPr/>
        </p:nvSpPr>
        <p:spPr>
          <a:xfrm>
            <a:off x="9015984" y="3493008"/>
            <a:ext cx="2386584" cy="548640"/>
          </a:xfrm>
          <a:prstGeom prst="rect">
            <a:avLst/>
          </a:prstGeom>
          <a:noFill/>
          <a:ln>
            <a:noFill/>
          </a:ln>
        </p:spPr>
        <p:txBody>
          <a:bodyPr wrap="square" lIns="0" tIns="0" rIns="0" bIns="0" anchor="t">
            <a:noAutofit/>
          </a:bodyPr>
          <a:lstStyle/>
          <a:p>
            <a:pPr algn="l" indent="0" marL="0">
              <a:lnSpc>
                <a:spcPts val="1250"/>
              </a:lnSpc>
              <a:buNone/>
            </a:pPr>
            <a:r>
              <a:rPr lang="en-US" sz="1000" dirty="0">
                <a:solidFill>
                  <a:srgbClr val="6E6A63"/>
                </a:solidFill>
                <a:latin typeface="Arial"/>
                <a:ea typeface="Arial"/>
                <a:cs typeface="Arial"/>
                <a:sym typeface="Arial"/>
              </a:rPr>
              <a:t>The number comes last, from a list you can check.</a:t>
            </a:r>
          </a:p>
        </p:txBody>
      </p:sp>
      <p:sp>
        <p:nvSpPr>
          <p:cNvPr id="214" name="Vis 214"/>
          <p:cNvSpPr/>
          <p:nvPr/>
        </p:nvSpPr>
        <p:spPr>
          <a:xfrm>
            <a:off x="786384" y="2688336"/>
            <a:ext cx="2386584" cy="777240"/>
          </a:xfrm>
          <a:prstGeom prst="rect">
            <a:avLst/>
          </a:prstGeom>
          <a:solidFill>
            <a:srgbClr val="F2EFEA"/>
          </a:solidFill>
          <a:ln>
            <a:noFill/>
          </a:ln>
        </p:spPr>
      </p:sp>
      <p:sp>
        <p:nvSpPr>
          <p:cNvPr id="215" name="Vis 215"/>
          <p:cNvSpPr/>
          <p:nvPr/>
        </p:nvSpPr>
        <p:spPr>
          <a:xfrm>
            <a:off x="923544" y="2688336"/>
            <a:ext cx="2112264" cy="777240"/>
          </a:xfrm>
          <a:prstGeom prst="rect">
            <a:avLst/>
          </a:prstGeom>
          <a:noFill/>
          <a:ln>
            <a:noFill/>
          </a:ln>
        </p:spPr>
        <p:txBody>
          <a:bodyPr wrap="square" lIns="0" tIns="0" rIns="0" bIns="0" anchor="ctr">
            <a:noAutofit/>
          </a:bodyPr>
          <a:lstStyle/>
          <a:p>
            <a:pPr algn="l" indent="0" marL="0">
              <a:buNone/>
            </a:pPr>
            <a:r>
              <a:rPr lang="en-US" sz="1100" dirty="0">
                <a:solidFill>
                  <a:srgbClr val="2A2724"/>
                </a:solidFill>
                <a:latin typeface="Courier New"/>
                <a:ea typeface="Courier New"/>
                <a:cs typeface="Courier New"/>
                <a:sym typeface="Courier New"/>
              </a:rPr>
              <a:t>route(q)</a:t>
            </a:r>
          </a:p>
          <a:p>
            <a:pPr algn="l" indent="0" marL="0">
              <a:buNone/>
            </a:pPr>
            <a:r>
              <a:rPr lang="en-US" sz="1100" b="1" dirty="0">
                <a:solidFill>
                  <a:srgbClr val="C0402A"/>
                </a:solidFill>
                <a:latin typeface="Courier New"/>
                <a:ea typeface="Courier New"/>
                <a:cs typeface="Courier New"/>
                <a:sym typeface="Courier New"/>
              </a:rPr>
              <a:t>-&gt; "4"  count</a:t>
            </a:r>
          </a:p>
        </p:txBody>
      </p:sp>
      <p:sp>
        <p:nvSpPr>
          <p:cNvPr id="216" name="Vis 216"/>
          <p:cNvSpPr/>
          <p:nvPr/>
        </p:nvSpPr>
        <p:spPr>
          <a:xfrm>
            <a:off x="3529584" y="2688336"/>
            <a:ext cx="2386584" cy="777240"/>
          </a:xfrm>
          <a:prstGeom prst="rect">
            <a:avLst/>
          </a:prstGeom>
          <a:solidFill>
            <a:srgbClr val="F7E6E0"/>
          </a:solidFill>
          <a:ln>
            <a:noFill/>
          </a:ln>
        </p:spPr>
      </p:sp>
      <p:sp>
        <p:nvSpPr>
          <p:cNvPr id="217" name="Vis 217"/>
          <p:cNvSpPr/>
          <p:nvPr/>
        </p:nvSpPr>
        <p:spPr>
          <a:xfrm>
            <a:off x="3666744" y="2688336"/>
            <a:ext cx="2112264" cy="777240"/>
          </a:xfrm>
          <a:prstGeom prst="rect">
            <a:avLst/>
          </a:prstGeom>
          <a:noFill/>
          <a:ln>
            <a:noFill/>
          </a:ln>
        </p:spPr>
        <p:txBody>
          <a:bodyPr wrap="square" lIns="0" tIns="0" rIns="0" bIns="0" anchor="ctr">
            <a:noAutofit/>
          </a:bodyPr>
          <a:lstStyle/>
          <a:p>
            <a:pPr algn="l" indent="0" marL="0">
              <a:buNone/>
            </a:pPr>
            <a:r>
              <a:rPr lang="en-US" sz="1000" dirty="0">
                <a:solidFill>
                  <a:srgbClr val="2A2724"/>
                </a:solidFill>
                <a:latin typeface="Courier New"/>
                <a:ea typeface="Courier New"/>
                <a:cs typeface="Courier New"/>
                <a:sym typeface="Courier New"/>
              </a:rPr>
              <a:t>where={"year": "2025",</a:t>
            </a:r>
          </a:p>
          <a:p>
            <a:pPr algn="l" indent="0" marL="0">
              <a:buNone/>
            </a:pPr>
            <a:r>
              <a:rPr lang="en-US" sz="1000" dirty="0">
                <a:solidFill>
                  <a:srgbClr val="2A2724"/>
                </a:solidFill>
                <a:latin typeface="Courier New"/>
                <a:ea typeface="Courier New"/>
                <a:cs typeface="Courier New"/>
                <a:sym typeface="Courier New"/>
              </a:rPr>
              <a:t xml:space="preserve">       "type": "poster"}</a:t>
            </a:r>
          </a:p>
        </p:txBody>
      </p:sp>
      <p:sp>
        <p:nvSpPr>
          <p:cNvPr id="218" name="Vis 218"/>
          <p:cNvSpPr/>
          <p:nvPr/>
        </p:nvSpPr>
        <p:spPr>
          <a:xfrm>
            <a:off x="6272784" y="2688336"/>
            <a:ext cx="2386584" cy="777240"/>
          </a:xfrm>
          <a:prstGeom prst="rect">
            <a:avLst/>
          </a:prstGeom>
          <a:solidFill>
            <a:srgbClr val="F2EFEA"/>
          </a:solidFill>
          <a:ln>
            <a:noFill/>
          </a:ln>
        </p:spPr>
      </p:sp>
      <p:sp>
        <p:nvSpPr>
          <p:cNvPr id="219" name="Vis 219"/>
          <p:cNvSpPr/>
          <p:nvPr/>
        </p:nvSpPr>
        <p:spPr>
          <a:xfrm>
            <a:off x="6409944" y="2743200"/>
            <a:ext cx="2112264" cy="685800"/>
          </a:xfrm>
          <a:prstGeom prst="rect">
            <a:avLst/>
          </a:prstGeom>
          <a:noFill/>
          <a:ln>
            <a:noFill/>
          </a:ln>
        </p:spPr>
        <p:txBody>
          <a:bodyPr wrap="square" lIns="0" tIns="0" rIns="0" bIns="0" anchor="t">
            <a:noAutofit/>
          </a:bodyPr>
          <a:lstStyle/>
          <a:p>
            <a:pPr algn="l" indent="0" marL="0">
              <a:buNone/>
            </a:pPr>
            <a:r>
              <a:rPr lang="en-US" sz="950" dirty="0">
                <a:solidFill>
                  <a:srgbClr val="2A2724"/>
                </a:solidFill>
                <a:latin typeface="Courier New"/>
                <a:ea typeface="Courier New"/>
                <a:cs typeface="Courier New"/>
                <a:sym typeface="Courier New"/>
              </a:rPr>
              <a:t>1. poster: &lt;title&gt;, 2025</a:t>
            </a:r>
          </a:p>
          <a:p>
            <a:pPr algn="l" indent="0" marL="0">
              <a:buNone/>
            </a:pPr>
            <a:r>
              <a:rPr lang="en-US" sz="950" dirty="0">
                <a:solidFill>
                  <a:srgbClr val="2A2724"/>
                </a:solidFill>
                <a:latin typeface="Courier New"/>
                <a:ea typeface="Courier New"/>
                <a:cs typeface="Courier New"/>
                <a:sym typeface="Courier New"/>
              </a:rPr>
              <a:t>2. poster: &lt;title&gt;, 2025</a:t>
            </a:r>
          </a:p>
          <a:p>
            <a:pPr algn="l" indent="0" marL="0">
              <a:buNone/>
            </a:pPr>
            <a:r>
              <a:rPr lang="en-US" sz="950" dirty="0">
                <a:solidFill>
                  <a:srgbClr val="6E6A63"/>
                </a:solidFill>
                <a:latin typeface="Courier New"/>
                <a:ea typeface="Courier New"/>
                <a:cs typeface="Courier New"/>
                <a:sym typeface="Courier New"/>
              </a:rPr>
              <a:t xml:space="preserve">   ...</a:t>
            </a:r>
          </a:p>
          <a:p>
            <a:pPr algn="l" indent="0" marL="0">
              <a:buNone/>
            </a:pPr>
            <a:r>
              <a:rPr lang="en-US" sz="950" dirty="0">
                <a:solidFill>
                  <a:srgbClr val="2A2724"/>
                </a:solidFill>
                <a:latin typeface="Courier New"/>
                <a:ea typeface="Courier New"/>
                <a:cs typeface="Courier New"/>
                <a:sym typeface="Courier New"/>
              </a:rPr>
              <a:t>31. poster: &lt;title&gt;, 2025</a:t>
            </a:r>
          </a:p>
        </p:txBody>
      </p:sp>
      <p:sp>
        <p:nvSpPr>
          <p:cNvPr id="220" name="Vis 220"/>
          <p:cNvSpPr/>
          <p:nvPr/>
        </p:nvSpPr>
        <p:spPr>
          <a:xfrm>
            <a:off x="9015984" y="2688336"/>
            <a:ext cx="2386584" cy="777240"/>
          </a:xfrm>
          <a:prstGeom prst="rect">
            <a:avLst/>
          </a:prstGeom>
          <a:solidFill>
            <a:srgbClr val="2A2724"/>
          </a:solidFill>
          <a:ln>
            <a:noFill/>
          </a:ln>
        </p:spPr>
      </p:sp>
      <p:sp>
        <p:nvSpPr>
          <p:cNvPr id="221" name="Vis 221"/>
          <p:cNvSpPr/>
          <p:nvPr/>
        </p:nvSpPr>
        <p:spPr>
          <a:xfrm>
            <a:off x="9015984" y="2688336"/>
            <a:ext cx="2386584" cy="777240"/>
          </a:xfrm>
          <a:prstGeom prst="rect">
            <a:avLst/>
          </a:prstGeom>
          <a:noFill/>
          <a:ln>
            <a:noFill/>
          </a:ln>
        </p:spPr>
        <p:txBody>
          <a:bodyPr wrap="square" lIns="0" tIns="0" rIns="0" bIns="0" anchor="ctr">
            <a:noAutofit/>
          </a:bodyPr>
          <a:lstStyle/>
          <a:p>
            <a:pPr algn="ctr" indent="0" marL="0">
              <a:buNone/>
            </a:pPr>
            <a:r>
              <a:rPr lang="en-US" sz="3000" b="1" dirty="0">
                <a:solidFill>
                  <a:srgbClr val="FFFFFF"/>
                </a:solidFill>
                <a:latin typeface="Arial"/>
                <a:ea typeface="Arial"/>
                <a:cs typeface="Arial"/>
                <a:sym typeface="Arial"/>
              </a:rPr>
              <a:t>31</a:t>
            </a:r>
          </a:p>
        </p:txBody>
      </p:sp>
      <p:sp>
        <p:nvSpPr>
          <p:cNvPr id="222" name="Vis 222"/>
          <p:cNvSpPr/>
          <p:nvPr/>
        </p:nvSpPr>
        <p:spPr>
          <a:xfrm>
            <a:off x="786384" y="4224528"/>
            <a:ext cx="6583680" cy="1810512"/>
          </a:xfrm>
          <a:prstGeom prst="rect">
            <a:avLst/>
          </a:prstGeom>
          <a:solidFill>
            <a:srgbClr val="F2EFEA"/>
          </a:solidFill>
          <a:ln>
            <a:noFill/>
          </a:ln>
        </p:spPr>
      </p:sp>
      <p:sp>
        <p:nvSpPr>
          <p:cNvPr id="223" name="Vis 223"/>
          <p:cNvSpPr/>
          <p:nvPr/>
        </p:nvSpPr>
        <p:spPr>
          <a:xfrm>
            <a:off x="786384" y="4224528"/>
            <a:ext cx="27432" cy="1810512"/>
          </a:xfrm>
          <a:prstGeom prst="rect">
            <a:avLst/>
          </a:prstGeom>
          <a:solidFill>
            <a:srgbClr val="C0402A"/>
          </a:solidFill>
          <a:ln>
            <a:noFill/>
          </a:ln>
        </p:spPr>
      </p:sp>
      <p:sp>
        <p:nvSpPr>
          <p:cNvPr id="224" name="Vis 224"/>
          <p:cNvSpPr/>
          <p:nvPr/>
        </p:nvSpPr>
        <p:spPr>
          <a:xfrm>
            <a:off x="1042416" y="4352544"/>
            <a:ext cx="6181344" cy="228600"/>
          </a:xfrm>
          <a:prstGeom prst="rect">
            <a:avLst/>
          </a:prstGeom>
          <a:noFill/>
          <a:ln>
            <a:noFill/>
          </a:ln>
        </p:spPr>
        <p:txBody>
          <a:bodyPr wrap="square" lIns="0" tIns="0" rIns="0" bIns="0" anchor="t">
            <a:noAutofit/>
          </a:bodyPr>
          <a:lstStyle/>
          <a:p>
            <a:pPr algn="l" indent="0" marL="0">
              <a:buNone/>
            </a:pPr>
            <a:r>
              <a:rPr lang="en-US" sz="950" b="1" dirty="0">
                <a:solidFill>
                  <a:srgbClr val="9C978E"/>
                </a:solidFill>
                <a:latin typeface="Arial"/>
                <a:ea typeface="Arial"/>
                <a:cs typeface="Arial"/>
                <a:sym typeface="Arial"/>
              </a:rPr>
              <a:t>Labs/lab5_query_decomposition.ipynb  ·  Step 4</a:t>
            </a:r>
          </a:p>
        </p:txBody>
      </p:sp>
      <p:sp>
        <p:nvSpPr>
          <p:cNvPr id="225" name="Vis 225"/>
          <p:cNvSpPr/>
          <p:nvPr/>
        </p:nvSpPr>
        <p:spPr>
          <a:xfrm>
            <a:off x="1042416" y="4636008"/>
            <a:ext cx="6126480" cy="1307592"/>
          </a:xfrm>
          <a:prstGeom prst="rect">
            <a:avLst/>
          </a:prstGeom>
          <a:noFill/>
          <a:ln>
            <a:noFill/>
          </a:ln>
        </p:spPr>
        <p:txBody>
          <a:bodyPr wrap="square" lIns="0" tIns="0" rIns="0" bIns="0" anchor="t">
            <a:noAutofit/>
          </a:bodyPr>
          <a:lstStyle/>
          <a:p>
            <a:pPr algn="l" indent="0" marL="0">
              <a:lnSpc>
                <a:spcPts val="1450"/>
              </a:lnSpc>
              <a:buNone/>
            </a:pPr>
            <a:r>
              <a:rPr lang="en-US" sz="1000" dirty="0">
                <a:solidFill>
                  <a:srgbClr val="2A2724"/>
                </a:solidFill>
                <a:latin typeface="Courier New"/>
                <a:ea typeface="Courier New"/>
                <a:cs typeface="Courier New"/>
                <a:sym typeface="Courier New"/>
              </a:rPr>
              <a:t>def answer_by_counting(question, where, k=200):</a:t>
            </a:r>
          </a:p>
          <a:p>
            <a:pPr algn="l" indent="0" marL="0">
              <a:lnSpc>
                <a:spcPts val="1450"/>
              </a:lnSpc>
              <a:buNone/>
            </a:pPr>
            <a:r>
              <a:rPr lang="en-US" sz="1000" dirty="0">
                <a:solidFill>
                  <a:srgbClr val="2A2724"/>
                </a:solidFill>
                <a:latin typeface="Courier New"/>
                <a:ea typeface="Courier New"/>
                <a:cs typeface="Courier New"/>
                <a:sym typeface="Courier New"/>
              </a:rPr>
              <a:t xml:space="preserve">    chunks = query(store, question, k=k, where=where)</a:t>
            </a:r>
          </a:p>
          <a:p>
            <a:pPr algn="l" indent="0" marL="0">
              <a:lnSpc>
                <a:spcPts val="1450"/>
              </a:lnSpc>
              <a:buNone/>
            </a:pPr>
            <a:r>
              <a:rPr lang="en-US" sz="1000" dirty="0">
                <a:solidFill>
                  <a:srgbClr val="2A2724"/>
                </a:solidFill>
                <a:latin typeface="Courier New"/>
                <a:ea typeface="Courier New"/>
                <a:cs typeface="Courier New"/>
                <a:sym typeface="Courier New"/>
              </a:rPr>
              <a:t xml:space="preserve">    listing = "\n".join(f"- {c['text'][:120]}" for c in chunks)</a:t>
            </a:r>
          </a:p>
          <a:p>
            <a:pPr algn="l" indent="0" marL="0">
              <a:lnSpc>
                <a:spcPts val="1450"/>
              </a:lnSpc>
              <a:buNone/>
            </a:pPr>
            <a:r>
              <a:rPr lang="en-US" sz="1000" dirty="0">
                <a:solidFill>
                  <a:srgbClr val="2A2724"/>
                </a:solidFill>
                <a:latin typeface="Courier New"/>
                <a:ea typeface="Courier New"/>
                <a:cs typeface="Courier New"/>
                <a:sym typeface="Courier New"/>
              </a:rPr>
              <a:t xml:space="preserve">    return chat([{"role": "system", "content":</a:t>
            </a:r>
          </a:p>
          <a:p>
            <a:pPr algn="l" indent="0" marL="0">
              <a:lnSpc>
                <a:spcPts val="1450"/>
              </a:lnSpc>
              <a:buNone/>
            </a:pPr>
            <a:r>
              <a:rPr lang="en-US" sz="1000" dirty="0">
                <a:solidFill>
                  <a:srgbClr val="C0402A"/>
                </a:solidFill>
                <a:latin typeface="Courier New"/>
                <a:ea typeface="Courier New"/>
                <a:cs typeface="Courier New"/>
                <a:sym typeface="Courier New"/>
              </a:rPr>
              <a:t xml:space="preserve">        "Count the items listed. List what you counted, "</a:t>
            </a:r>
          </a:p>
          <a:p>
            <a:pPr algn="l" indent="0" marL="0">
              <a:lnSpc>
                <a:spcPts val="1450"/>
              </a:lnSpc>
              <a:buNone/>
            </a:pPr>
            <a:r>
              <a:rPr lang="en-US" sz="1000" dirty="0">
                <a:solidFill>
                  <a:srgbClr val="C0402A"/>
                </a:solidFill>
                <a:latin typeface="Courier New"/>
                <a:ea typeface="Courier New"/>
                <a:cs typeface="Courier New"/>
                <a:sym typeface="Courier New"/>
              </a:rPr>
              <a:t xml:space="preserve">        "then give the number on its own final line."}, ...])</a:t>
            </a:r>
          </a:p>
        </p:txBody>
      </p:sp>
      <p:sp>
        <p:nvSpPr>
          <p:cNvPr id="226" name="Vis 226"/>
          <p:cNvSpPr/>
          <p:nvPr/>
        </p:nvSpPr>
        <p:spPr>
          <a:xfrm>
            <a:off x="7589520" y="4224528"/>
            <a:ext cx="3813048" cy="1828800"/>
          </a:xfrm>
          <a:prstGeom prst="rect">
            <a:avLst/>
          </a:prstGeom>
          <a:noFill/>
          <a:ln>
            <a:noFill/>
          </a:ln>
        </p:spPr>
        <p:txBody>
          <a:bodyPr wrap="square" lIns="0" tIns="0" rIns="0" bIns="0" anchor="t">
            <a:noAutofit/>
          </a:bodyPr>
          <a:lstStyle/>
          <a:p>
            <a:pPr algn="l" indent="0" marL="0">
              <a:spcAft>
                <a:spcPts val="300"/>
              </a:spcAft>
              <a:buNone/>
            </a:pPr>
            <a:r>
              <a:rPr lang="en-US" sz="1250" b="1" dirty="0">
                <a:solidFill>
                  <a:srgbClr val="141414"/>
                </a:solidFill>
                <a:latin typeface="Arial"/>
                <a:ea typeface="Arial"/>
                <a:cs typeface="Arial"/>
                <a:sym typeface="Arial"/>
              </a:rPr>
              <a:t>Why list first</a:t>
            </a:r>
          </a:p>
          <a:p>
            <a:pPr algn="l" indent="0" marL="0">
              <a:lnSpc>
                <a:spcPts val="1400"/>
              </a:lnSpc>
              <a:spcAft>
                <a:spcPts val="800"/>
              </a:spcAft>
              <a:buNone/>
            </a:pPr>
            <a:r>
              <a:rPr lang="en-US" sz="1100" dirty="0">
                <a:solidFill>
                  <a:srgbClr val="2A2724"/>
                </a:solidFill>
                <a:latin typeface="Arial"/>
                <a:ea typeface="Arial"/>
                <a:cs typeface="Arial"/>
                <a:sym typeface="Arial"/>
              </a:rPr>
              <a:t>When the count is wrong you can see which poster was missed or counted twice.</a:t>
            </a:r>
          </a:p>
          <a:p>
            <a:pPr algn="l" indent="0" marL="0">
              <a:spcAft>
                <a:spcPts val="300"/>
              </a:spcAft>
              <a:buNone/>
            </a:pPr>
            <a:r>
              <a:rPr lang="en-US" sz="1250" b="1" dirty="0">
                <a:solidFill>
                  <a:srgbClr val="141414"/>
                </a:solidFill>
                <a:latin typeface="Arial"/>
                <a:ea typeface="Arial"/>
                <a:cs typeface="Arial"/>
                <a:sym typeface="Arial"/>
              </a:rPr>
              <a:t>k is still a ceiling</a:t>
            </a:r>
          </a:p>
          <a:p>
            <a:pPr algn="l" indent="0" marL="0">
              <a:lnSpc>
                <a:spcPts val="1400"/>
              </a:lnSpc>
              <a:buNone/>
            </a:pPr>
            <a:r>
              <a:rPr lang="en-US" sz="1100" dirty="0">
                <a:solidFill>
                  <a:srgbClr val="2A2724"/>
                </a:solidFill>
                <a:latin typeface="Arial"/>
                <a:ea typeface="Arial"/>
                <a:cs typeface="Arial"/>
                <a:sym typeface="Arial"/>
              </a:rPr>
              <a:t>k=200 here. Keep it above any answer you expect, or you are back to counting 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Counting Questions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20</a:t>
            </a:r>
            <a:endParaRPr lang="en-US" sz="1200" dirty="0"/>
          </a:p>
        </p:txBody>
      </p:sp>
      <p:sp>
        <p:nvSpPr>
          <p:cNvPr id="201" name="Vis 201"/>
          <p:cNvSpPr/>
          <p:nvPr/>
        </p:nvSpPr>
        <p:spPr>
          <a:xfrm>
            <a:off x="786384" y="1691640"/>
            <a:ext cx="4480560" cy="1097280"/>
          </a:xfrm>
          <a:prstGeom prst="rect">
            <a:avLst/>
          </a:prstGeom>
          <a:solidFill>
            <a:srgbClr val="F2EFEA"/>
          </a:solidFill>
          <a:ln>
            <a:noFill/>
          </a:ln>
        </p:spPr>
      </p:sp>
      <p:sp>
        <p:nvSpPr>
          <p:cNvPr id="202" name="Vis 202"/>
          <p:cNvSpPr/>
          <p:nvPr/>
        </p:nvSpPr>
        <p:spPr>
          <a:xfrm>
            <a:off x="987552" y="1783080"/>
            <a:ext cx="4114800" cy="1051560"/>
          </a:xfrm>
          <a:prstGeom prst="rect">
            <a:avLst/>
          </a:prstGeom>
          <a:noFill/>
          <a:ln>
            <a:noFill/>
          </a:ln>
        </p:spPr>
        <p:txBody>
          <a:bodyPr wrap="square" lIns="0" tIns="0" rIns="0" bIns="0" anchor="t">
            <a:noAutofit/>
          </a:bodyPr>
          <a:lstStyle/>
          <a:p>
            <a:pPr algn="l" indent="0" marL="0">
              <a:lnSpc>
                <a:spcPts val="1700"/>
              </a:lnSpc>
              <a:spcAft>
                <a:spcPts val="500"/>
              </a:spcAft>
              <a:buNone/>
            </a:pPr>
            <a:r>
              <a:rPr lang="en-US" sz="1300" b="1" dirty="0">
                <a:solidFill>
                  <a:srgbClr val="141414"/>
                </a:solidFill>
                <a:latin typeface="Arial"/>
                <a:ea typeface="Arial"/>
                <a:cs typeface="Arial"/>
                <a:sym typeface="Arial"/>
              </a:rPr>
              <a:t>How many workshop posters are on the Innovation Academy website for 2025?</a:t>
            </a:r>
          </a:p>
          <a:p>
            <a:pPr algn="l" indent="0" marL="0">
              <a:buNone/>
            </a:pPr>
            <a:r>
              <a:rPr lang="en-US" sz="1300" b="1" dirty="0">
                <a:solidFill>
                  <a:srgbClr val="C0402A"/>
                </a:solidFill>
                <a:latin typeface="Arial"/>
                <a:ea typeface="Arial"/>
                <a:cs typeface="Arial"/>
                <a:sym typeface="Arial"/>
              </a:rPr>
              <a:t>Answer: 31</a:t>
            </a:r>
          </a:p>
        </p:txBody>
      </p:sp>
      <p:sp>
        <p:nvSpPr>
          <p:cNvPr id="203" name="Vis 203"/>
          <p:cNvSpPr/>
          <p:nvPr/>
        </p:nvSpPr>
        <p:spPr>
          <a:xfrm>
            <a:off x="786384" y="3108960"/>
            <a:ext cx="274320" cy="274320"/>
          </a:xfrm>
          <a:prstGeom prst="rect">
            <a:avLst/>
          </a:prstGeom>
          <a:noFill/>
          <a:ln>
            <a:noFill/>
          </a:ln>
        </p:spPr>
        <p:txBody>
          <a:bodyPr wrap="square" lIns="0" tIns="0" rIns="0" bIns="0" anchor="t">
            <a:noAutofit/>
          </a:bodyPr>
          <a:lstStyle/>
          <a:p>
            <a:pPr algn="l" indent="0" marL="0">
              <a:buNone/>
            </a:pPr>
            <a:r>
              <a:rPr lang="en-US" sz="1300" b="1" dirty="0">
                <a:solidFill>
                  <a:srgbClr val="C0402A"/>
                </a:solidFill>
                <a:latin typeface="Arial"/>
                <a:ea typeface="Arial"/>
                <a:cs typeface="Arial"/>
                <a:sym typeface="Arial"/>
              </a:rPr>
              <a:t>—</a:t>
            </a:r>
          </a:p>
        </p:txBody>
      </p:sp>
      <p:sp>
        <p:nvSpPr>
          <p:cNvPr id="204" name="Vis 204"/>
          <p:cNvSpPr/>
          <p:nvPr/>
        </p:nvSpPr>
        <p:spPr>
          <a:xfrm>
            <a:off x="1106424" y="3108960"/>
            <a:ext cx="4160520" cy="548640"/>
          </a:xfrm>
          <a:prstGeom prst="rect">
            <a:avLst/>
          </a:prstGeom>
          <a:noFill/>
          <a:ln>
            <a:noFill/>
          </a:ln>
        </p:spPr>
        <p:txBody>
          <a:bodyPr wrap="square" lIns="0" tIns="0" rIns="0" bIns="0" anchor="t">
            <a:noAutofit/>
          </a:bodyPr>
          <a:lstStyle/>
          <a:p>
            <a:pPr algn="l" indent="0" marL="0">
              <a:lnSpc>
                <a:spcPts val="1500"/>
              </a:lnSpc>
              <a:buNone/>
            </a:pPr>
            <a:r>
              <a:rPr lang="en-US" sz="1200" dirty="0">
                <a:solidFill>
                  <a:srgbClr val="2A2724"/>
                </a:solidFill>
                <a:latin typeface="Arial"/>
                <a:ea typeface="Arial"/>
                <a:cs typeface="Arial"/>
                <a:sym typeface="Arial"/>
              </a:rPr>
              <a:t>No chunk anywhere contains the number 31. It is not written down.</a:t>
            </a:r>
          </a:p>
        </p:txBody>
      </p:sp>
      <p:sp>
        <p:nvSpPr>
          <p:cNvPr id="205" name="Vis 205"/>
          <p:cNvSpPr/>
          <p:nvPr/>
        </p:nvSpPr>
        <p:spPr>
          <a:xfrm>
            <a:off x="786384" y="3675888"/>
            <a:ext cx="274320" cy="274320"/>
          </a:xfrm>
          <a:prstGeom prst="rect">
            <a:avLst/>
          </a:prstGeom>
          <a:noFill/>
          <a:ln>
            <a:noFill/>
          </a:ln>
        </p:spPr>
        <p:txBody>
          <a:bodyPr wrap="square" lIns="0" tIns="0" rIns="0" bIns="0" anchor="t">
            <a:noAutofit/>
          </a:bodyPr>
          <a:lstStyle/>
          <a:p>
            <a:pPr algn="l" indent="0" marL="0">
              <a:buNone/>
            </a:pPr>
            <a:r>
              <a:rPr lang="en-US" sz="1300" b="1" dirty="0">
                <a:solidFill>
                  <a:srgbClr val="C0402A"/>
                </a:solidFill>
                <a:latin typeface="Arial"/>
                <a:ea typeface="Arial"/>
                <a:cs typeface="Arial"/>
                <a:sym typeface="Arial"/>
              </a:rPr>
              <a:t>—</a:t>
            </a:r>
          </a:p>
        </p:txBody>
      </p:sp>
      <p:sp>
        <p:nvSpPr>
          <p:cNvPr id="206" name="Vis 206"/>
          <p:cNvSpPr/>
          <p:nvPr/>
        </p:nvSpPr>
        <p:spPr>
          <a:xfrm>
            <a:off x="1106424" y="3675888"/>
            <a:ext cx="4160520" cy="548640"/>
          </a:xfrm>
          <a:prstGeom prst="rect">
            <a:avLst/>
          </a:prstGeom>
          <a:noFill/>
          <a:ln>
            <a:noFill/>
          </a:ln>
        </p:spPr>
        <p:txBody>
          <a:bodyPr wrap="square" lIns="0" tIns="0" rIns="0" bIns="0" anchor="t">
            <a:noAutofit/>
          </a:bodyPr>
          <a:lstStyle/>
          <a:p>
            <a:pPr algn="l" indent="0" marL="0">
              <a:lnSpc>
                <a:spcPts val="1500"/>
              </a:lnSpc>
              <a:buNone/>
            </a:pPr>
            <a:r>
              <a:rPr lang="en-US" sz="1200" dirty="0">
                <a:solidFill>
                  <a:srgbClr val="2A2724"/>
                </a:solidFill>
                <a:latin typeface="Arial"/>
                <a:ea typeface="Arial"/>
                <a:cs typeface="Arial"/>
                <a:sym typeface="Arial"/>
              </a:rPr>
              <a:t>You have to find every matching poster and count them.</a:t>
            </a:r>
          </a:p>
        </p:txBody>
      </p:sp>
      <p:sp>
        <p:nvSpPr>
          <p:cNvPr id="207" name="Vis 207"/>
          <p:cNvSpPr/>
          <p:nvPr/>
        </p:nvSpPr>
        <p:spPr>
          <a:xfrm>
            <a:off x="786384" y="4069080"/>
            <a:ext cx="274320" cy="274320"/>
          </a:xfrm>
          <a:prstGeom prst="rect">
            <a:avLst/>
          </a:prstGeom>
          <a:noFill/>
          <a:ln>
            <a:noFill/>
          </a:ln>
        </p:spPr>
        <p:txBody>
          <a:bodyPr wrap="square" lIns="0" tIns="0" rIns="0" bIns="0" anchor="t">
            <a:noAutofit/>
          </a:bodyPr>
          <a:lstStyle/>
          <a:p>
            <a:pPr algn="l" indent="0" marL="0">
              <a:buNone/>
            </a:pPr>
            <a:r>
              <a:rPr lang="en-US" sz="1300" b="1" dirty="0">
                <a:solidFill>
                  <a:srgbClr val="C0402A"/>
                </a:solidFill>
                <a:latin typeface="Arial"/>
                <a:ea typeface="Arial"/>
                <a:cs typeface="Arial"/>
                <a:sym typeface="Arial"/>
              </a:rPr>
              <a:t>—</a:t>
            </a:r>
          </a:p>
        </p:txBody>
      </p:sp>
      <p:sp>
        <p:nvSpPr>
          <p:cNvPr id="208" name="Vis 208"/>
          <p:cNvSpPr/>
          <p:nvPr/>
        </p:nvSpPr>
        <p:spPr>
          <a:xfrm>
            <a:off x="1106424" y="4069080"/>
            <a:ext cx="4160520" cy="548640"/>
          </a:xfrm>
          <a:prstGeom prst="rect">
            <a:avLst/>
          </a:prstGeom>
          <a:noFill/>
          <a:ln>
            <a:noFill/>
          </a:ln>
        </p:spPr>
        <p:txBody>
          <a:bodyPr wrap="square" lIns="0" tIns="0" rIns="0" bIns="0" anchor="t">
            <a:noAutofit/>
          </a:bodyPr>
          <a:lstStyle/>
          <a:p>
            <a:pPr algn="l" indent="0" marL="0">
              <a:lnSpc>
                <a:spcPts val="1500"/>
              </a:lnSpc>
              <a:buNone/>
            </a:pPr>
            <a:r>
              <a:rPr lang="en-US" sz="1200" dirty="0">
                <a:solidFill>
                  <a:srgbClr val="2A2724"/>
                </a:solidFill>
                <a:latin typeface="Arial"/>
                <a:ea typeface="Arial"/>
                <a:cs typeface="Arial"/>
                <a:sym typeface="Arial"/>
              </a:rPr>
              <a:t>Vector search returns the k nearest chunks. With k = 5, the model sees 5 posters at most.</a:t>
            </a:r>
          </a:p>
        </p:txBody>
      </p:sp>
      <p:sp>
        <p:nvSpPr>
          <p:cNvPr id="209" name="Vis 209"/>
          <p:cNvSpPr/>
          <p:nvPr/>
        </p:nvSpPr>
        <p:spPr>
          <a:xfrm>
            <a:off x="786384" y="4983480"/>
            <a:ext cx="4480560" cy="822960"/>
          </a:xfrm>
          <a:prstGeom prst="rect">
            <a:avLst/>
          </a:prstGeom>
          <a:noFill/>
          <a:ln>
            <a:noFill/>
          </a:ln>
        </p:spPr>
        <p:txBody>
          <a:bodyPr wrap="square" lIns="0" tIns="0" rIns="0" bIns="0" anchor="t">
            <a:noAutofit/>
          </a:bodyPr>
          <a:lstStyle/>
          <a:p>
            <a:pPr algn="l" indent="0" marL="0">
              <a:lnSpc>
                <a:spcPts val="1800"/>
              </a:lnSpc>
              <a:buNone/>
            </a:pPr>
            <a:r>
              <a:rPr lang="en-US" sz="1350" b="1" dirty="0">
                <a:solidFill>
                  <a:srgbClr val="C0402A"/>
                </a:solidFill>
                <a:latin typeface="Arial"/>
                <a:ea typeface="Arial"/>
                <a:cs typeface="Arial"/>
                <a:sym typeface="Arial"/>
              </a:rPr>
              <a:t>k sets a ceiling on the answer. A better embedding model does not change this.</a:t>
            </a:r>
          </a:p>
        </p:txBody>
      </p:sp>
      <p:sp>
        <p:nvSpPr>
          <p:cNvPr id="210" name="Vis 210"/>
          <p:cNvSpPr/>
          <p:nvPr/>
        </p:nvSpPr>
        <p:spPr>
          <a:xfrm>
            <a:off x="5806440" y="1645920"/>
            <a:ext cx="5577840" cy="274320"/>
          </a:xfrm>
          <a:prstGeom prst="rect">
            <a:avLst/>
          </a:prstGeom>
          <a:noFill/>
          <a:ln>
            <a:noFill/>
          </a:ln>
        </p:spPr>
        <p:txBody>
          <a:bodyPr wrap="square" lIns="0" tIns="0" rIns="0" bIns="0" anchor="t">
            <a:noAutofit/>
          </a:bodyPr>
          <a:lstStyle/>
          <a:p>
            <a:pPr algn="l" indent="0" marL="0">
              <a:buNone/>
            </a:pPr>
            <a:r>
              <a:rPr lang="en-US" sz="1100" b="1" dirty="0">
                <a:solidFill>
                  <a:srgbClr val="141414"/>
                </a:solidFill>
                <a:latin typeface="Arial"/>
                <a:ea typeface="Arial"/>
                <a:cs typeface="Arial"/>
                <a:sym typeface="Arial"/>
              </a:rPr>
              <a:t>31 posters for 2025 on the website</a:t>
            </a:r>
          </a:p>
        </p:txBody>
      </p:sp>
      <p:sp>
        <p:nvSpPr>
          <p:cNvPr id="211" name="Vis 211"/>
          <p:cNvSpPr/>
          <p:nvPr/>
        </p:nvSpPr>
        <p:spPr>
          <a:xfrm>
            <a:off x="5806440" y="2011680"/>
            <a:ext cx="530352" cy="713232"/>
          </a:xfrm>
          <a:prstGeom prst="rect">
            <a:avLst/>
          </a:prstGeom>
          <a:solidFill>
            <a:srgbClr val="FFFFFF"/>
          </a:solidFill>
          <a:ln w="9525">
            <a:solidFill>
              <a:srgbClr val="D5D1CA"/>
            </a:solidFill>
          </a:ln>
        </p:spPr>
      </p:sp>
      <p:sp>
        <p:nvSpPr>
          <p:cNvPr id="212" name="Vis 212"/>
          <p:cNvSpPr/>
          <p:nvPr/>
        </p:nvSpPr>
        <p:spPr>
          <a:xfrm>
            <a:off x="5879592" y="2103120"/>
            <a:ext cx="384048" cy="109728"/>
          </a:xfrm>
          <a:prstGeom prst="rect">
            <a:avLst/>
          </a:prstGeom>
          <a:solidFill>
            <a:srgbClr val="E4E0D9"/>
          </a:solidFill>
          <a:ln>
            <a:noFill/>
          </a:ln>
        </p:spPr>
      </p:sp>
      <p:sp>
        <p:nvSpPr>
          <p:cNvPr id="213" name="Vis 213"/>
          <p:cNvSpPr/>
          <p:nvPr/>
        </p:nvSpPr>
        <p:spPr>
          <a:xfrm>
            <a:off x="5879592" y="2286000"/>
            <a:ext cx="310896" cy="45720"/>
          </a:xfrm>
          <a:prstGeom prst="rect">
            <a:avLst/>
          </a:prstGeom>
          <a:solidFill>
            <a:srgbClr val="E4E0D9"/>
          </a:solidFill>
          <a:ln>
            <a:noFill/>
          </a:ln>
        </p:spPr>
      </p:sp>
      <p:sp>
        <p:nvSpPr>
          <p:cNvPr id="214" name="Vis 214"/>
          <p:cNvSpPr/>
          <p:nvPr/>
        </p:nvSpPr>
        <p:spPr>
          <a:xfrm>
            <a:off x="5879592" y="2377440"/>
            <a:ext cx="256032" cy="45720"/>
          </a:xfrm>
          <a:prstGeom prst="rect">
            <a:avLst/>
          </a:prstGeom>
          <a:solidFill>
            <a:srgbClr val="E4E0D9"/>
          </a:solidFill>
          <a:ln>
            <a:noFill/>
          </a:ln>
        </p:spPr>
      </p:sp>
      <p:sp>
        <p:nvSpPr>
          <p:cNvPr id="215" name="Vis 215"/>
          <p:cNvSpPr/>
          <p:nvPr/>
        </p:nvSpPr>
        <p:spPr>
          <a:xfrm>
            <a:off x="6473952" y="2011680"/>
            <a:ext cx="530352" cy="713232"/>
          </a:xfrm>
          <a:prstGeom prst="rect">
            <a:avLst/>
          </a:prstGeom>
          <a:solidFill>
            <a:srgbClr val="FFFFFF"/>
          </a:solidFill>
          <a:ln w="9525">
            <a:solidFill>
              <a:srgbClr val="D5D1CA"/>
            </a:solidFill>
          </a:ln>
        </p:spPr>
      </p:sp>
      <p:sp>
        <p:nvSpPr>
          <p:cNvPr id="216" name="Vis 216"/>
          <p:cNvSpPr/>
          <p:nvPr/>
        </p:nvSpPr>
        <p:spPr>
          <a:xfrm>
            <a:off x="6547104" y="2103120"/>
            <a:ext cx="384048" cy="109728"/>
          </a:xfrm>
          <a:prstGeom prst="rect">
            <a:avLst/>
          </a:prstGeom>
          <a:solidFill>
            <a:srgbClr val="E4E0D9"/>
          </a:solidFill>
          <a:ln>
            <a:noFill/>
          </a:ln>
        </p:spPr>
      </p:sp>
      <p:sp>
        <p:nvSpPr>
          <p:cNvPr id="217" name="Vis 217"/>
          <p:cNvSpPr/>
          <p:nvPr/>
        </p:nvSpPr>
        <p:spPr>
          <a:xfrm>
            <a:off x="6547104" y="2286000"/>
            <a:ext cx="310896" cy="45720"/>
          </a:xfrm>
          <a:prstGeom prst="rect">
            <a:avLst/>
          </a:prstGeom>
          <a:solidFill>
            <a:srgbClr val="E4E0D9"/>
          </a:solidFill>
          <a:ln>
            <a:noFill/>
          </a:ln>
        </p:spPr>
      </p:sp>
      <p:sp>
        <p:nvSpPr>
          <p:cNvPr id="218" name="Vis 218"/>
          <p:cNvSpPr/>
          <p:nvPr/>
        </p:nvSpPr>
        <p:spPr>
          <a:xfrm>
            <a:off x="6547104" y="2377440"/>
            <a:ext cx="256032" cy="45720"/>
          </a:xfrm>
          <a:prstGeom prst="rect">
            <a:avLst/>
          </a:prstGeom>
          <a:solidFill>
            <a:srgbClr val="E4E0D9"/>
          </a:solidFill>
          <a:ln>
            <a:noFill/>
          </a:ln>
        </p:spPr>
      </p:sp>
      <p:sp>
        <p:nvSpPr>
          <p:cNvPr id="219" name="Vis 219"/>
          <p:cNvSpPr/>
          <p:nvPr/>
        </p:nvSpPr>
        <p:spPr>
          <a:xfrm>
            <a:off x="7141464" y="2011680"/>
            <a:ext cx="530352" cy="713232"/>
          </a:xfrm>
          <a:prstGeom prst="rect">
            <a:avLst/>
          </a:prstGeom>
          <a:solidFill>
            <a:srgbClr val="FFFFFF"/>
          </a:solidFill>
          <a:ln w="9525">
            <a:solidFill>
              <a:srgbClr val="D5D1CA"/>
            </a:solidFill>
          </a:ln>
        </p:spPr>
      </p:sp>
      <p:sp>
        <p:nvSpPr>
          <p:cNvPr id="220" name="Vis 220"/>
          <p:cNvSpPr/>
          <p:nvPr/>
        </p:nvSpPr>
        <p:spPr>
          <a:xfrm>
            <a:off x="7214616" y="2103120"/>
            <a:ext cx="384048" cy="109728"/>
          </a:xfrm>
          <a:prstGeom prst="rect">
            <a:avLst/>
          </a:prstGeom>
          <a:solidFill>
            <a:srgbClr val="E4E0D9"/>
          </a:solidFill>
          <a:ln>
            <a:noFill/>
          </a:ln>
        </p:spPr>
      </p:sp>
      <p:sp>
        <p:nvSpPr>
          <p:cNvPr id="221" name="Vis 221"/>
          <p:cNvSpPr/>
          <p:nvPr/>
        </p:nvSpPr>
        <p:spPr>
          <a:xfrm>
            <a:off x="7214616" y="2286000"/>
            <a:ext cx="310896" cy="45720"/>
          </a:xfrm>
          <a:prstGeom prst="rect">
            <a:avLst/>
          </a:prstGeom>
          <a:solidFill>
            <a:srgbClr val="E4E0D9"/>
          </a:solidFill>
          <a:ln>
            <a:noFill/>
          </a:ln>
        </p:spPr>
      </p:sp>
      <p:sp>
        <p:nvSpPr>
          <p:cNvPr id="222" name="Vis 222"/>
          <p:cNvSpPr/>
          <p:nvPr/>
        </p:nvSpPr>
        <p:spPr>
          <a:xfrm>
            <a:off x="7214616" y="2377440"/>
            <a:ext cx="256032" cy="45720"/>
          </a:xfrm>
          <a:prstGeom prst="rect">
            <a:avLst/>
          </a:prstGeom>
          <a:solidFill>
            <a:srgbClr val="E4E0D9"/>
          </a:solidFill>
          <a:ln>
            <a:noFill/>
          </a:ln>
        </p:spPr>
      </p:sp>
      <p:sp>
        <p:nvSpPr>
          <p:cNvPr id="223" name="Vis 223"/>
          <p:cNvSpPr/>
          <p:nvPr/>
        </p:nvSpPr>
        <p:spPr>
          <a:xfrm>
            <a:off x="7808976" y="2011680"/>
            <a:ext cx="530352" cy="713232"/>
          </a:xfrm>
          <a:prstGeom prst="rect">
            <a:avLst/>
          </a:prstGeom>
          <a:solidFill>
            <a:srgbClr val="F7E6E0"/>
          </a:solidFill>
          <a:ln w="28575">
            <a:solidFill>
              <a:srgbClr val="C0402A"/>
            </a:solidFill>
          </a:ln>
        </p:spPr>
      </p:sp>
      <p:sp>
        <p:nvSpPr>
          <p:cNvPr id="224" name="Vis 224"/>
          <p:cNvSpPr/>
          <p:nvPr/>
        </p:nvSpPr>
        <p:spPr>
          <a:xfrm>
            <a:off x="7882128" y="2103120"/>
            <a:ext cx="384048" cy="109728"/>
          </a:xfrm>
          <a:prstGeom prst="rect">
            <a:avLst/>
          </a:prstGeom>
          <a:solidFill>
            <a:srgbClr val="C0402A"/>
          </a:solidFill>
          <a:ln>
            <a:noFill/>
          </a:ln>
        </p:spPr>
      </p:sp>
      <p:sp>
        <p:nvSpPr>
          <p:cNvPr id="225" name="Vis 225"/>
          <p:cNvSpPr/>
          <p:nvPr/>
        </p:nvSpPr>
        <p:spPr>
          <a:xfrm>
            <a:off x="7882128" y="2286000"/>
            <a:ext cx="310896" cy="45720"/>
          </a:xfrm>
          <a:prstGeom prst="rect">
            <a:avLst/>
          </a:prstGeom>
          <a:solidFill>
            <a:srgbClr val="E4E0D9"/>
          </a:solidFill>
          <a:ln>
            <a:noFill/>
          </a:ln>
        </p:spPr>
      </p:sp>
      <p:sp>
        <p:nvSpPr>
          <p:cNvPr id="226" name="Vis 226"/>
          <p:cNvSpPr/>
          <p:nvPr/>
        </p:nvSpPr>
        <p:spPr>
          <a:xfrm>
            <a:off x="7882128" y="2377440"/>
            <a:ext cx="256032" cy="45720"/>
          </a:xfrm>
          <a:prstGeom prst="rect">
            <a:avLst/>
          </a:prstGeom>
          <a:solidFill>
            <a:srgbClr val="E4E0D9"/>
          </a:solidFill>
          <a:ln>
            <a:noFill/>
          </a:ln>
        </p:spPr>
      </p:sp>
      <p:sp>
        <p:nvSpPr>
          <p:cNvPr id="227" name="Vis 227"/>
          <p:cNvSpPr/>
          <p:nvPr/>
        </p:nvSpPr>
        <p:spPr>
          <a:xfrm>
            <a:off x="8476488" y="2011680"/>
            <a:ext cx="530352" cy="713232"/>
          </a:xfrm>
          <a:prstGeom prst="rect">
            <a:avLst/>
          </a:prstGeom>
          <a:solidFill>
            <a:srgbClr val="FFFFFF"/>
          </a:solidFill>
          <a:ln w="9525">
            <a:solidFill>
              <a:srgbClr val="D5D1CA"/>
            </a:solidFill>
          </a:ln>
        </p:spPr>
      </p:sp>
      <p:sp>
        <p:nvSpPr>
          <p:cNvPr id="228" name="Vis 228"/>
          <p:cNvSpPr/>
          <p:nvPr/>
        </p:nvSpPr>
        <p:spPr>
          <a:xfrm>
            <a:off x="8549640" y="2103120"/>
            <a:ext cx="384048" cy="109728"/>
          </a:xfrm>
          <a:prstGeom prst="rect">
            <a:avLst/>
          </a:prstGeom>
          <a:solidFill>
            <a:srgbClr val="E4E0D9"/>
          </a:solidFill>
          <a:ln>
            <a:noFill/>
          </a:ln>
        </p:spPr>
      </p:sp>
      <p:sp>
        <p:nvSpPr>
          <p:cNvPr id="229" name="Vis 229"/>
          <p:cNvSpPr/>
          <p:nvPr/>
        </p:nvSpPr>
        <p:spPr>
          <a:xfrm>
            <a:off x="8549640" y="2286000"/>
            <a:ext cx="310896" cy="45720"/>
          </a:xfrm>
          <a:prstGeom prst="rect">
            <a:avLst/>
          </a:prstGeom>
          <a:solidFill>
            <a:srgbClr val="E4E0D9"/>
          </a:solidFill>
          <a:ln>
            <a:noFill/>
          </a:ln>
        </p:spPr>
      </p:sp>
      <p:sp>
        <p:nvSpPr>
          <p:cNvPr id="230" name="Vis 230"/>
          <p:cNvSpPr/>
          <p:nvPr/>
        </p:nvSpPr>
        <p:spPr>
          <a:xfrm>
            <a:off x="8549640" y="2377440"/>
            <a:ext cx="256032" cy="45720"/>
          </a:xfrm>
          <a:prstGeom prst="rect">
            <a:avLst/>
          </a:prstGeom>
          <a:solidFill>
            <a:srgbClr val="E4E0D9"/>
          </a:solidFill>
          <a:ln>
            <a:noFill/>
          </a:ln>
        </p:spPr>
      </p:sp>
      <p:sp>
        <p:nvSpPr>
          <p:cNvPr id="231" name="Vis 231"/>
          <p:cNvSpPr/>
          <p:nvPr/>
        </p:nvSpPr>
        <p:spPr>
          <a:xfrm>
            <a:off x="9144000" y="2011680"/>
            <a:ext cx="530352" cy="713232"/>
          </a:xfrm>
          <a:prstGeom prst="rect">
            <a:avLst/>
          </a:prstGeom>
          <a:solidFill>
            <a:srgbClr val="FFFFFF"/>
          </a:solidFill>
          <a:ln w="9525">
            <a:solidFill>
              <a:srgbClr val="D5D1CA"/>
            </a:solidFill>
          </a:ln>
        </p:spPr>
      </p:sp>
      <p:sp>
        <p:nvSpPr>
          <p:cNvPr id="232" name="Vis 232"/>
          <p:cNvSpPr/>
          <p:nvPr/>
        </p:nvSpPr>
        <p:spPr>
          <a:xfrm>
            <a:off x="9217152" y="2103120"/>
            <a:ext cx="384048" cy="109728"/>
          </a:xfrm>
          <a:prstGeom prst="rect">
            <a:avLst/>
          </a:prstGeom>
          <a:solidFill>
            <a:srgbClr val="E4E0D9"/>
          </a:solidFill>
          <a:ln>
            <a:noFill/>
          </a:ln>
        </p:spPr>
      </p:sp>
      <p:sp>
        <p:nvSpPr>
          <p:cNvPr id="233" name="Vis 233"/>
          <p:cNvSpPr/>
          <p:nvPr/>
        </p:nvSpPr>
        <p:spPr>
          <a:xfrm>
            <a:off x="9217152" y="2286000"/>
            <a:ext cx="310896" cy="45720"/>
          </a:xfrm>
          <a:prstGeom prst="rect">
            <a:avLst/>
          </a:prstGeom>
          <a:solidFill>
            <a:srgbClr val="E4E0D9"/>
          </a:solidFill>
          <a:ln>
            <a:noFill/>
          </a:ln>
        </p:spPr>
      </p:sp>
      <p:sp>
        <p:nvSpPr>
          <p:cNvPr id="234" name="Vis 234"/>
          <p:cNvSpPr/>
          <p:nvPr/>
        </p:nvSpPr>
        <p:spPr>
          <a:xfrm>
            <a:off x="9217152" y="2377440"/>
            <a:ext cx="256032" cy="45720"/>
          </a:xfrm>
          <a:prstGeom prst="rect">
            <a:avLst/>
          </a:prstGeom>
          <a:solidFill>
            <a:srgbClr val="E4E0D9"/>
          </a:solidFill>
          <a:ln>
            <a:noFill/>
          </a:ln>
        </p:spPr>
      </p:sp>
      <p:sp>
        <p:nvSpPr>
          <p:cNvPr id="235" name="Vis 235"/>
          <p:cNvSpPr/>
          <p:nvPr/>
        </p:nvSpPr>
        <p:spPr>
          <a:xfrm>
            <a:off x="9811512" y="2011680"/>
            <a:ext cx="530352" cy="713232"/>
          </a:xfrm>
          <a:prstGeom prst="rect">
            <a:avLst/>
          </a:prstGeom>
          <a:solidFill>
            <a:srgbClr val="FFFFFF"/>
          </a:solidFill>
          <a:ln w="9525">
            <a:solidFill>
              <a:srgbClr val="D5D1CA"/>
            </a:solidFill>
          </a:ln>
        </p:spPr>
      </p:sp>
      <p:sp>
        <p:nvSpPr>
          <p:cNvPr id="236" name="Vis 236"/>
          <p:cNvSpPr/>
          <p:nvPr/>
        </p:nvSpPr>
        <p:spPr>
          <a:xfrm>
            <a:off x="9884664" y="2103120"/>
            <a:ext cx="384048" cy="109728"/>
          </a:xfrm>
          <a:prstGeom prst="rect">
            <a:avLst/>
          </a:prstGeom>
          <a:solidFill>
            <a:srgbClr val="E4E0D9"/>
          </a:solidFill>
          <a:ln>
            <a:noFill/>
          </a:ln>
        </p:spPr>
      </p:sp>
      <p:sp>
        <p:nvSpPr>
          <p:cNvPr id="237" name="Vis 237"/>
          <p:cNvSpPr/>
          <p:nvPr/>
        </p:nvSpPr>
        <p:spPr>
          <a:xfrm>
            <a:off x="9884664" y="2286000"/>
            <a:ext cx="310896" cy="45720"/>
          </a:xfrm>
          <a:prstGeom prst="rect">
            <a:avLst/>
          </a:prstGeom>
          <a:solidFill>
            <a:srgbClr val="E4E0D9"/>
          </a:solidFill>
          <a:ln>
            <a:noFill/>
          </a:ln>
        </p:spPr>
      </p:sp>
      <p:sp>
        <p:nvSpPr>
          <p:cNvPr id="238" name="Vis 238"/>
          <p:cNvSpPr/>
          <p:nvPr/>
        </p:nvSpPr>
        <p:spPr>
          <a:xfrm>
            <a:off x="9884664" y="2377440"/>
            <a:ext cx="256032" cy="45720"/>
          </a:xfrm>
          <a:prstGeom prst="rect">
            <a:avLst/>
          </a:prstGeom>
          <a:solidFill>
            <a:srgbClr val="E4E0D9"/>
          </a:solidFill>
          <a:ln>
            <a:noFill/>
          </a:ln>
        </p:spPr>
      </p:sp>
      <p:sp>
        <p:nvSpPr>
          <p:cNvPr id="239" name="Vis 239"/>
          <p:cNvSpPr/>
          <p:nvPr/>
        </p:nvSpPr>
        <p:spPr>
          <a:xfrm>
            <a:off x="10479024" y="2011680"/>
            <a:ext cx="530352" cy="713232"/>
          </a:xfrm>
          <a:prstGeom prst="rect">
            <a:avLst/>
          </a:prstGeom>
          <a:solidFill>
            <a:srgbClr val="FFFFFF"/>
          </a:solidFill>
          <a:ln w="9525">
            <a:solidFill>
              <a:srgbClr val="D5D1CA"/>
            </a:solidFill>
          </a:ln>
        </p:spPr>
      </p:sp>
      <p:sp>
        <p:nvSpPr>
          <p:cNvPr id="240" name="Vis 240"/>
          <p:cNvSpPr/>
          <p:nvPr/>
        </p:nvSpPr>
        <p:spPr>
          <a:xfrm>
            <a:off x="10552176" y="2103120"/>
            <a:ext cx="384048" cy="109728"/>
          </a:xfrm>
          <a:prstGeom prst="rect">
            <a:avLst/>
          </a:prstGeom>
          <a:solidFill>
            <a:srgbClr val="E4E0D9"/>
          </a:solidFill>
          <a:ln>
            <a:noFill/>
          </a:ln>
        </p:spPr>
      </p:sp>
      <p:sp>
        <p:nvSpPr>
          <p:cNvPr id="241" name="Vis 241"/>
          <p:cNvSpPr/>
          <p:nvPr/>
        </p:nvSpPr>
        <p:spPr>
          <a:xfrm>
            <a:off x="10552176" y="2286000"/>
            <a:ext cx="310896" cy="45720"/>
          </a:xfrm>
          <a:prstGeom prst="rect">
            <a:avLst/>
          </a:prstGeom>
          <a:solidFill>
            <a:srgbClr val="E4E0D9"/>
          </a:solidFill>
          <a:ln>
            <a:noFill/>
          </a:ln>
        </p:spPr>
      </p:sp>
      <p:sp>
        <p:nvSpPr>
          <p:cNvPr id="242" name="Vis 242"/>
          <p:cNvSpPr/>
          <p:nvPr/>
        </p:nvSpPr>
        <p:spPr>
          <a:xfrm>
            <a:off x="10552176" y="2377440"/>
            <a:ext cx="256032" cy="45720"/>
          </a:xfrm>
          <a:prstGeom prst="rect">
            <a:avLst/>
          </a:prstGeom>
          <a:solidFill>
            <a:srgbClr val="E4E0D9"/>
          </a:solidFill>
          <a:ln>
            <a:noFill/>
          </a:ln>
        </p:spPr>
      </p:sp>
      <p:sp>
        <p:nvSpPr>
          <p:cNvPr id="243" name="Vis 243"/>
          <p:cNvSpPr/>
          <p:nvPr/>
        </p:nvSpPr>
        <p:spPr>
          <a:xfrm>
            <a:off x="5806440" y="2862072"/>
            <a:ext cx="530352" cy="713232"/>
          </a:xfrm>
          <a:prstGeom prst="rect">
            <a:avLst/>
          </a:prstGeom>
          <a:solidFill>
            <a:srgbClr val="FFFFFF"/>
          </a:solidFill>
          <a:ln w="9525">
            <a:solidFill>
              <a:srgbClr val="D5D1CA"/>
            </a:solidFill>
          </a:ln>
        </p:spPr>
      </p:sp>
      <p:sp>
        <p:nvSpPr>
          <p:cNvPr id="244" name="Vis 244"/>
          <p:cNvSpPr/>
          <p:nvPr/>
        </p:nvSpPr>
        <p:spPr>
          <a:xfrm>
            <a:off x="5879592" y="2953512"/>
            <a:ext cx="384048" cy="109728"/>
          </a:xfrm>
          <a:prstGeom prst="rect">
            <a:avLst/>
          </a:prstGeom>
          <a:solidFill>
            <a:srgbClr val="E4E0D9"/>
          </a:solidFill>
          <a:ln>
            <a:noFill/>
          </a:ln>
        </p:spPr>
      </p:sp>
      <p:sp>
        <p:nvSpPr>
          <p:cNvPr id="245" name="Vis 245"/>
          <p:cNvSpPr/>
          <p:nvPr/>
        </p:nvSpPr>
        <p:spPr>
          <a:xfrm>
            <a:off x="5879592" y="3136392"/>
            <a:ext cx="310896" cy="45720"/>
          </a:xfrm>
          <a:prstGeom prst="rect">
            <a:avLst/>
          </a:prstGeom>
          <a:solidFill>
            <a:srgbClr val="E4E0D9"/>
          </a:solidFill>
          <a:ln>
            <a:noFill/>
          </a:ln>
        </p:spPr>
      </p:sp>
      <p:sp>
        <p:nvSpPr>
          <p:cNvPr id="246" name="Vis 246"/>
          <p:cNvSpPr/>
          <p:nvPr/>
        </p:nvSpPr>
        <p:spPr>
          <a:xfrm>
            <a:off x="5879592" y="3227832"/>
            <a:ext cx="256032" cy="45720"/>
          </a:xfrm>
          <a:prstGeom prst="rect">
            <a:avLst/>
          </a:prstGeom>
          <a:solidFill>
            <a:srgbClr val="E4E0D9"/>
          </a:solidFill>
          <a:ln>
            <a:noFill/>
          </a:ln>
        </p:spPr>
      </p:sp>
      <p:sp>
        <p:nvSpPr>
          <p:cNvPr id="247" name="Vis 247"/>
          <p:cNvSpPr/>
          <p:nvPr/>
        </p:nvSpPr>
        <p:spPr>
          <a:xfrm>
            <a:off x="6473952" y="2862072"/>
            <a:ext cx="530352" cy="713232"/>
          </a:xfrm>
          <a:prstGeom prst="rect">
            <a:avLst/>
          </a:prstGeom>
          <a:solidFill>
            <a:srgbClr val="F7E6E0"/>
          </a:solidFill>
          <a:ln w="28575">
            <a:solidFill>
              <a:srgbClr val="C0402A"/>
            </a:solidFill>
          </a:ln>
        </p:spPr>
      </p:sp>
      <p:sp>
        <p:nvSpPr>
          <p:cNvPr id="248" name="Vis 248"/>
          <p:cNvSpPr/>
          <p:nvPr/>
        </p:nvSpPr>
        <p:spPr>
          <a:xfrm>
            <a:off x="6547104" y="2953512"/>
            <a:ext cx="384048" cy="109728"/>
          </a:xfrm>
          <a:prstGeom prst="rect">
            <a:avLst/>
          </a:prstGeom>
          <a:solidFill>
            <a:srgbClr val="C0402A"/>
          </a:solidFill>
          <a:ln>
            <a:noFill/>
          </a:ln>
        </p:spPr>
      </p:sp>
      <p:sp>
        <p:nvSpPr>
          <p:cNvPr id="249" name="Vis 249"/>
          <p:cNvSpPr/>
          <p:nvPr/>
        </p:nvSpPr>
        <p:spPr>
          <a:xfrm>
            <a:off x="6547104" y="3136392"/>
            <a:ext cx="310896" cy="45720"/>
          </a:xfrm>
          <a:prstGeom prst="rect">
            <a:avLst/>
          </a:prstGeom>
          <a:solidFill>
            <a:srgbClr val="E4E0D9"/>
          </a:solidFill>
          <a:ln>
            <a:noFill/>
          </a:ln>
        </p:spPr>
      </p:sp>
      <p:sp>
        <p:nvSpPr>
          <p:cNvPr id="250" name="Vis 250"/>
          <p:cNvSpPr/>
          <p:nvPr/>
        </p:nvSpPr>
        <p:spPr>
          <a:xfrm>
            <a:off x="6547104" y="3227832"/>
            <a:ext cx="256032" cy="45720"/>
          </a:xfrm>
          <a:prstGeom prst="rect">
            <a:avLst/>
          </a:prstGeom>
          <a:solidFill>
            <a:srgbClr val="E4E0D9"/>
          </a:solidFill>
          <a:ln>
            <a:noFill/>
          </a:ln>
        </p:spPr>
      </p:sp>
      <p:sp>
        <p:nvSpPr>
          <p:cNvPr id="251" name="Vis 251"/>
          <p:cNvSpPr/>
          <p:nvPr/>
        </p:nvSpPr>
        <p:spPr>
          <a:xfrm>
            <a:off x="7141464" y="2862072"/>
            <a:ext cx="530352" cy="713232"/>
          </a:xfrm>
          <a:prstGeom prst="rect">
            <a:avLst/>
          </a:prstGeom>
          <a:solidFill>
            <a:srgbClr val="FFFFFF"/>
          </a:solidFill>
          <a:ln w="9525">
            <a:solidFill>
              <a:srgbClr val="D5D1CA"/>
            </a:solidFill>
          </a:ln>
        </p:spPr>
      </p:sp>
      <p:sp>
        <p:nvSpPr>
          <p:cNvPr id="252" name="Vis 252"/>
          <p:cNvSpPr/>
          <p:nvPr/>
        </p:nvSpPr>
        <p:spPr>
          <a:xfrm>
            <a:off x="7214616" y="2953512"/>
            <a:ext cx="384048" cy="109728"/>
          </a:xfrm>
          <a:prstGeom prst="rect">
            <a:avLst/>
          </a:prstGeom>
          <a:solidFill>
            <a:srgbClr val="E4E0D9"/>
          </a:solidFill>
          <a:ln>
            <a:noFill/>
          </a:ln>
        </p:spPr>
      </p:sp>
      <p:sp>
        <p:nvSpPr>
          <p:cNvPr id="253" name="Vis 253"/>
          <p:cNvSpPr/>
          <p:nvPr/>
        </p:nvSpPr>
        <p:spPr>
          <a:xfrm>
            <a:off x="7214616" y="3136392"/>
            <a:ext cx="310896" cy="45720"/>
          </a:xfrm>
          <a:prstGeom prst="rect">
            <a:avLst/>
          </a:prstGeom>
          <a:solidFill>
            <a:srgbClr val="E4E0D9"/>
          </a:solidFill>
          <a:ln>
            <a:noFill/>
          </a:ln>
        </p:spPr>
      </p:sp>
      <p:sp>
        <p:nvSpPr>
          <p:cNvPr id="254" name="Vis 254"/>
          <p:cNvSpPr/>
          <p:nvPr/>
        </p:nvSpPr>
        <p:spPr>
          <a:xfrm>
            <a:off x="7214616" y="3227832"/>
            <a:ext cx="256032" cy="45720"/>
          </a:xfrm>
          <a:prstGeom prst="rect">
            <a:avLst/>
          </a:prstGeom>
          <a:solidFill>
            <a:srgbClr val="E4E0D9"/>
          </a:solidFill>
          <a:ln>
            <a:noFill/>
          </a:ln>
        </p:spPr>
      </p:sp>
      <p:sp>
        <p:nvSpPr>
          <p:cNvPr id="255" name="Vis 255"/>
          <p:cNvSpPr/>
          <p:nvPr/>
        </p:nvSpPr>
        <p:spPr>
          <a:xfrm>
            <a:off x="7808976" y="2862072"/>
            <a:ext cx="530352" cy="713232"/>
          </a:xfrm>
          <a:prstGeom prst="rect">
            <a:avLst/>
          </a:prstGeom>
          <a:solidFill>
            <a:srgbClr val="FFFFFF"/>
          </a:solidFill>
          <a:ln w="9525">
            <a:solidFill>
              <a:srgbClr val="D5D1CA"/>
            </a:solidFill>
          </a:ln>
        </p:spPr>
      </p:sp>
      <p:sp>
        <p:nvSpPr>
          <p:cNvPr id="256" name="Vis 256"/>
          <p:cNvSpPr/>
          <p:nvPr/>
        </p:nvSpPr>
        <p:spPr>
          <a:xfrm>
            <a:off x="7882128" y="2953512"/>
            <a:ext cx="384048" cy="109728"/>
          </a:xfrm>
          <a:prstGeom prst="rect">
            <a:avLst/>
          </a:prstGeom>
          <a:solidFill>
            <a:srgbClr val="E4E0D9"/>
          </a:solidFill>
          <a:ln>
            <a:noFill/>
          </a:ln>
        </p:spPr>
      </p:sp>
      <p:sp>
        <p:nvSpPr>
          <p:cNvPr id="257" name="Vis 257"/>
          <p:cNvSpPr/>
          <p:nvPr/>
        </p:nvSpPr>
        <p:spPr>
          <a:xfrm>
            <a:off x="7882128" y="3136392"/>
            <a:ext cx="310896" cy="45720"/>
          </a:xfrm>
          <a:prstGeom prst="rect">
            <a:avLst/>
          </a:prstGeom>
          <a:solidFill>
            <a:srgbClr val="E4E0D9"/>
          </a:solidFill>
          <a:ln>
            <a:noFill/>
          </a:ln>
        </p:spPr>
      </p:sp>
      <p:sp>
        <p:nvSpPr>
          <p:cNvPr id="258" name="Vis 258"/>
          <p:cNvSpPr/>
          <p:nvPr/>
        </p:nvSpPr>
        <p:spPr>
          <a:xfrm>
            <a:off x="7882128" y="3227832"/>
            <a:ext cx="256032" cy="45720"/>
          </a:xfrm>
          <a:prstGeom prst="rect">
            <a:avLst/>
          </a:prstGeom>
          <a:solidFill>
            <a:srgbClr val="E4E0D9"/>
          </a:solidFill>
          <a:ln>
            <a:noFill/>
          </a:ln>
        </p:spPr>
      </p:sp>
      <p:sp>
        <p:nvSpPr>
          <p:cNvPr id="259" name="Vis 259"/>
          <p:cNvSpPr/>
          <p:nvPr/>
        </p:nvSpPr>
        <p:spPr>
          <a:xfrm>
            <a:off x="8476488" y="2862072"/>
            <a:ext cx="530352" cy="713232"/>
          </a:xfrm>
          <a:prstGeom prst="rect">
            <a:avLst/>
          </a:prstGeom>
          <a:solidFill>
            <a:srgbClr val="F7E6E0"/>
          </a:solidFill>
          <a:ln w="28575">
            <a:solidFill>
              <a:srgbClr val="C0402A"/>
            </a:solidFill>
          </a:ln>
        </p:spPr>
      </p:sp>
      <p:sp>
        <p:nvSpPr>
          <p:cNvPr id="260" name="Vis 260"/>
          <p:cNvSpPr/>
          <p:nvPr/>
        </p:nvSpPr>
        <p:spPr>
          <a:xfrm>
            <a:off x="8549640" y="2953512"/>
            <a:ext cx="384048" cy="109728"/>
          </a:xfrm>
          <a:prstGeom prst="rect">
            <a:avLst/>
          </a:prstGeom>
          <a:solidFill>
            <a:srgbClr val="C0402A"/>
          </a:solidFill>
          <a:ln>
            <a:noFill/>
          </a:ln>
        </p:spPr>
      </p:sp>
      <p:sp>
        <p:nvSpPr>
          <p:cNvPr id="261" name="Vis 261"/>
          <p:cNvSpPr/>
          <p:nvPr/>
        </p:nvSpPr>
        <p:spPr>
          <a:xfrm>
            <a:off x="8549640" y="3136392"/>
            <a:ext cx="310896" cy="45720"/>
          </a:xfrm>
          <a:prstGeom prst="rect">
            <a:avLst/>
          </a:prstGeom>
          <a:solidFill>
            <a:srgbClr val="E4E0D9"/>
          </a:solidFill>
          <a:ln>
            <a:noFill/>
          </a:ln>
        </p:spPr>
      </p:sp>
      <p:sp>
        <p:nvSpPr>
          <p:cNvPr id="262" name="Vis 262"/>
          <p:cNvSpPr/>
          <p:nvPr/>
        </p:nvSpPr>
        <p:spPr>
          <a:xfrm>
            <a:off x="8549640" y="3227832"/>
            <a:ext cx="256032" cy="45720"/>
          </a:xfrm>
          <a:prstGeom prst="rect">
            <a:avLst/>
          </a:prstGeom>
          <a:solidFill>
            <a:srgbClr val="E4E0D9"/>
          </a:solidFill>
          <a:ln>
            <a:noFill/>
          </a:ln>
        </p:spPr>
      </p:sp>
      <p:sp>
        <p:nvSpPr>
          <p:cNvPr id="263" name="Vis 263"/>
          <p:cNvSpPr/>
          <p:nvPr/>
        </p:nvSpPr>
        <p:spPr>
          <a:xfrm>
            <a:off x="9144000" y="2862072"/>
            <a:ext cx="530352" cy="713232"/>
          </a:xfrm>
          <a:prstGeom prst="rect">
            <a:avLst/>
          </a:prstGeom>
          <a:solidFill>
            <a:srgbClr val="FFFFFF"/>
          </a:solidFill>
          <a:ln w="9525">
            <a:solidFill>
              <a:srgbClr val="D5D1CA"/>
            </a:solidFill>
          </a:ln>
        </p:spPr>
      </p:sp>
      <p:sp>
        <p:nvSpPr>
          <p:cNvPr id="264" name="Vis 264"/>
          <p:cNvSpPr/>
          <p:nvPr/>
        </p:nvSpPr>
        <p:spPr>
          <a:xfrm>
            <a:off x="9217152" y="2953512"/>
            <a:ext cx="384048" cy="109728"/>
          </a:xfrm>
          <a:prstGeom prst="rect">
            <a:avLst/>
          </a:prstGeom>
          <a:solidFill>
            <a:srgbClr val="E4E0D9"/>
          </a:solidFill>
          <a:ln>
            <a:noFill/>
          </a:ln>
        </p:spPr>
      </p:sp>
      <p:sp>
        <p:nvSpPr>
          <p:cNvPr id="265" name="Vis 265"/>
          <p:cNvSpPr/>
          <p:nvPr/>
        </p:nvSpPr>
        <p:spPr>
          <a:xfrm>
            <a:off x="9217152" y="3136392"/>
            <a:ext cx="310896" cy="45720"/>
          </a:xfrm>
          <a:prstGeom prst="rect">
            <a:avLst/>
          </a:prstGeom>
          <a:solidFill>
            <a:srgbClr val="E4E0D9"/>
          </a:solidFill>
          <a:ln>
            <a:noFill/>
          </a:ln>
        </p:spPr>
      </p:sp>
      <p:sp>
        <p:nvSpPr>
          <p:cNvPr id="266" name="Vis 266"/>
          <p:cNvSpPr/>
          <p:nvPr/>
        </p:nvSpPr>
        <p:spPr>
          <a:xfrm>
            <a:off x="9217152" y="3227832"/>
            <a:ext cx="256032" cy="45720"/>
          </a:xfrm>
          <a:prstGeom prst="rect">
            <a:avLst/>
          </a:prstGeom>
          <a:solidFill>
            <a:srgbClr val="E4E0D9"/>
          </a:solidFill>
          <a:ln>
            <a:noFill/>
          </a:ln>
        </p:spPr>
      </p:sp>
      <p:sp>
        <p:nvSpPr>
          <p:cNvPr id="267" name="Vis 267"/>
          <p:cNvSpPr/>
          <p:nvPr/>
        </p:nvSpPr>
        <p:spPr>
          <a:xfrm>
            <a:off x="9811512" y="2862072"/>
            <a:ext cx="530352" cy="713232"/>
          </a:xfrm>
          <a:prstGeom prst="rect">
            <a:avLst/>
          </a:prstGeom>
          <a:solidFill>
            <a:srgbClr val="FFFFFF"/>
          </a:solidFill>
          <a:ln w="9525">
            <a:solidFill>
              <a:srgbClr val="D5D1CA"/>
            </a:solidFill>
          </a:ln>
        </p:spPr>
      </p:sp>
      <p:sp>
        <p:nvSpPr>
          <p:cNvPr id="268" name="Vis 268"/>
          <p:cNvSpPr/>
          <p:nvPr/>
        </p:nvSpPr>
        <p:spPr>
          <a:xfrm>
            <a:off x="9884664" y="2953512"/>
            <a:ext cx="384048" cy="109728"/>
          </a:xfrm>
          <a:prstGeom prst="rect">
            <a:avLst/>
          </a:prstGeom>
          <a:solidFill>
            <a:srgbClr val="E4E0D9"/>
          </a:solidFill>
          <a:ln>
            <a:noFill/>
          </a:ln>
        </p:spPr>
      </p:sp>
      <p:sp>
        <p:nvSpPr>
          <p:cNvPr id="269" name="Vis 269"/>
          <p:cNvSpPr/>
          <p:nvPr/>
        </p:nvSpPr>
        <p:spPr>
          <a:xfrm>
            <a:off x="9884664" y="3136392"/>
            <a:ext cx="310896" cy="45720"/>
          </a:xfrm>
          <a:prstGeom prst="rect">
            <a:avLst/>
          </a:prstGeom>
          <a:solidFill>
            <a:srgbClr val="E4E0D9"/>
          </a:solidFill>
          <a:ln>
            <a:noFill/>
          </a:ln>
        </p:spPr>
      </p:sp>
      <p:sp>
        <p:nvSpPr>
          <p:cNvPr id="270" name="Vis 270"/>
          <p:cNvSpPr/>
          <p:nvPr/>
        </p:nvSpPr>
        <p:spPr>
          <a:xfrm>
            <a:off x="9884664" y="3227832"/>
            <a:ext cx="256032" cy="45720"/>
          </a:xfrm>
          <a:prstGeom prst="rect">
            <a:avLst/>
          </a:prstGeom>
          <a:solidFill>
            <a:srgbClr val="E4E0D9"/>
          </a:solidFill>
          <a:ln>
            <a:noFill/>
          </a:ln>
        </p:spPr>
      </p:sp>
      <p:sp>
        <p:nvSpPr>
          <p:cNvPr id="271" name="Vis 271"/>
          <p:cNvSpPr/>
          <p:nvPr/>
        </p:nvSpPr>
        <p:spPr>
          <a:xfrm>
            <a:off x="10479024" y="2862072"/>
            <a:ext cx="530352" cy="713232"/>
          </a:xfrm>
          <a:prstGeom prst="rect">
            <a:avLst/>
          </a:prstGeom>
          <a:solidFill>
            <a:srgbClr val="FFFFFF"/>
          </a:solidFill>
          <a:ln w="9525">
            <a:solidFill>
              <a:srgbClr val="D5D1CA"/>
            </a:solidFill>
          </a:ln>
        </p:spPr>
      </p:sp>
      <p:sp>
        <p:nvSpPr>
          <p:cNvPr id="272" name="Vis 272"/>
          <p:cNvSpPr/>
          <p:nvPr/>
        </p:nvSpPr>
        <p:spPr>
          <a:xfrm>
            <a:off x="10552176" y="2953512"/>
            <a:ext cx="384048" cy="109728"/>
          </a:xfrm>
          <a:prstGeom prst="rect">
            <a:avLst/>
          </a:prstGeom>
          <a:solidFill>
            <a:srgbClr val="E4E0D9"/>
          </a:solidFill>
          <a:ln>
            <a:noFill/>
          </a:ln>
        </p:spPr>
      </p:sp>
      <p:sp>
        <p:nvSpPr>
          <p:cNvPr id="273" name="Vis 273"/>
          <p:cNvSpPr/>
          <p:nvPr/>
        </p:nvSpPr>
        <p:spPr>
          <a:xfrm>
            <a:off x="10552176" y="3136392"/>
            <a:ext cx="310896" cy="45720"/>
          </a:xfrm>
          <a:prstGeom prst="rect">
            <a:avLst/>
          </a:prstGeom>
          <a:solidFill>
            <a:srgbClr val="E4E0D9"/>
          </a:solidFill>
          <a:ln>
            <a:noFill/>
          </a:ln>
        </p:spPr>
      </p:sp>
      <p:sp>
        <p:nvSpPr>
          <p:cNvPr id="274" name="Vis 274"/>
          <p:cNvSpPr/>
          <p:nvPr/>
        </p:nvSpPr>
        <p:spPr>
          <a:xfrm>
            <a:off x="10552176" y="3227832"/>
            <a:ext cx="256032" cy="45720"/>
          </a:xfrm>
          <a:prstGeom prst="rect">
            <a:avLst/>
          </a:prstGeom>
          <a:solidFill>
            <a:srgbClr val="E4E0D9"/>
          </a:solidFill>
          <a:ln>
            <a:noFill/>
          </a:ln>
        </p:spPr>
      </p:sp>
      <p:sp>
        <p:nvSpPr>
          <p:cNvPr id="275" name="Vis 275"/>
          <p:cNvSpPr/>
          <p:nvPr/>
        </p:nvSpPr>
        <p:spPr>
          <a:xfrm>
            <a:off x="5806440" y="3712464"/>
            <a:ext cx="530352" cy="713232"/>
          </a:xfrm>
          <a:prstGeom prst="rect">
            <a:avLst/>
          </a:prstGeom>
          <a:solidFill>
            <a:srgbClr val="FFFFFF"/>
          </a:solidFill>
          <a:ln w="9525">
            <a:solidFill>
              <a:srgbClr val="D5D1CA"/>
            </a:solidFill>
          </a:ln>
        </p:spPr>
      </p:sp>
      <p:sp>
        <p:nvSpPr>
          <p:cNvPr id="276" name="Vis 276"/>
          <p:cNvSpPr/>
          <p:nvPr/>
        </p:nvSpPr>
        <p:spPr>
          <a:xfrm>
            <a:off x="5879592" y="3803904"/>
            <a:ext cx="384048" cy="109728"/>
          </a:xfrm>
          <a:prstGeom prst="rect">
            <a:avLst/>
          </a:prstGeom>
          <a:solidFill>
            <a:srgbClr val="E4E0D9"/>
          </a:solidFill>
          <a:ln>
            <a:noFill/>
          </a:ln>
        </p:spPr>
      </p:sp>
      <p:sp>
        <p:nvSpPr>
          <p:cNvPr id="277" name="Vis 277"/>
          <p:cNvSpPr/>
          <p:nvPr/>
        </p:nvSpPr>
        <p:spPr>
          <a:xfrm>
            <a:off x="5879592" y="3986784"/>
            <a:ext cx="310896" cy="45720"/>
          </a:xfrm>
          <a:prstGeom prst="rect">
            <a:avLst/>
          </a:prstGeom>
          <a:solidFill>
            <a:srgbClr val="E4E0D9"/>
          </a:solidFill>
          <a:ln>
            <a:noFill/>
          </a:ln>
        </p:spPr>
      </p:sp>
      <p:sp>
        <p:nvSpPr>
          <p:cNvPr id="278" name="Vis 278"/>
          <p:cNvSpPr/>
          <p:nvPr/>
        </p:nvSpPr>
        <p:spPr>
          <a:xfrm>
            <a:off x="5879592" y="4078224"/>
            <a:ext cx="256032" cy="45720"/>
          </a:xfrm>
          <a:prstGeom prst="rect">
            <a:avLst/>
          </a:prstGeom>
          <a:solidFill>
            <a:srgbClr val="E4E0D9"/>
          </a:solidFill>
          <a:ln>
            <a:noFill/>
          </a:ln>
        </p:spPr>
      </p:sp>
      <p:sp>
        <p:nvSpPr>
          <p:cNvPr id="279" name="Vis 279"/>
          <p:cNvSpPr/>
          <p:nvPr/>
        </p:nvSpPr>
        <p:spPr>
          <a:xfrm>
            <a:off x="6473952" y="3712464"/>
            <a:ext cx="530352" cy="713232"/>
          </a:xfrm>
          <a:prstGeom prst="rect">
            <a:avLst/>
          </a:prstGeom>
          <a:solidFill>
            <a:srgbClr val="FFFFFF"/>
          </a:solidFill>
          <a:ln w="9525">
            <a:solidFill>
              <a:srgbClr val="D5D1CA"/>
            </a:solidFill>
          </a:ln>
        </p:spPr>
      </p:sp>
      <p:sp>
        <p:nvSpPr>
          <p:cNvPr id="280" name="Vis 280"/>
          <p:cNvSpPr/>
          <p:nvPr/>
        </p:nvSpPr>
        <p:spPr>
          <a:xfrm>
            <a:off x="6547104" y="3803904"/>
            <a:ext cx="384048" cy="109728"/>
          </a:xfrm>
          <a:prstGeom prst="rect">
            <a:avLst/>
          </a:prstGeom>
          <a:solidFill>
            <a:srgbClr val="E4E0D9"/>
          </a:solidFill>
          <a:ln>
            <a:noFill/>
          </a:ln>
        </p:spPr>
      </p:sp>
      <p:sp>
        <p:nvSpPr>
          <p:cNvPr id="281" name="Vis 281"/>
          <p:cNvSpPr/>
          <p:nvPr/>
        </p:nvSpPr>
        <p:spPr>
          <a:xfrm>
            <a:off x="6547104" y="3986784"/>
            <a:ext cx="310896" cy="45720"/>
          </a:xfrm>
          <a:prstGeom prst="rect">
            <a:avLst/>
          </a:prstGeom>
          <a:solidFill>
            <a:srgbClr val="E4E0D9"/>
          </a:solidFill>
          <a:ln>
            <a:noFill/>
          </a:ln>
        </p:spPr>
      </p:sp>
      <p:sp>
        <p:nvSpPr>
          <p:cNvPr id="282" name="Vis 282"/>
          <p:cNvSpPr/>
          <p:nvPr/>
        </p:nvSpPr>
        <p:spPr>
          <a:xfrm>
            <a:off x="6547104" y="4078224"/>
            <a:ext cx="256032" cy="45720"/>
          </a:xfrm>
          <a:prstGeom prst="rect">
            <a:avLst/>
          </a:prstGeom>
          <a:solidFill>
            <a:srgbClr val="E4E0D9"/>
          </a:solidFill>
          <a:ln>
            <a:noFill/>
          </a:ln>
        </p:spPr>
      </p:sp>
      <p:sp>
        <p:nvSpPr>
          <p:cNvPr id="283" name="Vis 283"/>
          <p:cNvSpPr/>
          <p:nvPr/>
        </p:nvSpPr>
        <p:spPr>
          <a:xfrm>
            <a:off x="7141464" y="3712464"/>
            <a:ext cx="530352" cy="713232"/>
          </a:xfrm>
          <a:prstGeom prst="rect">
            <a:avLst/>
          </a:prstGeom>
          <a:solidFill>
            <a:srgbClr val="FFFFFF"/>
          </a:solidFill>
          <a:ln w="9525">
            <a:solidFill>
              <a:srgbClr val="D5D1CA"/>
            </a:solidFill>
          </a:ln>
        </p:spPr>
      </p:sp>
      <p:sp>
        <p:nvSpPr>
          <p:cNvPr id="284" name="Vis 284"/>
          <p:cNvSpPr/>
          <p:nvPr/>
        </p:nvSpPr>
        <p:spPr>
          <a:xfrm>
            <a:off x="7214616" y="3803904"/>
            <a:ext cx="384048" cy="109728"/>
          </a:xfrm>
          <a:prstGeom prst="rect">
            <a:avLst/>
          </a:prstGeom>
          <a:solidFill>
            <a:srgbClr val="E4E0D9"/>
          </a:solidFill>
          <a:ln>
            <a:noFill/>
          </a:ln>
        </p:spPr>
      </p:sp>
      <p:sp>
        <p:nvSpPr>
          <p:cNvPr id="285" name="Vis 285"/>
          <p:cNvSpPr/>
          <p:nvPr/>
        </p:nvSpPr>
        <p:spPr>
          <a:xfrm>
            <a:off x="7214616" y="3986784"/>
            <a:ext cx="310896" cy="45720"/>
          </a:xfrm>
          <a:prstGeom prst="rect">
            <a:avLst/>
          </a:prstGeom>
          <a:solidFill>
            <a:srgbClr val="E4E0D9"/>
          </a:solidFill>
          <a:ln>
            <a:noFill/>
          </a:ln>
        </p:spPr>
      </p:sp>
      <p:sp>
        <p:nvSpPr>
          <p:cNvPr id="286" name="Vis 286"/>
          <p:cNvSpPr/>
          <p:nvPr/>
        </p:nvSpPr>
        <p:spPr>
          <a:xfrm>
            <a:off x="7214616" y="4078224"/>
            <a:ext cx="256032" cy="45720"/>
          </a:xfrm>
          <a:prstGeom prst="rect">
            <a:avLst/>
          </a:prstGeom>
          <a:solidFill>
            <a:srgbClr val="E4E0D9"/>
          </a:solidFill>
          <a:ln>
            <a:noFill/>
          </a:ln>
        </p:spPr>
      </p:sp>
      <p:sp>
        <p:nvSpPr>
          <p:cNvPr id="287" name="Vis 287"/>
          <p:cNvSpPr/>
          <p:nvPr/>
        </p:nvSpPr>
        <p:spPr>
          <a:xfrm>
            <a:off x="7808976" y="3712464"/>
            <a:ext cx="530352" cy="713232"/>
          </a:xfrm>
          <a:prstGeom prst="rect">
            <a:avLst/>
          </a:prstGeom>
          <a:solidFill>
            <a:srgbClr val="FFFFFF"/>
          </a:solidFill>
          <a:ln w="9525">
            <a:solidFill>
              <a:srgbClr val="D5D1CA"/>
            </a:solidFill>
          </a:ln>
        </p:spPr>
      </p:sp>
      <p:sp>
        <p:nvSpPr>
          <p:cNvPr id="288" name="Vis 288"/>
          <p:cNvSpPr/>
          <p:nvPr/>
        </p:nvSpPr>
        <p:spPr>
          <a:xfrm>
            <a:off x="7882128" y="3803904"/>
            <a:ext cx="384048" cy="109728"/>
          </a:xfrm>
          <a:prstGeom prst="rect">
            <a:avLst/>
          </a:prstGeom>
          <a:solidFill>
            <a:srgbClr val="E4E0D9"/>
          </a:solidFill>
          <a:ln>
            <a:noFill/>
          </a:ln>
        </p:spPr>
      </p:sp>
      <p:sp>
        <p:nvSpPr>
          <p:cNvPr id="289" name="Vis 289"/>
          <p:cNvSpPr/>
          <p:nvPr/>
        </p:nvSpPr>
        <p:spPr>
          <a:xfrm>
            <a:off x="7882128" y="3986784"/>
            <a:ext cx="310896" cy="45720"/>
          </a:xfrm>
          <a:prstGeom prst="rect">
            <a:avLst/>
          </a:prstGeom>
          <a:solidFill>
            <a:srgbClr val="E4E0D9"/>
          </a:solidFill>
          <a:ln>
            <a:noFill/>
          </a:ln>
        </p:spPr>
      </p:sp>
      <p:sp>
        <p:nvSpPr>
          <p:cNvPr id="290" name="Vis 290"/>
          <p:cNvSpPr/>
          <p:nvPr/>
        </p:nvSpPr>
        <p:spPr>
          <a:xfrm>
            <a:off x="7882128" y="4078224"/>
            <a:ext cx="256032" cy="45720"/>
          </a:xfrm>
          <a:prstGeom prst="rect">
            <a:avLst/>
          </a:prstGeom>
          <a:solidFill>
            <a:srgbClr val="E4E0D9"/>
          </a:solidFill>
          <a:ln>
            <a:noFill/>
          </a:ln>
        </p:spPr>
      </p:sp>
      <p:sp>
        <p:nvSpPr>
          <p:cNvPr id="291" name="Vis 291"/>
          <p:cNvSpPr/>
          <p:nvPr/>
        </p:nvSpPr>
        <p:spPr>
          <a:xfrm>
            <a:off x="8476488" y="3712464"/>
            <a:ext cx="530352" cy="713232"/>
          </a:xfrm>
          <a:prstGeom prst="rect">
            <a:avLst/>
          </a:prstGeom>
          <a:solidFill>
            <a:srgbClr val="F7E6E0"/>
          </a:solidFill>
          <a:ln w="28575">
            <a:solidFill>
              <a:srgbClr val="C0402A"/>
            </a:solidFill>
          </a:ln>
        </p:spPr>
      </p:sp>
      <p:sp>
        <p:nvSpPr>
          <p:cNvPr id="292" name="Vis 292"/>
          <p:cNvSpPr/>
          <p:nvPr/>
        </p:nvSpPr>
        <p:spPr>
          <a:xfrm>
            <a:off x="8549640" y="3803904"/>
            <a:ext cx="384048" cy="109728"/>
          </a:xfrm>
          <a:prstGeom prst="rect">
            <a:avLst/>
          </a:prstGeom>
          <a:solidFill>
            <a:srgbClr val="C0402A"/>
          </a:solidFill>
          <a:ln>
            <a:noFill/>
          </a:ln>
        </p:spPr>
      </p:sp>
      <p:sp>
        <p:nvSpPr>
          <p:cNvPr id="293" name="Vis 293"/>
          <p:cNvSpPr/>
          <p:nvPr/>
        </p:nvSpPr>
        <p:spPr>
          <a:xfrm>
            <a:off x="8549640" y="3986784"/>
            <a:ext cx="310896" cy="45720"/>
          </a:xfrm>
          <a:prstGeom prst="rect">
            <a:avLst/>
          </a:prstGeom>
          <a:solidFill>
            <a:srgbClr val="E4E0D9"/>
          </a:solidFill>
          <a:ln>
            <a:noFill/>
          </a:ln>
        </p:spPr>
      </p:sp>
      <p:sp>
        <p:nvSpPr>
          <p:cNvPr id="294" name="Vis 294"/>
          <p:cNvSpPr/>
          <p:nvPr/>
        </p:nvSpPr>
        <p:spPr>
          <a:xfrm>
            <a:off x="8549640" y="4078224"/>
            <a:ext cx="256032" cy="45720"/>
          </a:xfrm>
          <a:prstGeom prst="rect">
            <a:avLst/>
          </a:prstGeom>
          <a:solidFill>
            <a:srgbClr val="E4E0D9"/>
          </a:solidFill>
          <a:ln>
            <a:noFill/>
          </a:ln>
        </p:spPr>
      </p:sp>
      <p:sp>
        <p:nvSpPr>
          <p:cNvPr id="295" name="Vis 295"/>
          <p:cNvSpPr/>
          <p:nvPr/>
        </p:nvSpPr>
        <p:spPr>
          <a:xfrm>
            <a:off x="9144000" y="3712464"/>
            <a:ext cx="530352" cy="713232"/>
          </a:xfrm>
          <a:prstGeom prst="rect">
            <a:avLst/>
          </a:prstGeom>
          <a:solidFill>
            <a:srgbClr val="FFFFFF"/>
          </a:solidFill>
          <a:ln w="9525">
            <a:solidFill>
              <a:srgbClr val="D5D1CA"/>
            </a:solidFill>
          </a:ln>
        </p:spPr>
      </p:sp>
      <p:sp>
        <p:nvSpPr>
          <p:cNvPr id="296" name="Vis 296"/>
          <p:cNvSpPr/>
          <p:nvPr/>
        </p:nvSpPr>
        <p:spPr>
          <a:xfrm>
            <a:off x="9217152" y="3803904"/>
            <a:ext cx="384048" cy="109728"/>
          </a:xfrm>
          <a:prstGeom prst="rect">
            <a:avLst/>
          </a:prstGeom>
          <a:solidFill>
            <a:srgbClr val="E4E0D9"/>
          </a:solidFill>
          <a:ln>
            <a:noFill/>
          </a:ln>
        </p:spPr>
      </p:sp>
      <p:sp>
        <p:nvSpPr>
          <p:cNvPr id="297" name="Vis 297"/>
          <p:cNvSpPr/>
          <p:nvPr/>
        </p:nvSpPr>
        <p:spPr>
          <a:xfrm>
            <a:off x="9217152" y="3986784"/>
            <a:ext cx="310896" cy="45720"/>
          </a:xfrm>
          <a:prstGeom prst="rect">
            <a:avLst/>
          </a:prstGeom>
          <a:solidFill>
            <a:srgbClr val="E4E0D9"/>
          </a:solidFill>
          <a:ln>
            <a:noFill/>
          </a:ln>
        </p:spPr>
      </p:sp>
      <p:sp>
        <p:nvSpPr>
          <p:cNvPr id="298" name="Vis 298"/>
          <p:cNvSpPr/>
          <p:nvPr/>
        </p:nvSpPr>
        <p:spPr>
          <a:xfrm>
            <a:off x="9217152" y="4078224"/>
            <a:ext cx="256032" cy="45720"/>
          </a:xfrm>
          <a:prstGeom prst="rect">
            <a:avLst/>
          </a:prstGeom>
          <a:solidFill>
            <a:srgbClr val="E4E0D9"/>
          </a:solidFill>
          <a:ln>
            <a:noFill/>
          </a:ln>
        </p:spPr>
      </p:sp>
      <p:sp>
        <p:nvSpPr>
          <p:cNvPr id="299" name="Vis 299"/>
          <p:cNvSpPr/>
          <p:nvPr/>
        </p:nvSpPr>
        <p:spPr>
          <a:xfrm>
            <a:off x="9811512" y="3712464"/>
            <a:ext cx="530352" cy="713232"/>
          </a:xfrm>
          <a:prstGeom prst="rect">
            <a:avLst/>
          </a:prstGeom>
          <a:solidFill>
            <a:srgbClr val="FFFFFF"/>
          </a:solidFill>
          <a:ln w="9525">
            <a:solidFill>
              <a:srgbClr val="D5D1CA"/>
            </a:solidFill>
          </a:ln>
        </p:spPr>
      </p:sp>
      <p:sp>
        <p:nvSpPr>
          <p:cNvPr id="300" name="Vis 300"/>
          <p:cNvSpPr/>
          <p:nvPr/>
        </p:nvSpPr>
        <p:spPr>
          <a:xfrm>
            <a:off x="9884664" y="3803904"/>
            <a:ext cx="384048" cy="109728"/>
          </a:xfrm>
          <a:prstGeom prst="rect">
            <a:avLst/>
          </a:prstGeom>
          <a:solidFill>
            <a:srgbClr val="E4E0D9"/>
          </a:solidFill>
          <a:ln>
            <a:noFill/>
          </a:ln>
        </p:spPr>
      </p:sp>
      <p:sp>
        <p:nvSpPr>
          <p:cNvPr id="301" name="Vis 301"/>
          <p:cNvSpPr/>
          <p:nvPr/>
        </p:nvSpPr>
        <p:spPr>
          <a:xfrm>
            <a:off x="9884664" y="3986784"/>
            <a:ext cx="310896" cy="45720"/>
          </a:xfrm>
          <a:prstGeom prst="rect">
            <a:avLst/>
          </a:prstGeom>
          <a:solidFill>
            <a:srgbClr val="E4E0D9"/>
          </a:solidFill>
          <a:ln>
            <a:noFill/>
          </a:ln>
        </p:spPr>
      </p:sp>
      <p:sp>
        <p:nvSpPr>
          <p:cNvPr id="302" name="Vis 302"/>
          <p:cNvSpPr/>
          <p:nvPr/>
        </p:nvSpPr>
        <p:spPr>
          <a:xfrm>
            <a:off x="9884664" y="4078224"/>
            <a:ext cx="256032" cy="45720"/>
          </a:xfrm>
          <a:prstGeom prst="rect">
            <a:avLst/>
          </a:prstGeom>
          <a:solidFill>
            <a:srgbClr val="E4E0D9"/>
          </a:solidFill>
          <a:ln>
            <a:noFill/>
          </a:ln>
        </p:spPr>
      </p:sp>
      <p:sp>
        <p:nvSpPr>
          <p:cNvPr id="303" name="Vis 303"/>
          <p:cNvSpPr/>
          <p:nvPr/>
        </p:nvSpPr>
        <p:spPr>
          <a:xfrm>
            <a:off x="10479024" y="3712464"/>
            <a:ext cx="530352" cy="713232"/>
          </a:xfrm>
          <a:prstGeom prst="rect">
            <a:avLst/>
          </a:prstGeom>
          <a:solidFill>
            <a:srgbClr val="FFFFFF"/>
          </a:solidFill>
          <a:ln w="9525">
            <a:solidFill>
              <a:srgbClr val="D5D1CA"/>
            </a:solidFill>
          </a:ln>
        </p:spPr>
      </p:sp>
      <p:sp>
        <p:nvSpPr>
          <p:cNvPr id="304" name="Vis 304"/>
          <p:cNvSpPr/>
          <p:nvPr/>
        </p:nvSpPr>
        <p:spPr>
          <a:xfrm>
            <a:off x="10552176" y="3803904"/>
            <a:ext cx="384048" cy="109728"/>
          </a:xfrm>
          <a:prstGeom prst="rect">
            <a:avLst/>
          </a:prstGeom>
          <a:solidFill>
            <a:srgbClr val="E4E0D9"/>
          </a:solidFill>
          <a:ln>
            <a:noFill/>
          </a:ln>
        </p:spPr>
      </p:sp>
      <p:sp>
        <p:nvSpPr>
          <p:cNvPr id="305" name="Vis 305"/>
          <p:cNvSpPr/>
          <p:nvPr/>
        </p:nvSpPr>
        <p:spPr>
          <a:xfrm>
            <a:off x="10552176" y="3986784"/>
            <a:ext cx="310896" cy="45720"/>
          </a:xfrm>
          <a:prstGeom prst="rect">
            <a:avLst/>
          </a:prstGeom>
          <a:solidFill>
            <a:srgbClr val="E4E0D9"/>
          </a:solidFill>
          <a:ln>
            <a:noFill/>
          </a:ln>
        </p:spPr>
      </p:sp>
      <p:sp>
        <p:nvSpPr>
          <p:cNvPr id="306" name="Vis 306"/>
          <p:cNvSpPr/>
          <p:nvPr/>
        </p:nvSpPr>
        <p:spPr>
          <a:xfrm>
            <a:off x="10552176" y="4078224"/>
            <a:ext cx="256032" cy="45720"/>
          </a:xfrm>
          <a:prstGeom prst="rect">
            <a:avLst/>
          </a:prstGeom>
          <a:solidFill>
            <a:srgbClr val="E4E0D9"/>
          </a:solidFill>
          <a:ln>
            <a:noFill/>
          </a:ln>
        </p:spPr>
      </p:sp>
      <p:sp>
        <p:nvSpPr>
          <p:cNvPr id="307" name="Vis 307"/>
          <p:cNvSpPr/>
          <p:nvPr/>
        </p:nvSpPr>
        <p:spPr>
          <a:xfrm>
            <a:off x="5806440" y="4562856"/>
            <a:ext cx="530352" cy="713232"/>
          </a:xfrm>
          <a:prstGeom prst="rect">
            <a:avLst/>
          </a:prstGeom>
          <a:solidFill>
            <a:srgbClr val="FFFFFF"/>
          </a:solidFill>
          <a:ln w="9525">
            <a:solidFill>
              <a:srgbClr val="D5D1CA"/>
            </a:solidFill>
          </a:ln>
        </p:spPr>
      </p:sp>
      <p:sp>
        <p:nvSpPr>
          <p:cNvPr id="308" name="Vis 308"/>
          <p:cNvSpPr/>
          <p:nvPr/>
        </p:nvSpPr>
        <p:spPr>
          <a:xfrm>
            <a:off x="5879592" y="4654296"/>
            <a:ext cx="384048" cy="109728"/>
          </a:xfrm>
          <a:prstGeom prst="rect">
            <a:avLst/>
          </a:prstGeom>
          <a:solidFill>
            <a:srgbClr val="E4E0D9"/>
          </a:solidFill>
          <a:ln>
            <a:noFill/>
          </a:ln>
        </p:spPr>
      </p:sp>
      <p:sp>
        <p:nvSpPr>
          <p:cNvPr id="309" name="Vis 309"/>
          <p:cNvSpPr/>
          <p:nvPr/>
        </p:nvSpPr>
        <p:spPr>
          <a:xfrm>
            <a:off x="5879592" y="4837176"/>
            <a:ext cx="310896" cy="45720"/>
          </a:xfrm>
          <a:prstGeom prst="rect">
            <a:avLst/>
          </a:prstGeom>
          <a:solidFill>
            <a:srgbClr val="E4E0D9"/>
          </a:solidFill>
          <a:ln>
            <a:noFill/>
          </a:ln>
        </p:spPr>
      </p:sp>
      <p:sp>
        <p:nvSpPr>
          <p:cNvPr id="310" name="Vis 310"/>
          <p:cNvSpPr/>
          <p:nvPr/>
        </p:nvSpPr>
        <p:spPr>
          <a:xfrm>
            <a:off x="5879592" y="4928616"/>
            <a:ext cx="256032" cy="45720"/>
          </a:xfrm>
          <a:prstGeom prst="rect">
            <a:avLst/>
          </a:prstGeom>
          <a:solidFill>
            <a:srgbClr val="E4E0D9"/>
          </a:solidFill>
          <a:ln>
            <a:noFill/>
          </a:ln>
        </p:spPr>
      </p:sp>
      <p:sp>
        <p:nvSpPr>
          <p:cNvPr id="311" name="Vis 311"/>
          <p:cNvSpPr/>
          <p:nvPr/>
        </p:nvSpPr>
        <p:spPr>
          <a:xfrm>
            <a:off x="6473952" y="4562856"/>
            <a:ext cx="530352" cy="713232"/>
          </a:xfrm>
          <a:prstGeom prst="rect">
            <a:avLst/>
          </a:prstGeom>
          <a:solidFill>
            <a:srgbClr val="FFFFFF"/>
          </a:solidFill>
          <a:ln w="9525">
            <a:solidFill>
              <a:srgbClr val="D5D1CA"/>
            </a:solidFill>
          </a:ln>
        </p:spPr>
      </p:sp>
      <p:sp>
        <p:nvSpPr>
          <p:cNvPr id="312" name="Vis 312"/>
          <p:cNvSpPr/>
          <p:nvPr/>
        </p:nvSpPr>
        <p:spPr>
          <a:xfrm>
            <a:off x="6547104" y="4654296"/>
            <a:ext cx="384048" cy="109728"/>
          </a:xfrm>
          <a:prstGeom prst="rect">
            <a:avLst/>
          </a:prstGeom>
          <a:solidFill>
            <a:srgbClr val="E4E0D9"/>
          </a:solidFill>
          <a:ln>
            <a:noFill/>
          </a:ln>
        </p:spPr>
      </p:sp>
      <p:sp>
        <p:nvSpPr>
          <p:cNvPr id="313" name="Vis 313"/>
          <p:cNvSpPr/>
          <p:nvPr/>
        </p:nvSpPr>
        <p:spPr>
          <a:xfrm>
            <a:off x="6547104" y="4837176"/>
            <a:ext cx="310896" cy="45720"/>
          </a:xfrm>
          <a:prstGeom prst="rect">
            <a:avLst/>
          </a:prstGeom>
          <a:solidFill>
            <a:srgbClr val="E4E0D9"/>
          </a:solidFill>
          <a:ln>
            <a:noFill/>
          </a:ln>
        </p:spPr>
      </p:sp>
      <p:sp>
        <p:nvSpPr>
          <p:cNvPr id="314" name="Vis 314"/>
          <p:cNvSpPr/>
          <p:nvPr/>
        </p:nvSpPr>
        <p:spPr>
          <a:xfrm>
            <a:off x="6547104" y="4928616"/>
            <a:ext cx="256032" cy="45720"/>
          </a:xfrm>
          <a:prstGeom prst="rect">
            <a:avLst/>
          </a:prstGeom>
          <a:solidFill>
            <a:srgbClr val="E4E0D9"/>
          </a:solidFill>
          <a:ln>
            <a:noFill/>
          </a:ln>
        </p:spPr>
      </p:sp>
      <p:sp>
        <p:nvSpPr>
          <p:cNvPr id="315" name="Vis 315"/>
          <p:cNvSpPr/>
          <p:nvPr/>
        </p:nvSpPr>
        <p:spPr>
          <a:xfrm>
            <a:off x="7141464" y="4562856"/>
            <a:ext cx="530352" cy="713232"/>
          </a:xfrm>
          <a:prstGeom prst="rect">
            <a:avLst/>
          </a:prstGeom>
          <a:solidFill>
            <a:srgbClr val="FFFFFF"/>
          </a:solidFill>
          <a:ln w="9525">
            <a:solidFill>
              <a:srgbClr val="D5D1CA"/>
            </a:solidFill>
          </a:ln>
        </p:spPr>
      </p:sp>
      <p:sp>
        <p:nvSpPr>
          <p:cNvPr id="316" name="Vis 316"/>
          <p:cNvSpPr/>
          <p:nvPr/>
        </p:nvSpPr>
        <p:spPr>
          <a:xfrm>
            <a:off x="7214616" y="4654296"/>
            <a:ext cx="384048" cy="109728"/>
          </a:xfrm>
          <a:prstGeom prst="rect">
            <a:avLst/>
          </a:prstGeom>
          <a:solidFill>
            <a:srgbClr val="E4E0D9"/>
          </a:solidFill>
          <a:ln>
            <a:noFill/>
          </a:ln>
        </p:spPr>
      </p:sp>
      <p:sp>
        <p:nvSpPr>
          <p:cNvPr id="317" name="Vis 317"/>
          <p:cNvSpPr/>
          <p:nvPr/>
        </p:nvSpPr>
        <p:spPr>
          <a:xfrm>
            <a:off x="7214616" y="4837176"/>
            <a:ext cx="310896" cy="45720"/>
          </a:xfrm>
          <a:prstGeom prst="rect">
            <a:avLst/>
          </a:prstGeom>
          <a:solidFill>
            <a:srgbClr val="E4E0D9"/>
          </a:solidFill>
          <a:ln>
            <a:noFill/>
          </a:ln>
        </p:spPr>
      </p:sp>
      <p:sp>
        <p:nvSpPr>
          <p:cNvPr id="318" name="Vis 318"/>
          <p:cNvSpPr/>
          <p:nvPr/>
        </p:nvSpPr>
        <p:spPr>
          <a:xfrm>
            <a:off x="7214616" y="4928616"/>
            <a:ext cx="256032" cy="45720"/>
          </a:xfrm>
          <a:prstGeom prst="rect">
            <a:avLst/>
          </a:prstGeom>
          <a:solidFill>
            <a:srgbClr val="E4E0D9"/>
          </a:solidFill>
          <a:ln>
            <a:noFill/>
          </a:ln>
        </p:spPr>
      </p:sp>
      <p:sp>
        <p:nvSpPr>
          <p:cNvPr id="319" name="Vis 319"/>
          <p:cNvSpPr/>
          <p:nvPr/>
        </p:nvSpPr>
        <p:spPr>
          <a:xfrm>
            <a:off x="7808976" y="4562856"/>
            <a:ext cx="530352" cy="713232"/>
          </a:xfrm>
          <a:prstGeom prst="rect">
            <a:avLst/>
          </a:prstGeom>
          <a:solidFill>
            <a:srgbClr val="F7E6E0"/>
          </a:solidFill>
          <a:ln w="28575">
            <a:solidFill>
              <a:srgbClr val="C0402A"/>
            </a:solidFill>
          </a:ln>
        </p:spPr>
      </p:sp>
      <p:sp>
        <p:nvSpPr>
          <p:cNvPr id="320" name="Vis 320"/>
          <p:cNvSpPr/>
          <p:nvPr/>
        </p:nvSpPr>
        <p:spPr>
          <a:xfrm>
            <a:off x="7882128" y="4654296"/>
            <a:ext cx="384048" cy="109728"/>
          </a:xfrm>
          <a:prstGeom prst="rect">
            <a:avLst/>
          </a:prstGeom>
          <a:solidFill>
            <a:srgbClr val="C0402A"/>
          </a:solidFill>
          <a:ln>
            <a:noFill/>
          </a:ln>
        </p:spPr>
      </p:sp>
      <p:sp>
        <p:nvSpPr>
          <p:cNvPr id="321" name="Vis 321"/>
          <p:cNvSpPr/>
          <p:nvPr/>
        </p:nvSpPr>
        <p:spPr>
          <a:xfrm>
            <a:off x="7882128" y="4837176"/>
            <a:ext cx="310896" cy="45720"/>
          </a:xfrm>
          <a:prstGeom prst="rect">
            <a:avLst/>
          </a:prstGeom>
          <a:solidFill>
            <a:srgbClr val="E4E0D9"/>
          </a:solidFill>
          <a:ln>
            <a:noFill/>
          </a:ln>
        </p:spPr>
      </p:sp>
      <p:sp>
        <p:nvSpPr>
          <p:cNvPr id="322" name="Vis 322"/>
          <p:cNvSpPr/>
          <p:nvPr/>
        </p:nvSpPr>
        <p:spPr>
          <a:xfrm>
            <a:off x="7882128" y="4928616"/>
            <a:ext cx="256032" cy="45720"/>
          </a:xfrm>
          <a:prstGeom prst="rect">
            <a:avLst/>
          </a:prstGeom>
          <a:solidFill>
            <a:srgbClr val="E4E0D9"/>
          </a:solidFill>
          <a:ln>
            <a:noFill/>
          </a:ln>
        </p:spPr>
      </p:sp>
      <p:sp>
        <p:nvSpPr>
          <p:cNvPr id="323" name="Vis 323"/>
          <p:cNvSpPr/>
          <p:nvPr/>
        </p:nvSpPr>
        <p:spPr>
          <a:xfrm>
            <a:off x="8476488" y="4562856"/>
            <a:ext cx="530352" cy="713232"/>
          </a:xfrm>
          <a:prstGeom prst="rect">
            <a:avLst/>
          </a:prstGeom>
          <a:solidFill>
            <a:srgbClr val="FFFFFF"/>
          </a:solidFill>
          <a:ln w="9525">
            <a:solidFill>
              <a:srgbClr val="D5D1CA"/>
            </a:solidFill>
          </a:ln>
        </p:spPr>
      </p:sp>
      <p:sp>
        <p:nvSpPr>
          <p:cNvPr id="324" name="Vis 324"/>
          <p:cNvSpPr/>
          <p:nvPr/>
        </p:nvSpPr>
        <p:spPr>
          <a:xfrm>
            <a:off x="8549640" y="4654296"/>
            <a:ext cx="384048" cy="109728"/>
          </a:xfrm>
          <a:prstGeom prst="rect">
            <a:avLst/>
          </a:prstGeom>
          <a:solidFill>
            <a:srgbClr val="E4E0D9"/>
          </a:solidFill>
          <a:ln>
            <a:noFill/>
          </a:ln>
        </p:spPr>
      </p:sp>
      <p:sp>
        <p:nvSpPr>
          <p:cNvPr id="325" name="Vis 325"/>
          <p:cNvSpPr/>
          <p:nvPr/>
        </p:nvSpPr>
        <p:spPr>
          <a:xfrm>
            <a:off x="8549640" y="4837176"/>
            <a:ext cx="310896" cy="45720"/>
          </a:xfrm>
          <a:prstGeom prst="rect">
            <a:avLst/>
          </a:prstGeom>
          <a:solidFill>
            <a:srgbClr val="E4E0D9"/>
          </a:solidFill>
          <a:ln>
            <a:noFill/>
          </a:ln>
        </p:spPr>
      </p:sp>
      <p:sp>
        <p:nvSpPr>
          <p:cNvPr id="326" name="Vis 326"/>
          <p:cNvSpPr/>
          <p:nvPr/>
        </p:nvSpPr>
        <p:spPr>
          <a:xfrm>
            <a:off x="8549640" y="4928616"/>
            <a:ext cx="256032" cy="45720"/>
          </a:xfrm>
          <a:prstGeom prst="rect">
            <a:avLst/>
          </a:prstGeom>
          <a:solidFill>
            <a:srgbClr val="E4E0D9"/>
          </a:solidFill>
          <a:ln>
            <a:noFill/>
          </a:ln>
        </p:spPr>
      </p:sp>
      <p:sp>
        <p:nvSpPr>
          <p:cNvPr id="327" name="Vis 327"/>
          <p:cNvSpPr/>
          <p:nvPr/>
        </p:nvSpPr>
        <p:spPr>
          <a:xfrm>
            <a:off x="9144000" y="4562856"/>
            <a:ext cx="530352" cy="713232"/>
          </a:xfrm>
          <a:prstGeom prst="rect">
            <a:avLst/>
          </a:prstGeom>
          <a:solidFill>
            <a:srgbClr val="FFFFFF"/>
          </a:solidFill>
          <a:ln w="9525">
            <a:solidFill>
              <a:srgbClr val="D5D1CA"/>
            </a:solidFill>
          </a:ln>
        </p:spPr>
      </p:sp>
      <p:sp>
        <p:nvSpPr>
          <p:cNvPr id="328" name="Vis 328"/>
          <p:cNvSpPr/>
          <p:nvPr/>
        </p:nvSpPr>
        <p:spPr>
          <a:xfrm>
            <a:off x="9217152" y="4654296"/>
            <a:ext cx="384048" cy="109728"/>
          </a:xfrm>
          <a:prstGeom prst="rect">
            <a:avLst/>
          </a:prstGeom>
          <a:solidFill>
            <a:srgbClr val="E4E0D9"/>
          </a:solidFill>
          <a:ln>
            <a:noFill/>
          </a:ln>
        </p:spPr>
      </p:sp>
      <p:sp>
        <p:nvSpPr>
          <p:cNvPr id="329" name="Vis 329"/>
          <p:cNvSpPr/>
          <p:nvPr/>
        </p:nvSpPr>
        <p:spPr>
          <a:xfrm>
            <a:off x="9217152" y="4837176"/>
            <a:ext cx="310896" cy="45720"/>
          </a:xfrm>
          <a:prstGeom prst="rect">
            <a:avLst/>
          </a:prstGeom>
          <a:solidFill>
            <a:srgbClr val="E4E0D9"/>
          </a:solidFill>
          <a:ln>
            <a:noFill/>
          </a:ln>
        </p:spPr>
      </p:sp>
      <p:sp>
        <p:nvSpPr>
          <p:cNvPr id="330" name="Vis 330"/>
          <p:cNvSpPr/>
          <p:nvPr/>
        </p:nvSpPr>
        <p:spPr>
          <a:xfrm>
            <a:off x="9217152" y="4928616"/>
            <a:ext cx="256032" cy="45720"/>
          </a:xfrm>
          <a:prstGeom prst="rect">
            <a:avLst/>
          </a:prstGeom>
          <a:solidFill>
            <a:srgbClr val="E4E0D9"/>
          </a:solidFill>
          <a:ln>
            <a:noFill/>
          </a:ln>
        </p:spPr>
      </p:sp>
      <p:sp>
        <p:nvSpPr>
          <p:cNvPr id="331" name="Vis 331"/>
          <p:cNvSpPr/>
          <p:nvPr/>
        </p:nvSpPr>
        <p:spPr>
          <a:xfrm>
            <a:off x="9811512" y="4562856"/>
            <a:ext cx="530352" cy="713232"/>
          </a:xfrm>
          <a:prstGeom prst="rect">
            <a:avLst/>
          </a:prstGeom>
          <a:solidFill>
            <a:srgbClr val="FFFFFF"/>
          </a:solidFill>
          <a:ln w="9525">
            <a:solidFill>
              <a:srgbClr val="D5D1CA"/>
            </a:solidFill>
          </a:ln>
        </p:spPr>
      </p:sp>
      <p:sp>
        <p:nvSpPr>
          <p:cNvPr id="332" name="Vis 332"/>
          <p:cNvSpPr/>
          <p:nvPr/>
        </p:nvSpPr>
        <p:spPr>
          <a:xfrm>
            <a:off x="9884664" y="4654296"/>
            <a:ext cx="384048" cy="109728"/>
          </a:xfrm>
          <a:prstGeom prst="rect">
            <a:avLst/>
          </a:prstGeom>
          <a:solidFill>
            <a:srgbClr val="E4E0D9"/>
          </a:solidFill>
          <a:ln>
            <a:noFill/>
          </a:ln>
        </p:spPr>
      </p:sp>
      <p:sp>
        <p:nvSpPr>
          <p:cNvPr id="333" name="Vis 333"/>
          <p:cNvSpPr/>
          <p:nvPr/>
        </p:nvSpPr>
        <p:spPr>
          <a:xfrm>
            <a:off x="9884664" y="4837176"/>
            <a:ext cx="310896" cy="45720"/>
          </a:xfrm>
          <a:prstGeom prst="rect">
            <a:avLst/>
          </a:prstGeom>
          <a:solidFill>
            <a:srgbClr val="E4E0D9"/>
          </a:solidFill>
          <a:ln>
            <a:noFill/>
          </a:ln>
        </p:spPr>
      </p:sp>
      <p:sp>
        <p:nvSpPr>
          <p:cNvPr id="334" name="Vis 334"/>
          <p:cNvSpPr/>
          <p:nvPr/>
        </p:nvSpPr>
        <p:spPr>
          <a:xfrm>
            <a:off x="9884664" y="4928616"/>
            <a:ext cx="256032" cy="45720"/>
          </a:xfrm>
          <a:prstGeom prst="rect">
            <a:avLst/>
          </a:prstGeom>
          <a:solidFill>
            <a:srgbClr val="E4E0D9"/>
          </a:solidFill>
          <a:ln>
            <a:noFill/>
          </a:ln>
        </p:spPr>
      </p:sp>
      <p:sp>
        <p:nvSpPr>
          <p:cNvPr id="335" name="Vis 335"/>
          <p:cNvSpPr/>
          <p:nvPr/>
        </p:nvSpPr>
        <p:spPr>
          <a:xfrm>
            <a:off x="5806440" y="5394960"/>
            <a:ext cx="201168" cy="201168"/>
          </a:xfrm>
          <a:prstGeom prst="rect">
            <a:avLst/>
          </a:prstGeom>
          <a:solidFill>
            <a:srgbClr val="F7E6E0"/>
          </a:solidFill>
          <a:ln w="28575">
            <a:solidFill>
              <a:srgbClr val="C0402A"/>
            </a:solidFill>
          </a:ln>
        </p:spPr>
      </p:sp>
      <p:sp>
        <p:nvSpPr>
          <p:cNvPr id="336" name="Vis 336"/>
          <p:cNvSpPr/>
          <p:nvPr/>
        </p:nvSpPr>
        <p:spPr>
          <a:xfrm>
            <a:off x="6099048" y="5340096"/>
            <a:ext cx="5303520" cy="310896"/>
          </a:xfrm>
          <a:prstGeom prst="rect">
            <a:avLst/>
          </a:prstGeom>
          <a:noFill/>
          <a:ln>
            <a:noFill/>
          </a:ln>
        </p:spPr>
        <p:txBody>
          <a:bodyPr wrap="square" lIns="0" tIns="0" rIns="0" bIns="0" anchor="ctr">
            <a:noAutofit/>
          </a:bodyPr>
          <a:lstStyle/>
          <a:p>
            <a:pPr algn="l" indent="0" marL="0">
              <a:buNone/>
            </a:pPr>
            <a:r>
              <a:rPr lang="en-US" sz="1100" b="1" dirty="0">
                <a:solidFill>
                  <a:srgbClr val="C0402A"/>
                </a:solidFill>
                <a:latin typeface="Arial"/>
                <a:ea typeface="Arial"/>
                <a:cs typeface="Arial"/>
                <a:sym typeface="Arial"/>
              </a:rPr>
              <a:t xml:space="preserve">the 5 chunks your bot retrieves with k = 5.  </a:t>
            </a:r>
            <a:r>
              <a:rPr lang="en-US" sz="1100" dirty="0">
                <a:solidFill>
                  <a:srgbClr val="2A2724"/>
                </a:solidFill>
                <a:latin typeface="Arial"/>
                <a:ea typeface="Arial"/>
                <a:cs typeface="Arial"/>
                <a:sym typeface="Arial"/>
              </a:rPr>
              <a:t>It answers 5, not 31.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Search vs Filter</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21</a:t>
            </a:r>
            <a:endParaRPr lang="en-US" sz="1200" dirty="0"/>
          </a:p>
        </p:txBody>
      </p:sp>
      <p:sp>
        <p:nvSpPr>
          <p:cNvPr id="201" name="Vis 201"/>
          <p:cNvSpPr/>
          <p:nvPr/>
        </p:nvSpPr>
        <p:spPr>
          <a:xfrm>
            <a:off x="786384" y="1645920"/>
            <a:ext cx="5138928" cy="3246120"/>
          </a:xfrm>
          <a:prstGeom prst="rect">
            <a:avLst/>
          </a:prstGeom>
          <a:solidFill>
            <a:srgbClr val="F2EFEA"/>
          </a:solidFill>
          <a:ln>
            <a:noFill/>
          </a:ln>
        </p:spPr>
      </p:sp>
      <p:sp>
        <p:nvSpPr>
          <p:cNvPr id="202" name="Vis 202"/>
          <p:cNvSpPr/>
          <p:nvPr/>
        </p:nvSpPr>
        <p:spPr>
          <a:xfrm>
            <a:off x="1014984" y="1737360"/>
            <a:ext cx="4663440" cy="320040"/>
          </a:xfrm>
          <a:prstGeom prst="rect">
            <a:avLst/>
          </a:prstGeom>
          <a:noFill/>
          <a:ln>
            <a:noFill/>
          </a:ln>
        </p:spPr>
        <p:txBody>
          <a:bodyPr wrap="square" lIns="0" tIns="0" rIns="0" bIns="0" anchor="t">
            <a:noAutofit/>
          </a:bodyPr>
          <a:lstStyle/>
          <a:p>
            <a:pPr algn="l" indent="0" marL="0">
              <a:buNone/>
            </a:pPr>
            <a:r>
              <a:rPr lang="en-US" sz="1300" b="1" dirty="0">
                <a:solidFill>
                  <a:srgbClr val="141414"/>
                </a:solidFill>
                <a:latin typeface="Arial"/>
                <a:ea typeface="Arial"/>
                <a:cs typeface="Arial"/>
                <a:sym typeface="Arial"/>
              </a:rPr>
              <a:t>Semantic search</a:t>
            </a:r>
            <a:r>
              <a:rPr lang="en-US" sz="1050" dirty="0">
                <a:solidFill>
                  <a:srgbClr val="6E6A63"/>
                </a:solidFill>
                <a:latin typeface="Arial"/>
                <a:ea typeface="Arial"/>
                <a:cs typeface="Arial"/>
                <a:sym typeface="Arial"/>
              </a:rPr>
              <a:t xml:space="preserve">   the k closest</a:t>
            </a:r>
          </a:p>
        </p:txBody>
      </p:sp>
      <p:sp>
        <p:nvSpPr>
          <p:cNvPr id="203" name="Vis 203"/>
          <p:cNvSpPr/>
          <p:nvPr/>
        </p:nvSpPr>
        <p:spPr>
          <a:xfrm>
            <a:off x="2518621" y="2474927"/>
            <a:ext cx="146304" cy="146304"/>
          </a:xfrm>
          <a:prstGeom prst="ellipse">
            <a:avLst/>
          </a:prstGeom>
          <a:solidFill>
            <a:srgbClr val="C9C4BC"/>
          </a:solidFill>
          <a:ln>
            <a:noFill/>
          </a:ln>
        </p:spPr>
      </p:sp>
      <p:sp>
        <p:nvSpPr>
          <p:cNvPr id="204" name="Vis 204"/>
          <p:cNvSpPr/>
          <p:nvPr/>
        </p:nvSpPr>
        <p:spPr>
          <a:xfrm>
            <a:off x="3954310" y="2338696"/>
            <a:ext cx="146304" cy="146304"/>
          </a:xfrm>
          <a:prstGeom prst="ellipse">
            <a:avLst/>
          </a:prstGeom>
          <a:solidFill>
            <a:srgbClr val="E7B5AA"/>
          </a:solidFill>
          <a:ln>
            <a:noFill/>
          </a:ln>
        </p:spPr>
      </p:sp>
      <p:sp>
        <p:nvSpPr>
          <p:cNvPr id="205" name="Vis 205"/>
          <p:cNvSpPr/>
          <p:nvPr/>
        </p:nvSpPr>
        <p:spPr>
          <a:xfrm>
            <a:off x="3449330" y="2848181"/>
            <a:ext cx="146304" cy="146304"/>
          </a:xfrm>
          <a:prstGeom prst="ellipse">
            <a:avLst/>
          </a:prstGeom>
          <a:solidFill>
            <a:srgbClr val="E7B5AA"/>
          </a:solidFill>
          <a:ln>
            <a:noFill/>
          </a:ln>
        </p:spPr>
      </p:sp>
      <p:sp>
        <p:nvSpPr>
          <p:cNvPr id="206" name="Vis 206"/>
          <p:cNvSpPr/>
          <p:nvPr/>
        </p:nvSpPr>
        <p:spPr>
          <a:xfrm>
            <a:off x="1351844" y="3094447"/>
            <a:ext cx="146304" cy="146304"/>
          </a:xfrm>
          <a:prstGeom prst="ellipse">
            <a:avLst/>
          </a:prstGeom>
          <a:solidFill>
            <a:srgbClr val="C9C4BC"/>
          </a:solidFill>
          <a:ln>
            <a:noFill/>
          </a:ln>
        </p:spPr>
      </p:sp>
      <p:sp>
        <p:nvSpPr>
          <p:cNvPr id="207" name="Vis 207"/>
          <p:cNvSpPr/>
          <p:nvPr/>
        </p:nvSpPr>
        <p:spPr>
          <a:xfrm>
            <a:off x="1403884" y="2370449"/>
            <a:ext cx="146304" cy="146304"/>
          </a:xfrm>
          <a:prstGeom prst="ellipse">
            <a:avLst/>
          </a:prstGeom>
          <a:solidFill>
            <a:srgbClr val="E7B5AA"/>
          </a:solidFill>
          <a:ln>
            <a:noFill/>
          </a:ln>
        </p:spPr>
      </p:sp>
      <p:sp>
        <p:nvSpPr>
          <p:cNvPr id="208" name="Vis 208"/>
          <p:cNvSpPr/>
          <p:nvPr/>
        </p:nvSpPr>
        <p:spPr>
          <a:xfrm>
            <a:off x="2960546" y="3649388"/>
            <a:ext cx="146304" cy="146304"/>
          </a:xfrm>
          <a:prstGeom prst="ellipse">
            <a:avLst/>
          </a:prstGeom>
          <a:solidFill>
            <a:srgbClr val="E7B5AA"/>
          </a:solidFill>
          <a:ln>
            <a:noFill/>
          </a:ln>
        </p:spPr>
      </p:sp>
      <p:sp>
        <p:nvSpPr>
          <p:cNvPr id="209" name="Vis 209"/>
          <p:cNvSpPr/>
          <p:nvPr/>
        </p:nvSpPr>
        <p:spPr>
          <a:xfrm>
            <a:off x="1640662" y="2600694"/>
            <a:ext cx="146304" cy="146304"/>
          </a:xfrm>
          <a:prstGeom prst="ellipse">
            <a:avLst/>
          </a:prstGeom>
          <a:solidFill>
            <a:srgbClr val="C9C4BC"/>
          </a:solidFill>
          <a:ln>
            <a:noFill/>
          </a:ln>
        </p:spPr>
      </p:sp>
      <p:sp>
        <p:nvSpPr>
          <p:cNvPr id="210" name="Vis 210"/>
          <p:cNvSpPr/>
          <p:nvPr/>
        </p:nvSpPr>
        <p:spPr>
          <a:xfrm>
            <a:off x="3851160" y="3859360"/>
            <a:ext cx="146304" cy="146304"/>
          </a:xfrm>
          <a:prstGeom prst="ellipse">
            <a:avLst/>
          </a:prstGeom>
          <a:solidFill>
            <a:srgbClr val="E7B5AA"/>
          </a:solidFill>
          <a:ln>
            <a:noFill/>
          </a:ln>
        </p:spPr>
      </p:sp>
      <p:sp>
        <p:nvSpPr>
          <p:cNvPr id="211" name="Vis 211"/>
          <p:cNvSpPr/>
          <p:nvPr/>
        </p:nvSpPr>
        <p:spPr>
          <a:xfrm>
            <a:off x="5382181" y="2293779"/>
            <a:ext cx="146304" cy="146304"/>
          </a:xfrm>
          <a:prstGeom prst="ellipse">
            <a:avLst/>
          </a:prstGeom>
          <a:solidFill>
            <a:srgbClr val="E7B5AA"/>
          </a:solidFill>
          <a:ln>
            <a:noFill/>
          </a:ln>
        </p:spPr>
      </p:sp>
      <p:sp>
        <p:nvSpPr>
          <p:cNvPr id="212" name="Vis 212"/>
          <p:cNvSpPr/>
          <p:nvPr/>
        </p:nvSpPr>
        <p:spPr>
          <a:xfrm>
            <a:off x="4865201" y="2716004"/>
            <a:ext cx="146304" cy="146304"/>
          </a:xfrm>
          <a:prstGeom prst="ellipse">
            <a:avLst/>
          </a:prstGeom>
          <a:solidFill>
            <a:srgbClr val="C9C4BC"/>
          </a:solidFill>
          <a:ln>
            <a:noFill/>
          </a:ln>
        </p:spPr>
      </p:sp>
      <p:sp>
        <p:nvSpPr>
          <p:cNvPr id="213" name="Vis 213"/>
          <p:cNvSpPr/>
          <p:nvPr/>
        </p:nvSpPr>
        <p:spPr>
          <a:xfrm>
            <a:off x="2451244" y="3630753"/>
            <a:ext cx="146304" cy="146304"/>
          </a:xfrm>
          <a:prstGeom prst="ellipse">
            <a:avLst/>
          </a:prstGeom>
          <a:solidFill>
            <a:srgbClr val="E7B5AA"/>
          </a:solidFill>
          <a:ln>
            <a:noFill/>
          </a:ln>
        </p:spPr>
      </p:sp>
      <p:sp>
        <p:nvSpPr>
          <p:cNvPr id="214" name="Vis 214"/>
          <p:cNvSpPr/>
          <p:nvPr/>
        </p:nvSpPr>
        <p:spPr>
          <a:xfrm>
            <a:off x="1890510" y="3223297"/>
            <a:ext cx="146304" cy="146304"/>
          </a:xfrm>
          <a:prstGeom prst="ellipse">
            <a:avLst/>
          </a:prstGeom>
          <a:solidFill>
            <a:srgbClr val="E7B5AA"/>
          </a:solidFill>
          <a:ln>
            <a:noFill/>
          </a:ln>
        </p:spPr>
      </p:sp>
      <p:sp>
        <p:nvSpPr>
          <p:cNvPr id="215" name="Vis 215"/>
          <p:cNvSpPr/>
          <p:nvPr/>
        </p:nvSpPr>
        <p:spPr>
          <a:xfrm>
            <a:off x="3901548" y="2859837"/>
            <a:ext cx="146304" cy="146304"/>
          </a:xfrm>
          <a:prstGeom prst="ellipse">
            <a:avLst/>
          </a:prstGeom>
          <a:solidFill>
            <a:srgbClr val="C9C4BC"/>
          </a:solidFill>
          <a:ln>
            <a:noFill/>
          </a:ln>
        </p:spPr>
      </p:sp>
      <p:sp>
        <p:nvSpPr>
          <p:cNvPr id="216" name="Vis 216"/>
          <p:cNvSpPr/>
          <p:nvPr/>
        </p:nvSpPr>
        <p:spPr>
          <a:xfrm>
            <a:off x="3501396" y="2321935"/>
            <a:ext cx="146304" cy="146304"/>
          </a:xfrm>
          <a:prstGeom prst="ellipse">
            <a:avLst/>
          </a:prstGeom>
          <a:solidFill>
            <a:srgbClr val="E7B5AA"/>
          </a:solidFill>
          <a:ln>
            <a:noFill/>
          </a:ln>
        </p:spPr>
      </p:sp>
      <p:sp>
        <p:nvSpPr>
          <p:cNvPr id="217" name="Vis 217"/>
          <p:cNvSpPr/>
          <p:nvPr/>
        </p:nvSpPr>
        <p:spPr>
          <a:xfrm>
            <a:off x="2476110" y="3230180"/>
            <a:ext cx="146304" cy="146304"/>
          </a:xfrm>
          <a:prstGeom prst="ellipse">
            <a:avLst/>
          </a:prstGeom>
          <a:solidFill>
            <a:srgbClr val="C0402A"/>
          </a:solidFill>
          <a:ln>
            <a:noFill/>
          </a:ln>
        </p:spPr>
      </p:sp>
      <p:sp>
        <p:nvSpPr>
          <p:cNvPr id="218" name="Vis 218"/>
          <p:cNvSpPr/>
          <p:nvPr/>
        </p:nvSpPr>
        <p:spPr>
          <a:xfrm>
            <a:off x="3086361" y="2733651"/>
            <a:ext cx="146304" cy="146304"/>
          </a:xfrm>
          <a:prstGeom prst="ellipse">
            <a:avLst/>
          </a:prstGeom>
          <a:solidFill>
            <a:srgbClr val="8C877F"/>
          </a:solidFill>
          <a:ln>
            <a:noFill/>
          </a:ln>
        </p:spPr>
      </p:sp>
      <p:sp>
        <p:nvSpPr>
          <p:cNvPr id="219" name="Vis 219"/>
          <p:cNvSpPr/>
          <p:nvPr/>
        </p:nvSpPr>
        <p:spPr>
          <a:xfrm>
            <a:off x="4583907" y="3427253"/>
            <a:ext cx="146304" cy="146304"/>
          </a:xfrm>
          <a:prstGeom prst="ellipse">
            <a:avLst/>
          </a:prstGeom>
          <a:solidFill>
            <a:srgbClr val="E7B5AA"/>
          </a:solidFill>
          <a:ln>
            <a:noFill/>
          </a:ln>
        </p:spPr>
      </p:sp>
      <p:sp>
        <p:nvSpPr>
          <p:cNvPr id="220" name="Vis 220"/>
          <p:cNvSpPr/>
          <p:nvPr/>
        </p:nvSpPr>
        <p:spPr>
          <a:xfrm>
            <a:off x="2168649" y="3210829"/>
            <a:ext cx="146304" cy="146304"/>
          </a:xfrm>
          <a:prstGeom prst="ellipse">
            <a:avLst/>
          </a:prstGeom>
          <a:solidFill>
            <a:srgbClr val="E7B5AA"/>
          </a:solidFill>
          <a:ln>
            <a:noFill/>
          </a:ln>
        </p:spPr>
      </p:sp>
      <p:sp>
        <p:nvSpPr>
          <p:cNvPr id="221" name="Vis 221"/>
          <p:cNvSpPr/>
          <p:nvPr/>
        </p:nvSpPr>
        <p:spPr>
          <a:xfrm>
            <a:off x="3402430" y="3733277"/>
            <a:ext cx="146304" cy="146304"/>
          </a:xfrm>
          <a:prstGeom prst="ellipse">
            <a:avLst/>
          </a:prstGeom>
          <a:solidFill>
            <a:srgbClr val="C9C4BC"/>
          </a:solidFill>
          <a:ln>
            <a:noFill/>
          </a:ln>
        </p:spPr>
      </p:sp>
      <p:sp>
        <p:nvSpPr>
          <p:cNvPr id="222" name="Vis 222"/>
          <p:cNvSpPr/>
          <p:nvPr/>
        </p:nvSpPr>
        <p:spPr>
          <a:xfrm>
            <a:off x="4298903" y="2713100"/>
            <a:ext cx="146304" cy="146304"/>
          </a:xfrm>
          <a:prstGeom prst="ellipse">
            <a:avLst/>
          </a:prstGeom>
          <a:solidFill>
            <a:srgbClr val="E7B5AA"/>
          </a:solidFill>
          <a:ln>
            <a:noFill/>
          </a:ln>
        </p:spPr>
      </p:sp>
      <p:sp>
        <p:nvSpPr>
          <p:cNvPr id="223" name="Vis 223"/>
          <p:cNvSpPr/>
          <p:nvPr/>
        </p:nvSpPr>
        <p:spPr>
          <a:xfrm>
            <a:off x="1269365" y="3373780"/>
            <a:ext cx="146304" cy="146304"/>
          </a:xfrm>
          <a:prstGeom prst="ellipse">
            <a:avLst/>
          </a:prstGeom>
          <a:solidFill>
            <a:srgbClr val="E7B5AA"/>
          </a:solidFill>
          <a:ln>
            <a:noFill/>
          </a:ln>
        </p:spPr>
      </p:sp>
      <p:sp>
        <p:nvSpPr>
          <p:cNvPr id="224" name="Vis 224"/>
          <p:cNvSpPr/>
          <p:nvPr/>
        </p:nvSpPr>
        <p:spPr>
          <a:xfrm>
            <a:off x="4149015" y="3245482"/>
            <a:ext cx="146304" cy="146304"/>
          </a:xfrm>
          <a:prstGeom prst="ellipse">
            <a:avLst/>
          </a:prstGeom>
          <a:solidFill>
            <a:srgbClr val="C9C4BC"/>
          </a:solidFill>
          <a:ln>
            <a:noFill/>
          </a:ln>
        </p:spPr>
      </p:sp>
      <p:sp>
        <p:nvSpPr>
          <p:cNvPr id="225" name="Vis 225"/>
          <p:cNvSpPr/>
          <p:nvPr/>
        </p:nvSpPr>
        <p:spPr>
          <a:xfrm>
            <a:off x="4783999" y="3854099"/>
            <a:ext cx="146304" cy="146304"/>
          </a:xfrm>
          <a:prstGeom prst="ellipse">
            <a:avLst/>
          </a:prstGeom>
          <a:solidFill>
            <a:srgbClr val="E7B5AA"/>
          </a:solidFill>
          <a:ln>
            <a:noFill/>
          </a:ln>
        </p:spPr>
      </p:sp>
      <p:sp>
        <p:nvSpPr>
          <p:cNvPr id="226" name="Vis 226"/>
          <p:cNvSpPr/>
          <p:nvPr/>
        </p:nvSpPr>
        <p:spPr>
          <a:xfrm>
            <a:off x="3178154" y="3366719"/>
            <a:ext cx="146304" cy="146304"/>
          </a:xfrm>
          <a:prstGeom prst="ellipse">
            <a:avLst/>
          </a:prstGeom>
          <a:solidFill>
            <a:srgbClr val="C0402A"/>
          </a:solidFill>
          <a:ln>
            <a:noFill/>
          </a:ln>
        </p:spPr>
      </p:sp>
      <p:sp>
        <p:nvSpPr>
          <p:cNvPr id="227" name="Vis 227"/>
          <p:cNvSpPr/>
          <p:nvPr/>
        </p:nvSpPr>
        <p:spPr>
          <a:xfrm>
            <a:off x="2790565" y="3374538"/>
            <a:ext cx="146304" cy="146304"/>
          </a:xfrm>
          <a:prstGeom prst="ellipse">
            <a:avLst/>
          </a:prstGeom>
          <a:solidFill>
            <a:srgbClr val="8C877F"/>
          </a:solidFill>
          <a:ln>
            <a:noFill/>
          </a:ln>
        </p:spPr>
      </p:sp>
      <p:sp>
        <p:nvSpPr>
          <p:cNvPr id="228" name="Vis 228"/>
          <p:cNvSpPr/>
          <p:nvPr/>
        </p:nvSpPr>
        <p:spPr>
          <a:xfrm>
            <a:off x="2319303" y="2934368"/>
            <a:ext cx="146304" cy="146304"/>
          </a:xfrm>
          <a:prstGeom prst="ellipse">
            <a:avLst/>
          </a:prstGeom>
          <a:solidFill>
            <a:srgbClr val="E7B5AA"/>
          </a:solidFill>
          <a:ln>
            <a:noFill/>
          </a:ln>
        </p:spPr>
      </p:sp>
      <p:sp>
        <p:nvSpPr>
          <p:cNvPr id="229" name="Vis 229"/>
          <p:cNvSpPr/>
          <p:nvPr/>
        </p:nvSpPr>
        <p:spPr>
          <a:xfrm>
            <a:off x="3683014" y="2669333"/>
            <a:ext cx="146304" cy="146304"/>
          </a:xfrm>
          <a:prstGeom prst="ellipse">
            <a:avLst/>
          </a:prstGeom>
          <a:solidFill>
            <a:srgbClr val="E7B5AA"/>
          </a:solidFill>
          <a:ln>
            <a:noFill/>
          </a:ln>
        </p:spPr>
      </p:sp>
      <p:sp>
        <p:nvSpPr>
          <p:cNvPr id="230" name="Vis 230"/>
          <p:cNvSpPr/>
          <p:nvPr/>
        </p:nvSpPr>
        <p:spPr>
          <a:xfrm>
            <a:off x="1115247" y="2940709"/>
            <a:ext cx="146304" cy="146304"/>
          </a:xfrm>
          <a:prstGeom prst="ellipse">
            <a:avLst/>
          </a:prstGeom>
          <a:solidFill>
            <a:srgbClr val="C9C4BC"/>
          </a:solidFill>
          <a:ln>
            <a:noFill/>
          </a:ln>
        </p:spPr>
      </p:sp>
      <p:sp>
        <p:nvSpPr>
          <p:cNvPr id="231" name="Vis 231"/>
          <p:cNvSpPr/>
          <p:nvPr/>
        </p:nvSpPr>
        <p:spPr>
          <a:xfrm>
            <a:off x="5280541" y="3412484"/>
            <a:ext cx="146304" cy="146304"/>
          </a:xfrm>
          <a:prstGeom prst="ellipse">
            <a:avLst/>
          </a:prstGeom>
          <a:solidFill>
            <a:srgbClr val="E7B5AA"/>
          </a:solidFill>
          <a:ln>
            <a:noFill/>
          </a:ln>
        </p:spPr>
      </p:sp>
      <p:sp>
        <p:nvSpPr>
          <p:cNvPr id="232" name="Vis 232"/>
          <p:cNvSpPr/>
          <p:nvPr/>
        </p:nvSpPr>
        <p:spPr>
          <a:xfrm>
            <a:off x="5045438" y="3567936"/>
            <a:ext cx="146304" cy="146304"/>
          </a:xfrm>
          <a:prstGeom prst="ellipse">
            <a:avLst/>
          </a:prstGeom>
          <a:solidFill>
            <a:srgbClr val="E7B5AA"/>
          </a:solidFill>
          <a:ln>
            <a:noFill/>
          </a:ln>
        </p:spPr>
      </p:sp>
      <p:sp>
        <p:nvSpPr>
          <p:cNvPr id="233" name="Vis 233"/>
          <p:cNvSpPr/>
          <p:nvPr/>
        </p:nvSpPr>
        <p:spPr>
          <a:xfrm>
            <a:off x="2819478" y="2906018"/>
            <a:ext cx="146304" cy="146304"/>
          </a:xfrm>
          <a:prstGeom prst="ellipse">
            <a:avLst/>
          </a:prstGeom>
          <a:solidFill>
            <a:srgbClr val="8C877F"/>
          </a:solidFill>
          <a:ln>
            <a:noFill/>
          </a:ln>
        </p:spPr>
      </p:sp>
      <p:sp>
        <p:nvSpPr>
          <p:cNvPr id="234" name="Vis 234"/>
          <p:cNvSpPr/>
          <p:nvPr/>
        </p:nvSpPr>
        <p:spPr>
          <a:xfrm>
            <a:off x="1551717" y="3314837"/>
            <a:ext cx="146304" cy="146304"/>
          </a:xfrm>
          <a:prstGeom prst="ellipse">
            <a:avLst/>
          </a:prstGeom>
          <a:solidFill>
            <a:srgbClr val="E7B5AA"/>
          </a:solidFill>
          <a:ln>
            <a:noFill/>
          </a:ln>
        </p:spPr>
      </p:sp>
      <p:sp>
        <p:nvSpPr>
          <p:cNvPr id="235" name="Vis 235"/>
          <p:cNvSpPr/>
          <p:nvPr/>
        </p:nvSpPr>
        <p:spPr>
          <a:xfrm>
            <a:off x="2013567" y="2494827"/>
            <a:ext cx="146304" cy="146304"/>
          </a:xfrm>
          <a:prstGeom prst="ellipse">
            <a:avLst/>
          </a:prstGeom>
          <a:solidFill>
            <a:srgbClr val="E7B5AA"/>
          </a:solidFill>
          <a:ln>
            <a:noFill/>
          </a:ln>
        </p:spPr>
      </p:sp>
      <p:sp>
        <p:nvSpPr>
          <p:cNvPr id="236" name="Vis 236"/>
          <p:cNvSpPr/>
          <p:nvPr/>
        </p:nvSpPr>
        <p:spPr>
          <a:xfrm>
            <a:off x="1098304" y="2475650"/>
            <a:ext cx="146304" cy="146304"/>
          </a:xfrm>
          <a:prstGeom prst="ellipse">
            <a:avLst/>
          </a:prstGeom>
          <a:solidFill>
            <a:srgbClr val="C9C4BC"/>
          </a:solidFill>
          <a:ln>
            <a:noFill/>
          </a:ln>
        </p:spPr>
      </p:sp>
      <p:sp>
        <p:nvSpPr>
          <p:cNvPr id="237" name="Vis 237"/>
          <p:cNvSpPr/>
          <p:nvPr/>
        </p:nvSpPr>
        <p:spPr>
          <a:xfrm>
            <a:off x="2351593" y="2598481"/>
            <a:ext cx="1112398" cy="1112398"/>
          </a:xfrm>
          <a:prstGeom prst="ellipse">
            <a:avLst/>
          </a:prstGeom>
          <a:noFill/>
          <a:ln w="15875">
            <a:solidFill>
              <a:srgbClr val="141414"/>
            </a:solidFill>
            <a:prstDash val="dash"/>
          </a:ln>
        </p:spPr>
      </p:sp>
      <p:sp>
        <p:nvSpPr>
          <p:cNvPr id="238" name="Vis 238"/>
          <p:cNvSpPr/>
          <p:nvPr/>
        </p:nvSpPr>
        <p:spPr>
          <a:xfrm>
            <a:off x="2798064" y="3044952"/>
            <a:ext cx="219456" cy="219456"/>
          </a:xfrm>
          <a:prstGeom prst="star5">
            <a:avLst/>
          </a:prstGeom>
          <a:solidFill>
            <a:srgbClr val="141414"/>
          </a:solidFill>
          <a:ln>
            <a:noFill/>
          </a:ln>
        </p:spPr>
      </p:sp>
      <p:sp>
        <p:nvSpPr>
          <p:cNvPr id="239" name="Vis 239"/>
          <p:cNvSpPr/>
          <p:nvPr/>
        </p:nvSpPr>
        <p:spPr>
          <a:xfrm>
            <a:off x="1014984" y="4251960"/>
            <a:ext cx="4663440" cy="548640"/>
          </a:xfrm>
          <a:prstGeom prst="rect">
            <a:avLst/>
          </a:prstGeom>
          <a:noFill/>
          <a:ln>
            <a:noFill/>
          </a:ln>
        </p:spPr>
        <p:txBody>
          <a:bodyPr wrap="square" lIns="0" tIns="0" rIns="0" bIns="0" anchor="t">
            <a:noAutofit/>
          </a:bodyPr>
          <a:lstStyle/>
          <a:p>
            <a:pPr algn="l" indent="0" marL="0">
              <a:lnSpc>
                <a:spcPts val="1350"/>
              </a:lnSpc>
              <a:buNone/>
            </a:pPr>
            <a:r>
              <a:rPr lang="en-US" sz="1050" dirty="0">
                <a:solidFill>
                  <a:srgbClr val="2A2724"/>
                </a:solidFill>
                <a:latin typeface="Arial"/>
                <a:ea typeface="Arial"/>
                <a:cs typeface="Arial"/>
                <a:sym typeface="Arial"/>
              </a:rPr>
              <a:t>Returns the 5 nearest, ranked, posters or not. Always returns something, never everything.</a:t>
            </a:r>
          </a:p>
        </p:txBody>
      </p:sp>
      <p:sp>
        <p:nvSpPr>
          <p:cNvPr id="240" name="Vis 240"/>
          <p:cNvSpPr/>
          <p:nvPr/>
        </p:nvSpPr>
        <p:spPr>
          <a:xfrm>
            <a:off x="786384" y="4983480"/>
            <a:ext cx="5138928" cy="658368"/>
          </a:xfrm>
          <a:prstGeom prst="rect">
            <a:avLst/>
          </a:prstGeom>
          <a:solidFill>
            <a:srgbClr val="F2EFEA"/>
          </a:solidFill>
          <a:ln>
            <a:noFill/>
          </a:ln>
        </p:spPr>
      </p:sp>
      <p:sp>
        <p:nvSpPr>
          <p:cNvPr id="241" name="Vis 241"/>
          <p:cNvSpPr/>
          <p:nvPr/>
        </p:nvSpPr>
        <p:spPr>
          <a:xfrm>
            <a:off x="786384" y="4983480"/>
            <a:ext cx="27432" cy="658368"/>
          </a:xfrm>
          <a:prstGeom prst="rect">
            <a:avLst/>
          </a:prstGeom>
          <a:solidFill>
            <a:srgbClr val="C0402A"/>
          </a:solidFill>
          <a:ln>
            <a:noFill/>
          </a:ln>
        </p:spPr>
      </p:sp>
      <p:sp>
        <p:nvSpPr>
          <p:cNvPr id="242" name="Vis 242"/>
          <p:cNvSpPr/>
          <p:nvPr/>
        </p:nvSpPr>
        <p:spPr>
          <a:xfrm>
            <a:off x="969264" y="5111496"/>
            <a:ext cx="4828032" cy="438912"/>
          </a:xfrm>
          <a:prstGeom prst="rect">
            <a:avLst/>
          </a:prstGeom>
          <a:noFill/>
          <a:ln>
            <a:noFill/>
          </a:ln>
        </p:spPr>
        <p:txBody>
          <a:bodyPr wrap="square" lIns="0" tIns="0" rIns="0" bIns="0" anchor="t">
            <a:noAutofit/>
          </a:bodyPr>
          <a:lstStyle/>
          <a:p>
            <a:pPr algn="l" indent="0" marL="0">
              <a:lnSpc>
                <a:spcPts val="1300"/>
              </a:lnSpc>
              <a:buNone/>
            </a:pPr>
            <a:r>
              <a:rPr lang="en-US" sz="1000" dirty="0">
                <a:solidFill>
                  <a:srgbClr val="2A2724"/>
                </a:solidFill>
                <a:latin typeface="Courier New"/>
                <a:ea typeface="Courier New"/>
                <a:cs typeface="Courier New"/>
                <a:sym typeface="Courier New"/>
              </a:rPr>
              <a:t>query(store, q, k=5)</a:t>
            </a:r>
          </a:p>
        </p:txBody>
      </p:sp>
      <p:sp>
        <p:nvSpPr>
          <p:cNvPr id="243" name="Vis 243"/>
          <p:cNvSpPr/>
          <p:nvPr/>
        </p:nvSpPr>
        <p:spPr>
          <a:xfrm>
            <a:off x="6263640" y="1645920"/>
            <a:ext cx="5138928" cy="3246120"/>
          </a:xfrm>
          <a:prstGeom prst="rect">
            <a:avLst/>
          </a:prstGeom>
          <a:solidFill>
            <a:srgbClr val="F2EFEA"/>
          </a:solidFill>
          <a:ln>
            <a:noFill/>
          </a:ln>
        </p:spPr>
      </p:sp>
      <p:sp>
        <p:nvSpPr>
          <p:cNvPr id="244" name="Vis 244"/>
          <p:cNvSpPr/>
          <p:nvPr/>
        </p:nvSpPr>
        <p:spPr>
          <a:xfrm>
            <a:off x="6492240" y="1737360"/>
            <a:ext cx="4663440" cy="320040"/>
          </a:xfrm>
          <a:prstGeom prst="rect">
            <a:avLst/>
          </a:prstGeom>
          <a:noFill/>
          <a:ln>
            <a:noFill/>
          </a:ln>
        </p:spPr>
        <p:txBody>
          <a:bodyPr wrap="square" lIns="0" tIns="0" rIns="0" bIns="0" anchor="t">
            <a:noAutofit/>
          </a:bodyPr>
          <a:lstStyle/>
          <a:p>
            <a:pPr algn="l" indent="0" marL="0">
              <a:buNone/>
            </a:pPr>
            <a:r>
              <a:rPr lang="en-US" sz="1300" b="1" dirty="0">
                <a:solidFill>
                  <a:srgbClr val="C0402A"/>
                </a:solidFill>
                <a:latin typeface="Arial"/>
                <a:ea typeface="Arial"/>
                <a:cs typeface="Arial"/>
                <a:sym typeface="Arial"/>
              </a:rPr>
              <a:t>Metadata filter</a:t>
            </a:r>
            <a:r>
              <a:rPr lang="en-US" sz="1050" dirty="0">
                <a:solidFill>
                  <a:srgbClr val="6E6A63"/>
                </a:solidFill>
                <a:latin typeface="Arial"/>
                <a:ea typeface="Arial"/>
                <a:cs typeface="Arial"/>
                <a:sym typeface="Arial"/>
              </a:rPr>
              <a:t xml:space="preserve">   every exact match</a:t>
            </a:r>
          </a:p>
        </p:txBody>
      </p:sp>
      <p:sp>
        <p:nvSpPr>
          <p:cNvPr id="245" name="Vis 245"/>
          <p:cNvSpPr/>
          <p:nvPr/>
        </p:nvSpPr>
        <p:spPr>
          <a:xfrm>
            <a:off x="8005021" y="2484071"/>
            <a:ext cx="128016" cy="128016"/>
          </a:xfrm>
          <a:prstGeom prst="ellipse">
            <a:avLst/>
          </a:prstGeom>
          <a:solidFill>
            <a:srgbClr val="DAD6CF"/>
          </a:solidFill>
          <a:ln>
            <a:noFill/>
          </a:ln>
        </p:spPr>
      </p:sp>
      <p:sp>
        <p:nvSpPr>
          <p:cNvPr id="246" name="Vis 246"/>
          <p:cNvSpPr/>
          <p:nvPr/>
        </p:nvSpPr>
        <p:spPr>
          <a:xfrm>
            <a:off x="9413278" y="2320408"/>
            <a:ext cx="182880" cy="182880"/>
          </a:xfrm>
          <a:prstGeom prst="ellipse">
            <a:avLst/>
          </a:prstGeom>
          <a:solidFill>
            <a:srgbClr val="C0402A"/>
          </a:solidFill>
          <a:ln w="12700">
            <a:solidFill>
              <a:srgbClr val="FFFFFF"/>
            </a:solidFill>
          </a:ln>
        </p:spPr>
      </p:sp>
      <p:sp>
        <p:nvSpPr>
          <p:cNvPr id="247" name="Vis 247"/>
          <p:cNvSpPr/>
          <p:nvPr/>
        </p:nvSpPr>
        <p:spPr>
          <a:xfrm>
            <a:off x="8908298" y="2829893"/>
            <a:ext cx="182880" cy="182880"/>
          </a:xfrm>
          <a:prstGeom prst="ellipse">
            <a:avLst/>
          </a:prstGeom>
          <a:solidFill>
            <a:srgbClr val="C0402A"/>
          </a:solidFill>
          <a:ln w="12700">
            <a:solidFill>
              <a:srgbClr val="FFFFFF"/>
            </a:solidFill>
          </a:ln>
        </p:spPr>
      </p:sp>
      <p:sp>
        <p:nvSpPr>
          <p:cNvPr id="248" name="Vis 248"/>
          <p:cNvSpPr/>
          <p:nvPr/>
        </p:nvSpPr>
        <p:spPr>
          <a:xfrm>
            <a:off x="6838244" y="3103591"/>
            <a:ext cx="128016" cy="128016"/>
          </a:xfrm>
          <a:prstGeom prst="ellipse">
            <a:avLst/>
          </a:prstGeom>
          <a:solidFill>
            <a:srgbClr val="DAD6CF"/>
          </a:solidFill>
          <a:ln>
            <a:noFill/>
          </a:ln>
        </p:spPr>
      </p:sp>
      <p:sp>
        <p:nvSpPr>
          <p:cNvPr id="249" name="Vis 249"/>
          <p:cNvSpPr/>
          <p:nvPr/>
        </p:nvSpPr>
        <p:spPr>
          <a:xfrm>
            <a:off x="6862852" y="2352161"/>
            <a:ext cx="182880" cy="182880"/>
          </a:xfrm>
          <a:prstGeom prst="ellipse">
            <a:avLst/>
          </a:prstGeom>
          <a:solidFill>
            <a:srgbClr val="C0402A"/>
          </a:solidFill>
          <a:ln w="12700">
            <a:solidFill>
              <a:srgbClr val="FFFFFF"/>
            </a:solidFill>
          </a:ln>
        </p:spPr>
      </p:sp>
      <p:sp>
        <p:nvSpPr>
          <p:cNvPr id="250" name="Vis 250"/>
          <p:cNvSpPr/>
          <p:nvPr/>
        </p:nvSpPr>
        <p:spPr>
          <a:xfrm>
            <a:off x="8419514" y="3631100"/>
            <a:ext cx="182880" cy="182880"/>
          </a:xfrm>
          <a:prstGeom prst="ellipse">
            <a:avLst/>
          </a:prstGeom>
          <a:solidFill>
            <a:srgbClr val="C0402A"/>
          </a:solidFill>
          <a:ln w="12700">
            <a:solidFill>
              <a:srgbClr val="FFFFFF"/>
            </a:solidFill>
          </a:ln>
        </p:spPr>
      </p:sp>
      <p:sp>
        <p:nvSpPr>
          <p:cNvPr id="251" name="Vis 251"/>
          <p:cNvSpPr/>
          <p:nvPr/>
        </p:nvSpPr>
        <p:spPr>
          <a:xfrm>
            <a:off x="7127062" y="2609838"/>
            <a:ext cx="128016" cy="128016"/>
          </a:xfrm>
          <a:prstGeom prst="ellipse">
            <a:avLst/>
          </a:prstGeom>
          <a:solidFill>
            <a:srgbClr val="DAD6CF"/>
          </a:solidFill>
          <a:ln>
            <a:noFill/>
          </a:ln>
        </p:spPr>
      </p:sp>
      <p:sp>
        <p:nvSpPr>
          <p:cNvPr id="252" name="Vis 252"/>
          <p:cNvSpPr/>
          <p:nvPr/>
        </p:nvSpPr>
        <p:spPr>
          <a:xfrm>
            <a:off x="9310128" y="3841072"/>
            <a:ext cx="182880" cy="182880"/>
          </a:xfrm>
          <a:prstGeom prst="ellipse">
            <a:avLst/>
          </a:prstGeom>
          <a:solidFill>
            <a:srgbClr val="C0402A"/>
          </a:solidFill>
          <a:ln w="12700">
            <a:solidFill>
              <a:srgbClr val="FFFFFF"/>
            </a:solidFill>
          </a:ln>
        </p:spPr>
      </p:sp>
      <p:sp>
        <p:nvSpPr>
          <p:cNvPr id="253" name="Vis 253"/>
          <p:cNvSpPr/>
          <p:nvPr/>
        </p:nvSpPr>
        <p:spPr>
          <a:xfrm>
            <a:off x="10841149" y="2275491"/>
            <a:ext cx="182880" cy="182880"/>
          </a:xfrm>
          <a:prstGeom prst="ellipse">
            <a:avLst/>
          </a:prstGeom>
          <a:solidFill>
            <a:srgbClr val="C0402A"/>
          </a:solidFill>
          <a:ln w="12700">
            <a:solidFill>
              <a:srgbClr val="FFFFFF"/>
            </a:solidFill>
          </a:ln>
        </p:spPr>
      </p:sp>
      <p:sp>
        <p:nvSpPr>
          <p:cNvPr id="254" name="Vis 254"/>
          <p:cNvSpPr/>
          <p:nvPr/>
        </p:nvSpPr>
        <p:spPr>
          <a:xfrm>
            <a:off x="10351601" y="2725148"/>
            <a:ext cx="128016" cy="128016"/>
          </a:xfrm>
          <a:prstGeom prst="ellipse">
            <a:avLst/>
          </a:prstGeom>
          <a:solidFill>
            <a:srgbClr val="DAD6CF"/>
          </a:solidFill>
          <a:ln>
            <a:noFill/>
          </a:ln>
        </p:spPr>
      </p:sp>
      <p:sp>
        <p:nvSpPr>
          <p:cNvPr id="255" name="Vis 255"/>
          <p:cNvSpPr/>
          <p:nvPr/>
        </p:nvSpPr>
        <p:spPr>
          <a:xfrm>
            <a:off x="7910212" y="3612465"/>
            <a:ext cx="182880" cy="182880"/>
          </a:xfrm>
          <a:prstGeom prst="ellipse">
            <a:avLst/>
          </a:prstGeom>
          <a:solidFill>
            <a:srgbClr val="C0402A"/>
          </a:solidFill>
          <a:ln w="12700">
            <a:solidFill>
              <a:srgbClr val="FFFFFF"/>
            </a:solidFill>
          </a:ln>
        </p:spPr>
      </p:sp>
      <p:sp>
        <p:nvSpPr>
          <p:cNvPr id="256" name="Vis 256"/>
          <p:cNvSpPr/>
          <p:nvPr/>
        </p:nvSpPr>
        <p:spPr>
          <a:xfrm>
            <a:off x="7349478" y="3205009"/>
            <a:ext cx="182880" cy="182880"/>
          </a:xfrm>
          <a:prstGeom prst="ellipse">
            <a:avLst/>
          </a:prstGeom>
          <a:solidFill>
            <a:srgbClr val="C0402A"/>
          </a:solidFill>
          <a:ln w="12700">
            <a:solidFill>
              <a:srgbClr val="FFFFFF"/>
            </a:solidFill>
          </a:ln>
        </p:spPr>
      </p:sp>
      <p:sp>
        <p:nvSpPr>
          <p:cNvPr id="257" name="Vis 257"/>
          <p:cNvSpPr/>
          <p:nvPr/>
        </p:nvSpPr>
        <p:spPr>
          <a:xfrm>
            <a:off x="9387948" y="2868981"/>
            <a:ext cx="128016" cy="128016"/>
          </a:xfrm>
          <a:prstGeom prst="ellipse">
            <a:avLst/>
          </a:prstGeom>
          <a:solidFill>
            <a:srgbClr val="DAD6CF"/>
          </a:solidFill>
          <a:ln>
            <a:noFill/>
          </a:ln>
        </p:spPr>
      </p:sp>
      <p:sp>
        <p:nvSpPr>
          <p:cNvPr id="258" name="Vis 258"/>
          <p:cNvSpPr/>
          <p:nvPr/>
        </p:nvSpPr>
        <p:spPr>
          <a:xfrm>
            <a:off x="8960364" y="2303647"/>
            <a:ext cx="182880" cy="182880"/>
          </a:xfrm>
          <a:prstGeom prst="ellipse">
            <a:avLst/>
          </a:prstGeom>
          <a:solidFill>
            <a:srgbClr val="C0402A"/>
          </a:solidFill>
          <a:ln w="12700">
            <a:solidFill>
              <a:srgbClr val="FFFFFF"/>
            </a:solidFill>
          </a:ln>
        </p:spPr>
      </p:sp>
      <p:sp>
        <p:nvSpPr>
          <p:cNvPr id="259" name="Vis 259"/>
          <p:cNvSpPr/>
          <p:nvPr/>
        </p:nvSpPr>
        <p:spPr>
          <a:xfrm>
            <a:off x="7935078" y="3211892"/>
            <a:ext cx="182880" cy="182880"/>
          </a:xfrm>
          <a:prstGeom prst="ellipse">
            <a:avLst/>
          </a:prstGeom>
          <a:solidFill>
            <a:srgbClr val="C0402A"/>
          </a:solidFill>
          <a:ln w="12700">
            <a:solidFill>
              <a:srgbClr val="FFFFFF"/>
            </a:solidFill>
          </a:ln>
        </p:spPr>
      </p:sp>
      <p:sp>
        <p:nvSpPr>
          <p:cNvPr id="260" name="Vis 260"/>
          <p:cNvSpPr/>
          <p:nvPr/>
        </p:nvSpPr>
        <p:spPr>
          <a:xfrm>
            <a:off x="8572761" y="2742795"/>
            <a:ext cx="128016" cy="128016"/>
          </a:xfrm>
          <a:prstGeom prst="ellipse">
            <a:avLst/>
          </a:prstGeom>
          <a:solidFill>
            <a:srgbClr val="DAD6CF"/>
          </a:solidFill>
          <a:ln>
            <a:noFill/>
          </a:ln>
        </p:spPr>
      </p:sp>
      <p:sp>
        <p:nvSpPr>
          <p:cNvPr id="261" name="Vis 261"/>
          <p:cNvSpPr/>
          <p:nvPr/>
        </p:nvSpPr>
        <p:spPr>
          <a:xfrm>
            <a:off x="10042875" y="3408965"/>
            <a:ext cx="182880" cy="182880"/>
          </a:xfrm>
          <a:prstGeom prst="ellipse">
            <a:avLst/>
          </a:prstGeom>
          <a:solidFill>
            <a:srgbClr val="C0402A"/>
          </a:solidFill>
          <a:ln w="12700">
            <a:solidFill>
              <a:srgbClr val="FFFFFF"/>
            </a:solidFill>
          </a:ln>
        </p:spPr>
      </p:sp>
      <p:sp>
        <p:nvSpPr>
          <p:cNvPr id="262" name="Vis 262"/>
          <p:cNvSpPr/>
          <p:nvPr/>
        </p:nvSpPr>
        <p:spPr>
          <a:xfrm>
            <a:off x="7627617" y="3192541"/>
            <a:ext cx="182880" cy="182880"/>
          </a:xfrm>
          <a:prstGeom prst="ellipse">
            <a:avLst/>
          </a:prstGeom>
          <a:solidFill>
            <a:srgbClr val="C0402A"/>
          </a:solidFill>
          <a:ln w="12700">
            <a:solidFill>
              <a:srgbClr val="FFFFFF"/>
            </a:solidFill>
          </a:ln>
        </p:spPr>
      </p:sp>
      <p:sp>
        <p:nvSpPr>
          <p:cNvPr id="263" name="Vis 263"/>
          <p:cNvSpPr/>
          <p:nvPr/>
        </p:nvSpPr>
        <p:spPr>
          <a:xfrm>
            <a:off x="8888830" y="3742421"/>
            <a:ext cx="128016" cy="128016"/>
          </a:xfrm>
          <a:prstGeom prst="ellipse">
            <a:avLst/>
          </a:prstGeom>
          <a:solidFill>
            <a:srgbClr val="DAD6CF"/>
          </a:solidFill>
          <a:ln>
            <a:noFill/>
          </a:ln>
        </p:spPr>
      </p:sp>
      <p:sp>
        <p:nvSpPr>
          <p:cNvPr id="264" name="Vis 264"/>
          <p:cNvSpPr/>
          <p:nvPr/>
        </p:nvSpPr>
        <p:spPr>
          <a:xfrm>
            <a:off x="9757871" y="2694812"/>
            <a:ext cx="182880" cy="182880"/>
          </a:xfrm>
          <a:prstGeom prst="ellipse">
            <a:avLst/>
          </a:prstGeom>
          <a:solidFill>
            <a:srgbClr val="C0402A"/>
          </a:solidFill>
          <a:ln w="12700">
            <a:solidFill>
              <a:srgbClr val="FFFFFF"/>
            </a:solidFill>
          </a:ln>
        </p:spPr>
      </p:sp>
      <p:sp>
        <p:nvSpPr>
          <p:cNvPr id="265" name="Vis 265"/>
          <p:cNvSpPr/>
          <p:nvPr/>
        </p:nvSpPr>
        <p:spPr>
          <a:xfrm>
            <a:off x="6728333" y="3355492"/>
            <a:ext cx="182880" cy="182880"/>
          </a:xfrm>
          <a:prstGeom prst="ellipse">
            <a:avLst/>
          </a:prstGeom>
          <a:solidFill>
            <a:srgbClr val="C0402A"/>
          </a:solidFill>
          <a:ln w="12700">
            <a:solidFill>
              <a:srgbClr val="FFFFFF"/>
            </a:solidFill>
          </a:ln>
        </p:spPr>
      </p:sp>
      <p:sp>
        <p:nvSpPr>
          <p:cNvPr id="266" name="Vis 266"/>
          <p:cNvSpPr/>
          <p:nvPr/>
        </p:nvSpPr>
        <p:spPr>
          <a:xfrm>
            <a:off x="9635415" y="3254626"/>
            <a:ext cx="128016" cy="128016"/>
          </a:xfrm>
          <a:prstGeom prst="ellipse">
            <a:avLst/>
          </a:prstGeom>
          <a:solidFill>
            <a:srgbClr val="DAD6CF"/>
          </a:solidFill>
          <a:ln>
            <a:noFill/>
          </a:ln>
        </p:spPr>
      </p:sp>
      <p:sp>
        <p:nvSpPr>
          <p:cNvPr id="267" name="Vis 267"/>
          <p:cNvSpPr/>
          <p:nvPr/>
        </p:nvSpPr>
        <p:spPr>
          <a:xfrm>
            <a:off x="10242967" y="3835811"/>
            <a:ext cx="182880" cy="182880"/>
          </a:xfrm>
          <a:prstGeom prst="ellipse">
            <a:avLst/>
          </a:prstGeom>
          <a:solidFill>
            <a:srgbClr val="C0402A"/>
          </a:solidFill>
          <a:ln w="12700">
            <a:solidFill>
              <a:srgbClr val="FFFFFF"/>
            </a:solidFill>
          </a:ln>
        </p:spPr>
      </p:sp>
      <p:sp>
        <p:nvSpPr>
          <p:cNvPr id="268" name="Vis 268"/>
          <p:cNvSpPr/>
          <p:nvPr/>
        </p:nvSpPr>
        <p:spPr>
          <a:xfrm>
            <a:off x="8637122" y="3348431"/>
            <a:ext cx="182880" cy="182880"/>
          </a:xfrm>
          <a:prstGeom prst="ellipse">
            <a:avLst/>
          </a:prstGeom>
          <a:solidFill>
            <a:srgbClr val="C0402A"/>
          </a:solidFill>
          <a:ln w="12700">
            <a:solidFill>
              <a:srgbClr val="FFFFFF"/>
            </a:solidFill>
          </a:ln>
        </p:spPr>
      </p:sp>
      <p:sp>
        <p:nvSpPr>
          <p:cNvPr id="269" name="Vis 269"/>
          <p:cNvSpPr/>
          <p:nvPr/>
        </p:nvSpPr>
        <p:spPr>
          <a:xfrm>
            <a:off x="8276965" y="3383682"/>
            <a:ext cx="128016" cy="128016"/>
          </a:xfrm>
          <a:prstGeom prst="ellipse">
            <a:avLst/>
          </a:prstGeom>
          <a:solidFill>
            <a:srgbClr val="DAD6CF"/>
          </a:solidFill>
          <a:ln>
            <a:noFill/>
          </a:ln>
        </p:spPr>
      </p:sp>
      <p:sp>
        <p:nvSpPr>
          <p:cNvPr id="270" name="Vis 270"/>
          <p:cNvSpPr/>
          <p:nvPr/>
        </p:nvSpPr>
        <p:spPr>
          <a:xfrm>
            <a:off x="7778271" y="2916080"/>
            <a:ext cx="182880" cy="182880"/>
          </a:xfrm>
          <a:prstGeom prst="ellipse">
            <a:avLst/>
          </a:prstGeom>
          <a:solidFill>
            <a:srgbClr val="C0402A"/>
          </a:solidFill>
          <a:ln w="12700">
            <a:solidFill>
              <a:srgbClr val="FFFFFF"/>
            </a:solidFill>
          </a:ln>
        </p:spPr>
      </p:sp>
      <p:sp>
        <p:nvSpPr>
          <p:cNvPr id="271" name="Vis 271"/>
          <p:cNvSpPr/>
          <p:nvPr/>
        </p:nvSpPr>
        <p:spPr>
          <a:xfrm>
            <a:off x="9141982" y="2651045"/>
            <a:ext cx="182880" cy="182880"/>
          </a:xfrm>
          <a:prstGeom prst="ellipse">
            <a:avLst/>
          </a:prstGeom>
          <a:solidFill>
            <a:srgbClr val="C0402A"/>
          </a:solidFill>
          <a:ln w="12700">
            <a:solidFill>
              <a:srgbClr val="FFFFFF"/>
            </a:solidFill>
          </a:ln>
        </p:spPr>
      </p:sp>
      <p:sp>
        <p:nvSpPr>
          <p:cNvPr id="272" name="Vis 272"/>
          <p:cNvSpPr/>
          <p:nvPr/>
        </p:nvSpPr>
        <p:spPr>
          <a:xfrm>
            <a:off x="6601647" y="2949853"/>
            <a:ext cx="128016" cy="128016"/>
          </a:xfrm>
          <a:prstGeom prst="ellipse">
            <a:avLst/>
          </a:prstGeom>
          <a:solidFill>
            <a:srgbClr val="DAD6CF"/>
          </a:solidFill>
          <a:ln>
            <a:noFill/>
          </a:ln>
        </p:spPr>
      </p:sp>
      <p:sp>
        <p:nvSpPr>
          <p:cNvPr id="273" name="Vis 273"/>
          <p:cNvSpPr/>
          <p:nvPr/>
        </p:nvSpPr>
        <p:spPr>
          <a:xfrm>
            <a:off x="10739509" y="3394196"/>
            <a:ext cx="182880" cy="182880"/>
          </a:xfrm>
          <a:prstGeom prst="ellipse">
            <a:avLst/>
          </a:prstGeom>
          <a:solidFill>
            <a:srgbClr val="C0402A"/>
          </a:solidFill>
          <a:ln w="12700">
            <a:solidFill>
              <a:srgbClr val="FFFFFF"/>
            </a:solidFill>
          </a:ln>
        </p:spPr>
      </p:sp>
      <p:sp>
        <p:nvSpPr>
          <p:cNvPr id="274" name="Vis 274"/>
          <p:cNvSpPr/>
          <p:nvPr/>
        </p:nvSpPr>
        <p:spPr>
          <a:xfrm>
            <a:off x="10504406" y="3549648"/>
            <a:ext cx="182880" cy="182880"/>
          </a:xfrm>
          <a:prstGeom prst="ellipse">
            <a:avLst/>
          </a:prstGeom>
          <a:solidFill>
            <a:srgbClr val="C0402A"/>
          </a:solidFill>
          <a:ln w="12700">
            <a:solidFill>
              <a:srgbClr val="FFFFFF"/>
            </a:solidFill>
          </a:ln>
        </p:spPr>
      </p:sp>
      <p:sp>
        <p:nvSpPr>
          <p:cNvPr id="275" name="Vis 275"/>
          <p:cNvSpPr/>
          <p:nvPr/>
        </p:nvSpPr>
        <p:spPr>
          <a:xfrm>
            <a:off x="8305878" y="2915162"/>
            <a:ext cx="128016" cy="128016"/>
          </a:xfrm>
          <a:prstGeom prst="ellipse">
            <a:avLst/>
          </a:prstGeom>
          <a:solidFill>
            <a:srgbClr val="DAD6CF"/>
          </a:solidFill>
          <a:ln>
            <a:noFill/>
          </a:ln>
        </p:spPr>
      </p:sp>
      <p:sp>
        <p:nvSpPr>
          <p:cNvPr id="276" name="Vis 276"/>
          <p:cNvSpPr/>
          <p:nvPr/>
        </p:nvSpPr>
        <p:spPr>
          <a:xfrm>
            <a:off x="7010685" y="3296549"/>
            <a:ext cx="182880" cy="182880"/>
          </a:xfrm>
          <a:prstGeom prst="ellipse">
            <a:avLst/>
          </a:prstGeom>
          <a:solidFill>
            <a:srgbClr val="C0402A"/>
          </a:solidFill>
          <a:ln w="12700">
            <a:solidFill>
              <a:srgbClr val="FFFFFF"/>
            </a:solidFill>
          </a:ln>
        </p:spPr>
      </p:sp>
      <p:sp>
        <p:nvSpPr>
          <p:cNvPr id="277" name="Vis 277"/>
          <p:cNvSpPr/>
          <p:nvPr/>
        </p:nvSpPr>
        <p:spPr>
          <a:xfrm>
            <a:off x="7472535" y="2476539"/>
            <a:ext cx="182880" cy="182880"/>
          </a:xfrm>
          <a:prstGeom prst="ellipse">
            <a:avLst/>
          </a:prstGeom>
          <a:solidFill>
            <a:srgbClr val="C0402A"/>
          </a:solidFill>
          <a:ln w="12700">
            <a:solidFill>
              <a:srgbClr val="FFFFFF"/>
            </a:solidFill>
          </a:ln>
        </p:spPr>
      </p:sp>
      <p:sp>
        <p:nvSpPr>
          <p:cNvPr id="278" name="Vis 278"/>
          <p:cNvSpPr/>
          <p:nvPr/>
        </p:nvSpPr>
        <p:spPr>
          <a:xfrm>
            <a:off x="6584704" y="2484794"/>
            <a:ext cx="128016" cy="128016"/>
          </a:xfrm>
          <a:prstGeom prst="ellipse">
            <a:avLst/>
          </a:prstGeom>
          <a:solidFill>
            <a:srgbClr val="DAD6CF"/>
          </a:solidFill>
          <a:ln>
            <a:noFill/>
          </a:ln>
        </p:spPr>
      </p:sp>
      <p:sp>
        <p:nvSpPr>
          <p:cNvPr id="279" name="Vis 279"/>
          <p:cNvSpPr/>
          <p:nvPr/>
        </p:nvSpPr>
        <p:spPr>
          <a:xfrm>
            <a:off x="6492240" y="4251960"/>
            <a:ext cx="4663440" cy="548640"/>
          </a:xfrm>
          <a:prstGeom prst="rect">
            <a:avLst/>
          </a:prstGeom>
          <a:noFill/>
          <a:ln>
            <a:noFill/>
          </a:ln>
        </p:spPr>
        <p:txBody>
          <a:bodyPr wrap="square" lIns="0" tIns="0" rIns="0" bIns="0" anchor="t">
            <a:noAutofit/>
          </a:bodyPr>
          <a:lstStyle/>
          <a:p>
            <a:pPr algn="l" indent="0" marL="0">
              <a:lnSpc>
                <a:spcPts val="1350"/>
              </a:lnSpc>
              <a:buNone/>
            </a:pPr>
            <a:r>
              <a:rPr lang="en-US" sz="1050" dirty="0">
                <a:solidFill>
                  <a:srgbClr val="2A2724"/>
                </a:solidFill>
                <a:latin typeface="Arial"/>
                <a:ea typeface="Arial"/>
                <a:cs typeface="Arial"/>
                <a:sym typeface="Arial"/>
              </a:rPr>
              <a:t>Returns all 22 items with year 2025 and type poster. Exact, so the count can be trusted.</a:t>
            </a:r>
          </a:p>
        </p:txBody>
      </p:sp>
      <p:sp>
        <p:nvSpPr>
          <p:cNvPr id="280" name="Vis 280"/>
          <p:cNvSpPr/>
          <p:nvPr/>
        </p:nvSpPr>
        <p:spPr>
          <a:xfrm>
            <a:off x="6263640" y="4983480"/>
            <a:ext cx="5138928" cy="658368"/>
          </a:xfrm>
          <a:prstGeom prst="rect">
            <a:avLst/>
          </a:prstGeom>
          <a:solidFill>
            <a:srgbClr val="F2EFEA"/>
          </a:solidFill>
          <a:ln>
            <a:noFill/>
          </a:ln>
        </p:spPr>
      </p:sp>
      <p:sp>
        <p:nvSpPr>
          <p:cNvPr id="281" name="Vis 281"/>
          <p:cNvSpPr/>
          <p:nvPr/>
        </p:nvSpPr>
        <p:spPr>
          <a:xfrm>
            <a:off x="6263640" y="4983480"/>
            <a:ext cx="27432" cy="658368"/>
          </a:xfrm>
          <a:prstGeom prst="rect">
            <a:avLst/>
          </a:prstGeom>
          <a:solidFill>
            <a:srgbClr val="C0402A"/>
          </a:solidFill>
          <a:ln>
            <a:noFill/>
          </a:ln>
        </p:spPr>
      </p:sp>
      <p:sp>
        <p:nvSpPr>
          <p:cNvPr id="282" name="Vis 282"/>
          <p:cNvSpPr/>
          <p:nvPr/>
        </p:nvSpPr>
        <p:spPr>
          <a:xfrm>
            <a:off x="6446520" y="5111496"/>
            <a:ext cx="4828032" cy="438912"/>
          </a:xfrm>
          <a:prstGeom prst="rect">
            <a:avLst/>
          </a:prstGeom>
          <a:noFill/>
          <a:ln>
            <a:noFill/>
          </a:ln>
        </p:spPr>
        <p:txBody>
          <a:bodyPr wrap="square" lIns="0" tIns="0" rIns="0" bIns="0" anchor="t">
            <a:noAutofit/>
          </a:bodyPr>
          <a:lstStyle/>
          <a:p>
            <a:pPr algn="l" indent="0" marL="0">
              <a:lnSpc>
                <a:spcPts val="1300"/>
              </a:lnSpc>
              <a:buNone/>
            </a:pPr>
            <a:r>
              <a:rPr lang="en-US" sz="1000" dirty="0">
                <a:solidFill>
                  <a:srgbClr val="2A2724"/>
                </a:solidFill>
                <a:latin typeface="Courier New"/>
                <a:ea typeface="Courier New"/>
                <a:cs typeface="Courier New"/>
                <a:sym typeface="Courier New"/>
              </a:rPr>
              <a:t>query(store, q, k=200,</a:t>
            </a:r>
          </a:p>
          <a:p>
            <a:pPr algn="l" indent="0" marL="0">
              <a:lnSpc>
                <a:spcPts val="1300"/>
              </a:lnSpc>
              <a:buNone/>
            </a:pPr>
            <a:r>
              <a:rPr lang="en-US" sz="1000" dirty="0">
                <a:solidFill>
                  <a:srgbClr val="2A2724"/>
                </a:solidFill>
                <a:latin typeface="Courier New"/>
                <a:ea typeface="Courier New"/>
                <a:cs typeface="Courier New"/>
                <a:sym typeface="Courier New"/>
              </a:rPr>
              <a:t xml:space="preserve">      where={"year": "2025", "type": "poster"})</a:t>
            </a:r>
          </a:p>
        </p:txBody>
      </p:sp>
      <p:sp>
        <p:nvSpPr>
          <p:cNvPr id="283" name="Vis 283"/>
          <p:cNvSpPr/>
          <p:nvPr/>
        </p:nvSpPr>
        <p:spPr>
          <a:xfrm>
            <a:off x="795528" y="5742432"/>
            <a:ext cx="164592" cy="164592"/>
          </a:xfrm>
          <a:prstGeom prst="ellipse">
            <a:avLst/>
          </a:prstGeom>
          <a:solidFill>
            <a:srgbClr val="C0402A"/>
          </a:solidFill>
          <a:ln>
            <a:noFill/>
          </a:ln>
        </p:spPr>
      </p:sp>
      <p:sp>
        <p:nvSpPr>
          <p:cNvPr id="284" name="Vis 284"/>
          <p:cNvSpPr/>
          <p:nvPr/>
        </p:nvSpPr>
        <p:spPr>
          <a:xfrm>
            <a:off x="1042416" y="5669280"/>
            <a:ext cx="2926080" cy="310896"/>
          </a:xfrm>
          <a:prstGeom prst="rect">
            <a:avLst/>
          </a:prstGeom>
          <a:noFill/>
          <a:ln>
            <a:noFill/>
          </a:ln>
        </p:spPr>
        <p:txBody>
          <a:bodyPr wrap="square" lIns="0" tIns="0" rIns="0" bIns="0" anchor="ctr">
            <a:noAutofit/>
          </a:bodyPr>
          <a:lstStyle/>
          <a:p>
            <a:pPr algn="l" indent="0" marL="0">
              <a:buNone/>
            </a:pPr>
            <a:r>
              <a:rPr lang="en-US" sz="1000" dirty="0">
                <a:solidFill>
                  <a:srgbClr val="6E6A63"/>
                </a:solidFill>
                <a:latin typeface="Arial"/>
                <a:ea typeface="Arial"/>
                <a:cs typeface="Arial"/>
                <a:sym typeface="Arial"/>
              </a:rPr>
              <a:t>2025 poster</a:t>
            </a:r>
          </a:p>
        </p:txBody>
      </p:sp>
      <p:sp>
        <p:nvSpPr>
          <p:cNvPr id="285" name="Vis 285"/>
          <p:cNvSpPr/>
          <p:nvPr/>
        </p:nvSpPr>
        <p:spPr>
          <a:xfrm>
            <a:off x="2194560" y="5742432"/>
            <a:ext cx="164592" cy="164592"/>
          </a:xfrm>
          <a:prstGeom prst="ellipse">
            <a:avLst/>
          </a:prstGeom>
          <a:solidFill>
            <a:srgbClr val="8C877F"/>
          </a:solidFill>
          <a:ln>
            <a:noFill/>
          </a:ln>
        </p:spPr>
      </p:sp>
      <p:sp>
        <p:nvSpPr>
          <p:cNvPr id="286" name="Vis 286"/>
          <p:cNvSpPr/>
          <p:nvPr/>
        </p:nvSpPr>
        <p:spPr>
          <a:xfrm>
            <a:off x="2441448" y="5669280"/>
            <a:ext cx="1828800" cy="310896"/>
          </a:xfrm>
          <a:prstGeom prst="rect">
            <a:avLst/>
          </a:prstGeom>
          <a:noFill/>
          <a:ln>
            <a:noFill/>
          </a:ln>
        </p:spPr>
        <p:txBody>
          <a:bodyPr wrap="square" lIns="0" tIns="0" rIns="0" bIns="0" anchor="ctr">
            <a:noAutofit/>
          </a:bodyPr>
          <a:lstStyle/>
          <a:p>
            <a:pPr algn="l" indent="0" marL="0">
              <a:buNone/>
            </a:pPr>
            <a:r>
              <a:rPr lang="en-US" sz="1000" dirty="0">
                <a:solidFill>
                  <a:srgbClr val="6E6A63"/>
                </a:solidFill>
                <a:latin typeface="Arial"/>
                <a:ea typeface="Arial"/>
                <a:cs typeface="Arial"/>
                <a:sym typeface="Arial"/>
              </a:rPr>
              <a:t>other chunk</a:t>
            </a:r>
          </a:p>
        </p:txBody>
      </p:sp>
      <p:sp>
        <p:nvSpPr>
          <p:cNvPr id="287" name="Vis 287"/>
          <p:cNvSpPr/>
          <p:nvPr/>
        </p:nvSpPr>
        <p:spPr>
          <a:xfrm>
            <a:off x="4023360" y="5669280"/>
            <a:ext cx="7379208" cy="365760"/>
          </a:xfrm>
          <a:prstGeom prst="rect">
            <a:avLst/>
          </a:prstGeom>
          <a:noFill/>
          <a:ln>
            <a:noFill/>
          </a:ln>
        </p:spPr>
        <p:txBody>
          <a:bodyPr wrap="square" lIns="0" tIns="0" rIns="0" bIns="0" anchor="ctr">
            <a:noAutofit/>
          </a:bodyPr>
          <a:lstStyle/>
          <a:p>
            <a:pPr algn="l" indent="0" marL="0">
              <a:buNone/>
            </a:pPr>
            <a:r>
              <a:rPr lang="en-US" sz="1150" b="1" dirty="0">
                <a:solidFill>
                  <a:srgbClr val="141414"/>
                </a:solidFill>
                <a:latin typeface="Arial"/>
                <a:ea typeface="Arial"/>
                <a:cs typeface="Arial"/>
                <a:sym typeface="Arial"/>
              </a:rPr>
              <a:t>Most Level 4 questions need both: filter to the right subset, then search or count inside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Four Ways to Answer a Count</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24</a:t>
            </a:r>
            <a:endParaRPr lang="en-US" sz="1200" dirty="0"/>
          </a:p>
        </p:txBody>
      </p:sp>
      <p:sp>
        <p:nvSpPr>
          <p:cNvPr id="201" name="Vis 201"/>
          <p:cNvSpPr/>
          <p:nvPr/>
        </p:nvSpPr>
        <p:spPr>
          <a:xfrm>
            <a:off x="786384" y="1783080"/>
            <a:ext cx="5138928" cy="1572768"/>
          </a:xfrm>
          <a:prstGeom prst="rect">
            <a:avLst/>
          </a:prstGeom>
          <a:solidFill>
            <a:srgbClr val="F7E6E0"/>
          </a:solidFill>
          <a:ln>
            <a:noFill/>
          </a:ln>
        </p:spPr>
      </p:sp>
      <p:sp>
        <p:nvSpPr>
          <p:cNvPr id="202" name="Vis 202"/>
          <p:cNvSpPr/>
          <p:nvPr/>
        </p:nvSpPr>
        <p:spPr>
          <a:xfrm>
            <a:off x="1024128" y="1965960"/>
            <a:ext cx="4663440" cy="22860"/>
          </a:xfrm>
          <a:prstGeom prst="rect">
            <a:avLst/>
          </a:prstGeom>
          <a:solidFill>
            <a:srgbClr val="C0402A"/>
          </a:solidFill>
          <a:ln>
            <a:noFill/>
          </a:ln>
        </p:spPr>
      </p:sp>
      <p:sp>
        <p:nvSpPr>
          <p:cNvPr id="203" name="Vis 203"/>
          <p:cNvSpPr/>
          <p:nvPr/>
        </p:nvSpPr>
        <p:spPr>
          <a:xfrm>
            <a:off x="1024128" y="2103120"/>
            <a:ext cx="4663440" cy="1207008"/>
          </a:xfrm>
          <a:prstGeom prst="rect">
            <a:avLst/>
          </a:prstGeom>
          <a:noFill/>
          <a:ln>
            <a:noFill/>
          </a:ln>
        </p:spPr>
        <p:txBody>
          <a:bodyPr wrap="square" lIns="0" tIns="0" rIns="0" bIns="0" anchor="t">
            <a:noAutofit/>
          </a:bodyPr>
          <a:lstStyle/>
          <a:p>
            <a:pPr algn="l" indent="0" marL="0">
              <a:spcAft>
                <a:spcPts val="500"/>
              </a:spcAft>
              <a:buNone/>
            </a:pPr>
            <a:r>
              <a:rPr lang="en-US" sz="1500" b="1" dirty="0">
                <a:solidFill>
                  <a:srgbClr val="141414"/>
                </a:solidFill>
                <a:latin typeface="Arial"/>
                <a:ea typeface="Arial"/>
                <a:cs typeface="Arial"/>
                <a:sym typeface="Arial"/>
              </a:rPr>
              <a:t>Filter by metadata</a:t>
            </a:r>
          </a:p>
          <a:p>
            <a:pPr algn="l" indent="0" marL="0">
              <a:lnSpc>
                <a:spcPts val="1500"/>
              </a:lnSpc>
              <a:buNone/>
            </a:pPr>
            <a:r>
              <a:rPr lang="en-US" sz="1150" dirty="0">
                <a:solidFill>
                  <a:srgbClr val="2A2724"/>
                </a:solidFill>
                <a:latin typeface="Arial"/>
                <a:ea typeface="Arial"/>
                <a:cs typeface="Arial"/>
                <a:sym typeface="Arial"/>
              </a:rPr>
              <a:t>When the question names a year or a type. Exact and cheap, no extra model call. Only works on fields you stored at build time.</a:t>
            </a:r>
          </a:p>
        </p:txBody>
      </p:sp>
      <p:sp>
        <p:nvSpPr>
          <p:cNvPr id="204" name="Vis 204"/>
          <p:cNvSpPr/>
          <p:nvPr/>
        </p:nvSpPr>
        <p:spPr>
          <a:xfrm>
            <a:off x="5376672" y="2103120"/>
            <a:ext cx="365760" cy="274320"/>
          </a:xfrm>
          <a:prstGeom prst="rect">
            <a:avLst/>
          </a:prstGeom>
          <a:noFill/>
          <a:ln>
            <a:noFill/>
          </a:ln>
        </p:spPr>
        <p:txBody>
          <a:bodyPr wrap="square" lIns="0" tIns="0" rIns="0" bIns="0" anchor="t">
            <a:noAutofit/>
          </a:bodyPr>
          <a:lstStyle/>
          <a:p>
            <a:pPr algn="r" indent="0" marL="0">
              <a:buNone/>
            </a:pPr>
            <a:r>
              <a:rPr lang="en-US" sz="1300" b="1" dirty="0">
                <a:solidFill>
                  <a:srgbClr val="C0402A"/>
                </a:solidFill>
                <a:latin typeface="Arial"/>
                <a:ea typeface="Arial"/>
                <a:cs typeface="Arial"/>
                <a:sym typeface="Arial"/>
              </a:rPr>
              <a:t>1</a:t>
            </a:r>
          </a:p>
        </p:txBody>
      </p:sp>
      <p:sp>
        <p:nvSpPr>
          <p:cNvPr id="205" name="Vis 205"/>
          <p:cNvSpPr/>
          <p:nvPr/>
        </p:nvSpPr>
        <p:spPr>
          <a:xfrm>
            <a:off x="6263640" y="1783080"/>
            <a:ext cx="5138928" cy="18288"/>
          </a:xfrm>
          <a:prstGeom prst="rect">
            <a:avLst/>
          </a:prstGeom>
          <a:solidFill>
            <a:srgbClr val="141414"/>
          </a:solidFill>
          <a:ln>
            <a:noFill/>
          </a:ln>
        </p:spPr>
      </p:sp>
      <p:sp>
        <p:nvSpPr>
          <p:cNvPr id="206" name="Vis 206"/>
          <p:cNvSpPr/>
          <p:nvPr/>
        </p:nvSpPr>
        <p:spPr>
          <a:xfrm>
            <a:off x="6263640" y="1965960"/>
            <a:ext cx="5138928" cy="1389888"/>
          </a:xfrm>
          <a:prstGeom prst="rect">
            <a:avLst/>
          </a:prstGeom>
          <a:noFill/>
          <a:ln>
            <a:noFill/>
          </a:ln>
        </p:spPr>
        <p:txBody>
          <a:bodyPr wrap="square" lIns="0" tIns="0" rIns="0" bIns="0" anchor="t">
            <a:noAutofit/>
          </a:bodyPr>
          <a:lstStyle/>
          <a:p>
            <a:pPr algn="l" indent="0" marL="0">
              <a:spcAft>
                <a:spcPts val="500"/>
              </a:spcAft>
              <a:buNone/>
            </a:pPr>
            <a:r>
              <a:rPr lang="en-US" sz="1500" b="1" dirty="0">
                <a:solidFill>
                  <a:srgbClr val="141414"/>
                </a:solidFill>
                <a:latin typeface="Arial"/>
                <a:ea typeface="Arial"/>
                <a:cs typeface="Arial"/>
                <a:sym typeface="Arial"/>
              </a:rPr>
              <a:t>List, then count</a:t>
            </a:r>
          </a:p>
          <a:p>
            <a:pPr algn="l" indent="0" marL="0">
              <a:lnSpc>
                <a:spcPts val="1500"/>
              </a:lnSpc>
              <a:buNone/>
            </a:pPr>
            <a:r>
              <a:rPr lang="en-US" sz="1150" dirty="0">
                <a:solidFill>
                  <a:srgbClr val="2A2724"/>
                </a:solidFill>
                <a:latin typeface="Arial"/>
                <a:ea typeface="Arial"/>
                <a:cs typeface="Arial"/>
                <a:sym typeface="Arial"/>
              </a:rPr>
              <a:t>Give the model the whole filtered set. It lists every item, then gives the number. Mistakes become visible.</a:t>
            </a:r>
          </a:p>
        </p:txBody>
      </p:sp>
      <p:sp>
        <p:nvSpPr>
          <p:cNvPr id="207" name="Vis 207"/>
          <p:cNvSpPr/>
          <p:nvPr/>
        </p:nvSpPr>
        <p:spPr>
          <a:xfrm>
            <a:off x="10853928" y="1965960"/>
            <a:ext cx="365760" cy="274320"/>
          </a:xfrm>
          <a:prstGeom prst="rect">
            <a:avLst/>
          </a:prstGeom>
          <a:noFill/>
          <a:ln>
            <a:noFill/>
          </a:ln>
        </p:spPr>
        <p:txBody>
          <a:bodyPr wrap="square" lIns="0" tIns="0" rIns="0" bIns="0" anchor="t">
            <a:noAutofit/>
          </a:bodyPr>
          <a:lstStyle/>
          <a:p>
            <a:pPr algn="r" indent="0" marL="0">
              <a:buNone/>
            </a:pPr>
            <a:r>
              <a:rPr lang="en-US" sz="1300" b="1" dirty="0">
                <a:solidFill>
                  <a:srgbClr val="9C978E"/>
                </a:solidFill>
                <a:latin typeface="Arial"/>
                <a:ea typeface="Arial"/>
                <a:cs typeface="Arial"/>
                <a:sym typeface="Arial"/>
              </a:rPr>
              <a:t>2</a:t>
            </a:r>
          </a:p>
        </p:txBody>
      </p:sp>
      <p:sp>
        <p:nvSpPr>
          <p:cNvPr id="208" name="Vis 208"/>
          <p:cNvSpPr/>
          <p:nvPr/>
        </p:nvSpPr>
        <p:spPr>
          <a:xfrm>
            <a:off x="786384" y="3584448"/>
            <a:ext cx="5138928" cy="18288"/>
          </a:xfrm>
          <a:prstGeom prst="rect">
            <a:avLst/>
          </a:prstGeom>
          <a:solidFill>
            <a:srgbClr val="141414"/>
          </a:solidFill>
          <a:ln>
            <a:noFill/>
          </a:ln>
        </p:spPr>
      </p:sp>
      <p:sp>
        <p:nvSpPr>
          <p:cNvPr id="209" name="Vis 209"/>
          <p:cNvSpPr/>
          <p:nvPr/>
        </p:nvSpPr>
        <p:spPr>
          <a:xfrm>
            <a:off x="786384" y="3767328"/>
            <a:ext cx="5138928" cy="1389888"/>
          </a:xfrm>
          <a:prstGeom prst="rect">
            <a:avLst/>
          </a:prstGeom>
          <a:noFill/>
          <a:ln>
            <a:noFill/>
          </a:ln>
        </p:spPr>
        <p:txBody>
          <a:bodyPr wrap="square" lIns="0" tIns="0" rIns="0" bIns="0" anchor="t">
            <a:noAutofit/>
          </a:bodyPr>
          <a:lstStyle/>
          <a:p>
            <a:pPr algn="l" indent="0" marL="0">
              <a:spcAft>
                <a:spcPts val="500"/>
              </a:spcAft>
              <a:buNone/>
            </a:pPr>
            <a:r>
              <a:rPr lang="en-US" sz="1500" b="1" dirty="0">
                <a:solidFill>
                  <a:srgbClr val="141414"/>
                </a:solidFill>
                <a:latin typeface="Arial"/>
                <a:ea typeface="Arial"/>
                <a:cs typeface="Arial"/>
                <a:sym typeface="Arial"/>
              </a:rPr>
              <a:t>Retrieve wide, then judge</a:t>
            </a:r>
          </a:p>
          <a:p>
            <a:pPr algn="l" indent="0" marL="0">
              <a:lnSpc>
                <a:spcPts val="1500"/>
              </a:lnSpc>
              <a:buNone/>
            </a:pPr>
            <a:r>
              <a:rPr lang="en-US" sz="1150" dirty="0">
                <a:solidFill>
                  <a:srgbClr val="2A2724"/>
                </a:solidFill>
                <a:latin typeface="Arial"/>
                <a:ea typeface="Arial"/>
                <a:cs typeface="Arial"/>
                <a:sym typeface="Arial"/>
              </a:rPr>
              <a:t>When the metadata is missing. Fetch 30 to 50, have the model mark each item yes or no, dedupe, count the yeses.</a:t>
            </a:r>
          </a:p>
        </p:txBody>
      </p:sp>
      <p:sp>
        <p:nvSpPr>
          <p:cNvPr id="210" name="Vis 210"/>
          <p:cNvSpPr/>
          <p:nvPr/>
        </p:nvSpPr>
        <p:spPr>
          <a:xfrm>
            <a:off x="5376672" y="3767328"/>
            <a:ext cx="365760" cy="274320"/>
          </a:xfrm>
          <a:prstGeom prst="rect">
            <a:avLst/>
          </a:prstGeom>
          <a:noFill/>
          <a:ln>
            <a:noFill/>
          </a:ln>
        </p:spPr>
        <p:txBody>
          <a:bodyPr wrap="square" lIns="0" tIns="0" rIns="0" bIns="0" anchor="t">
            <a:noAutofit/>
          </a:bodyPr>
          <a:lstStyle/>
          <a:p>
            <a:pPr algn="r" indent="0" marL="0">
              <a:buNone/>
            </a:pPr>
            <a:r>
              <a:rPr lang="en-US" sz="1300" b="1" dirty="0">
                <a:solidFill>
                  <a:srgbClr val="9C978E"/>
                </a:solidFill>
                <a:latin typeface="Arial"/>
                <a:ea typeface="Arial"/>
                <a:cs typeface="Arial"/>
                <a:sym typeface="Arial"/>
              </a:rPr>
              <a:t>3</a:t>
            </a:r>
          </a:p>
        </p:txBody>
      </p:sp>
      <p:sp>
        <p:nvSpPr>
          <p:cNvPr id="211" name="Vis 211"/>
          <p:cNvSpPr/>
          <p:nvPr/>
        </p:nvSpPr>
        <p:spPr>
          <a:xfrm>
            <a:off x="6263640" y="3584448"/>
            <a:ext cx="5138928" cy="18288"/>
          </a:xfrm>
          <a:prstGeom prst="rect">
            <a:avLst/>
          </a:prstGeom>
          <a:solidFill>
            <a:srgbClr val="141414"/>
          </a:solidFill>
          <a:ln>
            <a:noFill/>
          </a:ln>
        </p:spPr>
      </p:sp>
      <p:sp>
        <p:nvSpPr>
          <p:cNvPr id="212" name="Vis 212"/>
          <p:cNvSpPr/>
          <p:nvPr/>
        </p:nvSpPr>
        <p:spPr>
          <a:xfrm>
            <a:off x="6263640" y="3767328"/>
            <a:ext cx="5138928" cy="1389888"/>
          </a:xfrm>
          <a:prstGeom prst="rect">
            <a:avLst/>
          </a:prstGeom>
          <a:noFill/>
          <a:ln>
            <a:noFill/>
          </a:ln>
        </p:spPr>
        <p:txBody>
          <a:bodyPr wrap="square" lIns="0" tIns="0" rIns="0" bIns="0" anchor="t">
            <a:noAutofit/>
          </a:bodyPr>
          <a:lstStyle/>
          <a:p>
            <a:pPr algn="l" indent="0" marL="0">
              <a:spcAft>
                <a:spcPts val="500"/>
              </a:spcAft>
              <a:buNone/>
            </a:pPr>
            <a:r>
              <a:rPr lang="en-US" sz="1500" b="1" dirty="0">
                <a:solidFill>
                  <a:srgbClr val="141414"/>
                </a:solidFill>
                <a:latin typeface="Arial"/>
                <a:ea typeface="Arial"/>
                <a:cs typeface="Arial"/>
                <a:sym typeface="Arial"/>
              </a:rPr>
              <a:t>Split the count</a:t>
            </a:r>
          </a:p>
          <a:p>
            <a:pPr algn="l" indent="0" marL="0">
              <a:lnSpc>
                <a:spcPts val="1500"/>
              </a:lnSpc>
              <a:buNone/>
            </a:pPr>
            <a:r>
              <a:rPr lang="en-US" sz="1150" dirty="0">
                <a:solidFill>
                  <a:srgbClr val="2A2724"/>
                </a:solidFill>
                <a:latin typeface="Arial"/>
                <a:ea typeface="Arial"/>
                <a:cs typeface="Arial"/>
                <a:sym typeface="Arial"/>
              </a:rPr>
              <a:t>When the count has two parts, like 2025 against 2024. Count each part separately, then combine in code.</a:t>
            </a:r>
          </a:p>
        </p:txBody>
      </p:sp>
      <p:sp>
        <p:nvSpPr>
          <p:cNvPr id="213" name="Vis 213"/>
          <p:cNvSpPr/>
          <p:nvPr/>
        </p:nvSpPr>
        <p:spPr>
          <a:xfrm>
            <a:off x="10853928" y="3767328"/>
            <a:ext cx="365760" cy="274320"/>
          </a:xfrm>
          <a:prstGeom prst="rect">
            <a:avLst/>
          </a:prstGeom>
          <a:noFill/>
          <a:ln>
            <a:noFill/>
          </a:ln>
        </p:spPr>
        <p:txBody>
          <a:bodyPr wrap="square" lIns="0" tIns="0" rIns="0" bIns="0" anchor="t">
            <a:noAutofit/>
          </a:bodyPr>
          <a:lstStyle/>
          <a:p>
            <a:pPr algn="r" indent="0" marL="0">
              <a:buNone/>
            </a:pPr>
            <a:r>
              <a:rPr lang="en-US" sz="1300" b="1" dirty="0">
                <a:solidFill>
                  <a:srgbClr val="9C978E"/>
                </a:solidFill>
                <a:latin typeface="Arial"/>
                <a:ea typeface="Arial"/>
                <a:cs typeface="Arial"/>
                <a:sym typeface="Arial"/>
              </a:rPr>
              <a:t>4</a:t>
            </a:r>
          </a:p>
        </p:txBody>
      </p:sp>
      <p:sp>
        <p:nvSpPr>
          <p:cNvPr id="214" name="Vis 214"/>
          <p:cNvSpPr/>
          <p:nvPr/>
        </p:nvSpPr>
        <p:spPr>
          <a:xfrm>
            <a:off x="786384" y="5440680"/>
            <a:ext cx="10616184" cy="594360"/>
          </a:xfrm>
          <a:prstGeom prst="rect">
            <a:avLst/>
          </a:prstGeom>
          <a:solidFill>
            <a:srgbClr val="F2EFEA"/>
          </a:solidFill>
          <a:ln>
            <a:noFill/>
          </a:ln>
        </p:spPr>
      </p:sp>
      <p:sp>
        <p:nvSpPr>
          <p:cNvPr id="215" name="Vis 215"/>
          <p:cNvSpPr/>
          <p:nvPr/>
        </p:nvSpPr>
        <p:spPr>
          <a:xfrm>
            <a:off x="1014984" y="5440680"/>
            <a:ext cx="10158984" cy="594360"/>
          </a:xfrm>
          <a:prstGeom prst="rect">
            <a:avLst/>
          </a:prstGeom>
          <a:noFill/>
          <a:ln>
            <a:noFill/>
          </a:ln>
        </p:spPr>
        <p:txBody>
          <a:bodyPr wrap="square" lIns="0" tIns="0" rIns="0" bIns="0" anchor="ctr">
            <a:noAutofit/>
          </a:bodyPr>
          <a:lstStyle/>
          <a:p>
            <a:pPr algn="l" indent="0" marL="0">
              <a:lnSpc>
                <a:spcPts val="1500"/>
              </a:lnSpc>
              <a:buNone/>
            </a:pPr>
            <a:r>
              <a:rPr lang="en-US" sz="1150" dirty="0">
                <a:solidFill>
                  <a:srgbClr val="141414"/>
                </a:solidFill>
                <a:latin typeface="Arial"/>
                <a:ea typeface="Arial"/>
                <a:cs typeface="Arial"/>
                <a:sym typeface="Arial"/>
              </a:rPr>
              <a:t>Try them in this order. 1 and 2 together answer most counting questions. 3 is the fallback when a field is missing; 4 only when the question counts two things.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LAB</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Lab: Counting Questions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6" name="Text 4"/>
          <p:cNvSpPr/>
          <p:nvPr/>
        </p:nvSpPr>
        <p:spPr>
          <a:xfrm>
            <a:off x="8662111" y="420624"/>
            <a:ext cx="2743200" cy="237744"/>
          </a:xfrm>
          <a:prstGeom prst="rect">
            <a:avLst/>
          </a:prstGeom>
          <a:noFill/>
          <a:ln/>
        </p:spPr>
        <p:txBody>
          <a:bodyPr wrap="square" lIns="0" tIns="0" rIns="0" bIns="0" rtlCol="0" anchor="ctr"/>
          <a:lstStyle/>
          <a:p>
            <a:pPr algn="r" indent="0" marL="0">
              <a:buNone/>
            </a:pPr>
            <a:r>
              <a:rPr lang="en-US" sz="950" b="1" spc="180" kern="0" dirty="0">
                <a:solidFill>
                  <a:srgbClr val="9C978E"/>
                </a:solidFill>
                <a:latin typeface="Arial" pitchFamily="34" charset="0"/>
                <a:ea typeface="Arial" pitchFamily="34" charset="-122"/>
                <a:cs typeface="Arial" pitchFamily="34" charset="-120"/>
              </a:rPr>
              <a:t>20 MINUTES</a:t>
            </a:r>
            <a:endParaRPr lang="en-US" sz="950" dirty="0"/>
          </a:p>
        </p:txBody>
      </p:sp>
      <p:sp>
        <p:nvSpPr>
          <p:cNvPr id="7" name="Shape 5"/>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25</a:t>
            </a:r>
            <a:endParaRPr lang="en-US" sz="1200" dirty="0"/>
          </a:p>
        </p:txBody>
      </p:sp>
      <p:sp>
        <p:nvSpPr>
          <p:cNvPr id="9" name="Text 7"/>
          <p:cNvSpPr/>
          <p:nvPr/>
        </p:nvSpPr>
        <p:spPr>
          <a:xfrm>
            <a:off x="786384" y="1765592"/>
            <a:ext cx="10087981" cy="334947"/>
          </a:xfrm>
          <a:prstGeom prst="rect">
            <a:avLst/>
          </a:prstGeom>
          <a:noFill/>
          <a:ln/>
        </p:spPr>
        <p:txBody>
          <a:bodyPr wrap="square" lIns="0" tIns="0" rIns="0" bIns="0" rtlCol="0" anchor="ctr"/>
          <a:lstStyle/>
          <a:p>
            <a:pPr indent="0" marL="0">
              <a:buNone/>
            </a:pPr>
            <a:r>
              <a:rPr lang="en-US" sz="1500" dirty="0">
                <a:solidFill>
                  <a:srgbClr val="6E6A63"/>
                </a:solidFill>
                <a:latin typeface="Arial" pitchFamily="34" charset="0"/>
                <a:ea typeface="Arial" pitchFamily="34" charset="-122"/>
                <a:cs typeface="Arial" pitchFamily="34" charset="-120"/>
              </a:rPr>
              <a:t>20 minutes. Labs/lab5_query_decomposition.ipynb, with the image chunks you indexed in lab 4.</a:t>
            </a:r>
            <a:endParaRPr lang="en-US" sz="1500" dirty="0"/>
          </a:p>
        </p:txBody>
      </p:sp>
      <p:sp>
        <p:nvSpPr>
          <p:cNvPr id="10" name="Text 8"/>
          <p:cNvSpPr/>
          <p:nvPr/>
        </p:nvSpPr>
        <p:spPr>
          <a:xfrm>
            <a:off x="786384" y="2193581"/>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01</a:t>
            </a:r>
            <a:endParaRPr lang="en-US" sz="1750" dirty="0"/>
          </a:p>
        </p:txBody>
      </p:sp>
      <p:sp>
        <p:nvSpPr>
          <p:cNvPr id="11" name="Text 9"/>
          <p:cNvSpPr/>
          <p:nvPr/>
        </p:nvSpPr>
        <p:spPr>
          <a:xfrm>
            <a:off x="1353312" y="2193581"/>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Baseline a Lv4 counting question</a:t>
            </a:r>
            <a:endParaRPr lang="en-US" sz="1950" dirty="0"/>
          </a:p>
        </p:txBody>
      </p:sp>
      <p:sp>
        <p:nvSpPr>
          <p:cNvPr id="12" name="Text 10"/>
          <p:cNvSpPr/>
          <p:nvPr/>
        </p:nvSpPr>
        <p:spPr>
          <a:xfrm>
            <a:off x="1353312" y="2580993"/>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Step 1: answer_simple. Record the answer and the seconds. You are comparing against both.</a:t>
            </a:r>
            <a:endParaRPr lang="en-US" sz="1650" dirty="0"/>
          </a:p>
        </p:txBody>
      </p:sp>
      <p:sp>
        <p:nvSpPr>
          <p:cNvPr id="13" name="Text 11"/>
          <p:cNvSpPr/>
          <p:nvPr/>
        </p:nvSpPr>
        <p:spPr>
          <a:xfrm>
            <a:off x="786384" y="3026297"/>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02</a:t>
            </a:r>
            <a:endParaRPr lang="en-US" sz="1750" dirty="0"/>
          </a:p>
        </p:txBody>
      </p:sp>
      <p:sp>
        <p:nvSpPr>
          <p:cNvPr id="14" name="Text 12"/>
          <p:cNvSpPr/>
          <p:nvPr/>
        </p:nvSpPr>
        <p:spPr>
          <a:xfrm>
            <a:off x="1353312" y="3026297"/>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Count with a filter</a:t>
            </a:r>
            <a:endParaRPr lang="en-US" sz="1950" dirty="0"/>
          </a:p>
        </p:txBody>
      </p:sp>
      <p:sp>
        <p:nvSpPr>
          <p:cNvPr id="15" name="Text 13"/>
          <p:cNvSpPr/>
          <p:nvPr/>
        </p:nvSpPr>
        <p:spPr>
          <a:xfrm>
            <a:off x="1353312" y="3413709"/>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Step 4: answer_by_counting with where={"kind": "image"}. It should list and count your five images.</a:t>
            </a:r>
            <a:endParaRPr lang="en-US" sz="1650" dirty="0"/>
          </a:p>
        </p:txBody>
      </p:sp>
      <p:sp>
        <p:nvSpPr>
          <p:cNvPr id="16" name="Text 14"/>
          <p:cNvSpPr/>
          <p:nvPr/>
        </p:nvSpPr>
        <p:spPr>
          <a:xfrm>
            <a:off x="786384" y="3859013"/>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03</a:t>
            </a:r>
            <a:endParaRPr lang="en-US" sz="1750" dirty="0"/>
          </a:p>
        </p:txBody>
      </p:sp>
      <p:sp>
        <p:nvSpPr>
          <p:cNvPr id="17" name="Text 15"/>
          <p:cNvSpPr/>
          <p:nvPr/>
        </p:nvSpPr>
        <p:spPr>
          <a:xfrm>
            <a:off x="1353312" y="3859013"/>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Break it on purpose</a:t>
            </a:r>
            <a:endParaRPr lang="en-US" sz="1950" dirty="0"/>
          </a:p>
        </p:txBody>
      </p:sp>
      <p:sp>
        <p:nvSpPr>
          <p:cNvPr id="18" name="Text 16"/>
          <p:cNvSpPr/>
          <p:nvPr/>
        </p:nvSpPr>
        <p:spPr>
          <a:xfrm>
            <a:off x="1353312" y="4246425"/>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Drop the filter and set k=3. Watch the count fall to what it was shown. That is the ceiling.</a:t>
            </a:r>
            <a:endParaRPr lang="en-US" sz="1650" dirty="0"/>
          </a:p>
        </p:txBody>
      </p:sp>
      <p:sp>
        <p:nvSpPr>
          <p:cNvPr id="19" name="Text 17"/>
          <p:cNvSpPr/>
          <p:nvPr/>
        </p:nvSpPr>
        <p:spPr>
          <a:xfrm>
            <a:off x="786384" y="4691729"/>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04</a:t>
            </a:r>
            <a:endParaRPr lang="en-US" sz="1750" dirty="0"/>
          </a:p>
        </p:txBody>
      </p:sp>
      <p:sp>
        <p:nvSpPr>
          <p:cNvPr id="20" name="Text 18"/>
          <p:cNvSpPr/>
          <p:nvPr/>
        </p:nvSpPr>
        <p:spPr>
          <a:xfrm>
            <a:off x="1353312" y="4691729"/>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Design the filter for posters</a:t>
            </a:r>
            <a:endParaRPr lang="en-US" sz="1950" dirty="0"/>
          </a:p>
        </p:txBody>
      </p:sp>
      <p:sp>
        <p:nvSpPr>
          <p:cNvPr id="21" name="Text 19"/>
          <p:cNvSpPr/>
          <p:nvPr/>
        </p:nvSpPr>
        <p:spPr>
          <a:xfrm>
            <a:off x="1353312" y="5079141"/>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Which fields would "2025 workshop posters" need? Check your build/images.py stores them.</a:t>
            </a:r>
            <a:endParaRPr lang="en-US" sz="1650" dirty="0"/>
          </a:p>
        </p:txBody>
      </p:sp>
      <p:sp>
        <p:nvSpPr>
          <p:cNvPr id="22" name="Text 20"/>
          <p:cNvSpPr/>
          <p:nvPr/>
        </p:nvSpPr>
        <p:spPr>
          <a:xfrm>
            <a:off x="786384" y="5524445"/>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05</a:t>
            </a:r>
            <a:endParaRPr lang="en-US" sz="1750" dirty="0"/>
          </a:p>
        </p:txBody>
      </p:sp>
      <p:sp>
        <p:nvSpPr>
          <p:cNvPr id="23" name="Text 21"/>
          <p:cNvSpPr/>
          <p:nvPr/>
        </p:nvSpPr>
        <p:spPr>
          <a:xfrm>
            <a:off x="1353312" y="5524445"/>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Route, then time it</a:t>
            </a:r>
            <a:endParaRPr lang="en-US" sz="1950" dirty="0"/>
          </a:p>
        </p:txBody>
      </p:sp>
      <p:sp>
        <p:nvSpPr>
          <p:cNvPr id="24" name="Text 22"/>
          <p:cNvSpPr/>
          <p:nvPr/>
        </p:nvSpPr>
        <p:spPr>
          <a:xfrm>
            <a:off x="1353312" y="5911857"/>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Steps 5 and 6: counting costs time. route() sends only the counts down this path.</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When a Count Has Two Parts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26</a:t>
            </a:r>
            <a:endParaRPr lang="en-US" sz="1200" dirty="0"/>
          </a:p>
        </p:txBody>
      </p:sp>
      <p:sp>
        <p:nvSpPr>
          <p:cNvPr id="201" name="Vis 201"/>
          <p:cNvSpPr/>
          <p:nvPr/>
        </p:nvSpPr>
        <p:spPr>
          <a:xfrm>
            <a:off x="786384" y="1645920"/>
            <a:ext cx="10616184" cy="530352"/>
          </a:xfrm>
          <a:prstGeom prst="rect">
            <a:avLst/>
          </a:prstGeom>
          <a:solidFill>
            <a:srgbClr val="2A2724"/>
          </a:solidFill>
          <a:ln>
            <a:noFill/>
          </a:ln>
        </p:spPr>
      </p:sp>
      <p:sp>
        <p:nvSpPr>
          <p:cNvPr id="202" name="Vis 202"/>
          <p:cNvSpPr/>
          <p:nvPr/>
        </p:nvSpPr>
        <p:spPr>
          <a:xfrm>
            <a:off x="1014984" y="1645920"/>
            <a:ext cx="10158984" cy="530352"/>
          </a:xfrm>
          <a:prstGeom prst="rect">
            <a:avLst/>
          </a:prstGeom>
          <a:noFill/>
          <a:ln>
            <a:noFill/>
          </a:ln>
        </p:spPr>
        <p:txBody>
          <a:bodyPr wrap="square" lIns="0" tIns="0" rIns="0" bIns="0" anchor="ctr">
            <a:noAutofit/>
          </a:bodyPr>
          <a:lstStyle/>
          <a:p>
            <a:pPr algn="l" indent="0" marL="0">
              <a:buNone/>
            </a:pPr>
            <a:r>
              <a:rPr lang="en-US" sz="1200" b="1" dirty="0">
                <a:solidFill>
                  <a:srgbClr val="F2B8AA"/>
                </a:solidFill>
                <a:latin typeface="Arial"/>
                <a:ea typeface="Arial"/>
                <a:cs typeface="Arial"/>
                <a:sym typeface="Arial"/>
              </a:rPr>
              <a:t xml:space="preserve">Q  </a:t>
            </a:r>
            <a:r>
              <a:rPr lang="en-US" sz="1300" dirty="0">
                <a:solidFill>
                  <a:srgbClr val="FFFFFF"/>
                </a:solidFill>
                <a:latin typeface="Arial"/>
                <a:ea typeface="Arial"/>
                <a:cs typeface="Arial"/>
                <a:sym typeface="Arial"/>
              </a:rPr>
              <a:t>"How many more workshop posters were there in 2025 than in 2024?"</a:t>
            </a:r>
          </a:p>
        </p:txBody>
      </p:sp>
      <p:cxnSp>
        <p:nvCxnSpPr>
          <p:cNvPr id="203" name="Line 203"/>
          <p:cNvCxnSpPr/>
          <p:nvPr/>
        </p:nvCxnSpPr>
        <p:spPr>
          <a:xfrm>
            <a:off x="6094476" y="2176272"/>
            <a:ext cx="0" cy="73152"/>
          </a:xfrm>
          <a:prstGeom prst="straightConnector1">
            <a:avLst/>
          </a:prstGeom>
          <a:ln w="19050">
            <a:solidFill>
              <a:srgbClr val="9C978E"/>
            </a:solidFill>
          </a:ln>
        </p:spPr>
      </p:cxnSp>
      <p:sp>
        <p:nvSpPr>
          <p:cNvPr id="204" name="Vis 204"/>
          <p:cNvSpPr/>
          <p:nvPr/>
        </p:nvSpPr>
        <p:spPr>
          <a:xfrm>
            <a:off x="4905756" y="2249424"/>
            <a:ext cx="2377440" cy="292608"/>
          </a:xfrm>
          <a:prstGeom prst="rect">
            <a:avLst/>
          </a:prstGeom>
          <a:solidFill>
            <a:srgbClr val="FAF8F5"/>
          </a:solidFill>
          <a:ln w="9525">
            <a:solidFill>
              <a:srgbClr val="D5D1CA"/>
            </a:solidFill>
          </a:ln>
        </p:spPr>
        <p:txBody>
          <a:bodyPr wrap="square" lIns="0" tIns="0" rIns="0" bIns="0" anchor="ctr">
            <a:noAutofit/>
          </a:bodyPr>
          <a:lstStyle/>
          <a:p>
            <a:pPr algn="ctr" indent="0" marL="0">
              <a:buNone/>
            </a:pPr>
            <a:r>
              <a:rPr lang="en-US" sz="1050" b="1" dirty="0">
                <a:solidFill>
                  <a:srgbClr val="C0402A"/>
                </a:solidFill>
                <a:latin typeface="Courier New"/>
                <a:ea typeface="Courier New"/>
                <a:cs typeface="Courier New"/>
                <a:sym typeface="Courier New"/>
              </a:rPr>
              <a:t>split_question()</a:t>
            </a:r>
            <a:r>
              <a:rPr lang="en-US" sz="1000" dirty="0">
                <a:solidFill>
                  <a:srgbClr val="6E6A63"/>
                </a:solidFill>
                <a:latin typeface="Arial"/>
                <a:ea typeface="Arial"/>
                <a:cs typeface="Arial"/>
                <a:sym typeface="Arial"/>
              </a:rPr>
              <a:t xml:space="preserve">  1 call</a:t>
            </a:r>
          </a:p>
        </p:txBody>
      </p:sp>
      <p:cxnSp>
        <p:nvCxnSpPr>
          <p:cNvPr id="205" name="Line 205"/>
          <p:cNvCxnSpPr/>
          <p:nvPr/>
        </p:nvCxnSpPr>
        <p:spPr>
          <a:xfrm flipH="1">
            <a:off x="3385566" y="2395728"/>
            <a:ext cx="1520190" cy="320040"/>
          </a:xfrm>
          <a:prstGeom prst="straightConnector1">
            <a:avLst/>
          </a:prstGeom>
          <a:ln w="19050">
            <a:solidFill>
              <a:srgbClr val="9C978E"/>
            </a:solidFill>
            <a:tailEnd type="triangle" w="med" len="med"/>
          </a:ln>
        </p:spPr>
      </p:cxnSp>
      <p:cxnSp>
        <p:nvCxnSpPr>
          <p:cNvPr id="206" name="Line 206"/>
          <p:cNvCxnSpPr/>
          <p:nvPr/>
        </p:nvCxnSpPr>
        <p:spPr>
          <a:xfrm>
            <a:off x="7283196" y="2395728"/>
            <a:ext cx="1520190" cy="320040"/>
          </a:xfrm>
          <a:prstGeom prst="straightConnector1">
            <a:avLst/>
          </a:prstGeom>
          <a:ln w="19050">
            <a:solidFill>
              <a:srgbClr val="9C978E"/>
            </a:solidFill>
            <a:tailEnd type="triangle" w="med" len="med"/>
          </a:ln>
        </p:spPr>
      </p:cxnSp>
      <p:sp>
        <p:nvSpPr>
          <p:cNvPr id="207" name="Vis 207"/>
          <p:cNvSpPr/>
          <p:nvPr/>
        </p:nvSpPr>
        <p:spPr>
          <a:xfrm>
            <a:off x="786384" y="2743200"/>
            <a:ext cx="5198364" cy="502920"/>
          </a:xfrm>
          <a:prstGeom prst="rect">
            <a:avLst/>
          </a:prstGeom>
          <a:solidFill>
            <a:srgbClr val="F7E6E0"/>
          </a:solidFill>
          <a:ln>
            <a:noFill/>
          </a:ln>
        </p:spPr>
      </p:sp>
      <p:sp>
        <p:nvSpPr>
          <p:cNvPr id="208" name="Vis 208"/>
          <p:cNvSpPr/>
          <p:nvPr/>
        </p:nvSpPr>
        <p:spPr>
          <a:xfrm>
            <a:off x="969264" y="2743200"/>
            <a:ext cx="4832604" cy="502920"/>
          </a:xfrm>
          <a:prstGeom prst="rect">
            <a:avLst/>
          </a:prstGeom>
          <a:noFill/>
          <a:ln>
            <a:noFill/>
          </a:ln>
        </p:spPr>
        <p:txBody>
          <a:bodyPr wrap="square" lIns="0" tIns="0" rIns="0" bIns="0" anchor="ctr">
            <a:noAutofit/>
          </a:bodyPr>
          <a:lstStyle/>
          <a:p>
            <a:pPr algn="l" indent="0" marL="0">
              <a:buNone/>
            </a:pPr>
            <a:r>
              <a:rPr lang="en-US" sz="1200" b="1" dirty="0">
                <a:solidFill>
                  <a:srgbClr val="C0402A"/>
                </a:solidFill>
                <a:latin typeface="Arial"/>
                <a:ea typeface="Arial"/>
                <a:cs typeface="Arial"/>
                <a:sym typeface="Arial"/>
              </a:rPr>
              <a:t xml:space="preserve">1  </a:t>
            </a:r>
            <a:r>
              <a:rPr lang="en-US" sz="1200" dirty="0">
                <a:solidFill>
                  <a:srgbClr val="141414"/>
                </a:solidFill>
                <a:latin typeface="Arial"/>
                <a:ea typeface="Arial"/>
                <a:cs typeface="Arial"/>
                <a:sym typeface="Arial"/>
              </a:rPr>
              <a:t>How many workshop posters in 2025?</a:t>
            </a:r>
          </a:p>
        </p:txBody>
      </p:sp>
      <p:cxnSp>
        <p:nvCxnSpPr>
          <p:cNvPr id="209" name="Line 209"/>
          <p:cNvCxnSpPr/>
          <p:nvPr/>
        </p:nvCxnSpPr>
        <p:spPr>
          <a:xfrm>
            <a:off x="3385566" y="3273552"/>
            <a:ext cx="0" cy="338328"/>
          </a:xfrm>
          <a:prstGeom prst="straightConnector1">
            <a:avLst/>
          </a:prstGeom>
          <a:ln w="19050">
            <a:solidFill>
              <a:srgbClr val="9C978E"/>
            </a:solidFill>
            <a:tailEnd type="triangle" w="med" len="med"/>
          </a:ln>
        </p:spPr>
      </p:cxnSp>
      <p:sp>
        <p:nvSpPr>
          <p:cNvPr id="210" name="Vis 210"/>
          <p:cNvSpPr/>
          <p:nvPr/>
        </p:nvSpPr>
        <p:spPr>
          <a:xfrm>
            <a:off x="786384" y="3657600"/>
            <a:ext cx="5198364" cy="868680"/>
          </a:xfrm>
          <a:prstGeom prst="rect">
            <a:avLst/>
          </a:prstGeom>
          <a:solidFill>
            <a:srgbClr val="F2EFEA"/>
          </a:solidFill>
          <a:ln>
            <a:noFill/>
          </a:ln>
        </p:spPr>
      </p:sp>
      <p:sp>
        <p:nvSpPr>
          <p:cNvPr id="211" name="Vis 211"/>
          <p:cNvSpPr/>
          <p:nvPr/>
        </p:nvSpPr>
        <p:spPr>
          <a:xfrm>
            <a:off x="969264" y="3657600"/>
            <a:ext cx="4009644" cy="868680"/>
          </a:xfrm>
          <a:prstGeom prst="rect">
            <a:avLst/>
          </a:prstGeom>
          <a:noFill/>
          <a:ln>
            <a:noFill/>
          </a:ln>
        </p:spPr>
        <p:txBody>
          <a:bodyPr wrap="square" lIns="0" tIns="0" rIns="0" bIns="0" anchor="ctr">
            <a:noAutofit/>
          </a:bodyPr>
          <a:lstStyle/>
          <a:p>
            <a:pPr algn="l" indent="0" marL="0">
              <a:buNone/>
            </a:pPr>
            <a:r>
              <a:rPr lang="en-US" sz="1050" dirty="0">
                <a:solidFill>
                  <a:srgbClr val="2A2724"/>
                </a:solidFill>
                <a:latin typeface="Courier New"/>
                <a:ea typeface="Courier New"/>
                <a:cs typeface="Courier New"/>
                <a:sym typeface="Courier New"/>
              </a:rPr>
              <a:t>answer_by_counting(q,</a:t>
            </a:r>
          </a:p>
          <a:p>
            <a:pPr algn="l" indent="0" marL="0">
              <a:buNone/>
            </a:pPr>
            <a:r>
              <a:rPr lang="en-US" sz="1050" dirty="0">
                <a:solidFill>
                  <a:srgbClr val="2A2724"/>
                </a:solidFill>
                <a:latin typeface="Courier New"/>
                <a:ea typeface="Courier New"/>
                <a:cs typeface="Courier New"/>
                <a:sym typeface="Courier New"/>
              </a:rPr>
              <a:t xml:space="preserve">  where={"year": "2025",</a:t>
            </a:r>
          </a:p>
          <a:p>
            <a:pPr algn="l" indent="0" marL="0">
              <a:buNone/>
            </a:pPr>
            <a:r>
              <a:rPr lang="en-US" sz="1050" dirty="0">
                <a:solidFill>
                  <a:srgbClr val="2A2724"/>
                </a:solidFill>
                <a:latin typeface="Courier New"/>
                <a:ea typeface="Courier New"/>
                <a:cs typeface="Courier New"/>
                <a:sym typeface="Courier New"/>
              </a:rPr>
              <a:t xml:space="preserve">         "type": "poster"})</a:t>
            </a:r>
          </a:p>
        </p:txBody>
      </p:sp>
      <p:sp>
        <p:nvSpPr>
          <p:cNvPr id="212" name="Vis 212"/>
          <p:cNvSpPr/>
          <p:nvPr/>
        </p:nvSpPr>
        <p:spPr>
          <a:xfrm>
            <a:off x="4978908" y="3657600"/>
            <a:ext cx="868680" cy="868680"/>
          </a:xfrm>
          <a:prstGeom prst="rect">
            <a:avLst/>
          </a:prstGeom>
          <a:noFill/>
          <a:ln>
            <a:noFill/>
          </a:ln>
        </p:spPr>
        <p:txBody>
          <a:bodyPr wrap="square" lIns="0" tIns="0" rIns="0" bIns="0" anchor="ctr">
            <a:noAutofit/>
          </a:bodyPr>
          <a:lstStyle/>
          <a:p>
            <a:pPr algn="ctr" indent="0" marL="0">
              <a:buNone/>
            </a:pPr>
            <a:r>
              <a:rPr lang="en-US" sz="2600" b="1" dirty="0">
                <a:solidFill>
                  <a:srgbClr val="C0402A"/>
                </a:solidFill>
                <a:latin typeface="Arial"/>
                <a:ea typeface="Arial"/>
                <a:cs typeface="Arial"/>
                <a:sym typeface="Arial"/>
              </a:rPr>
              <a:t>31</a:t>
            </a:r>
          </a:p>
        </p:txBody>
      </p:sp>
      <p:cxnSp>
        <p:nvCxnSpPr>
          <p:cNvPr id="213" name="Line 213"/>
          <p:cNvCxnSpPr/>
          <p:nvPr/>
        </p:nvCxnSpPr>
        <p:spPr>
          <a:xfrm>
            <a:off x="3385566" y="4553712"/>
            <a:ext cx="2708910" cy="320040"/>
          </a:xfrm>
          <a:prstGeom prst="straightConnector1">
            <a:avLst/>
          </a:prstGeom>
          <a:ln w="19050">
            <a:solidFill>
              <a:srgbClr val="9C978E"/>
            </a:solidFill>
            <a:tailEnd type="triangle" w="med" len="med"/>
          </a:ln>
        </p:spPr>
      </p:cxnSp>
      <p:sp>
        <p:nvSpPr>
          <p:cNvPr id="214" name="Vis 214"/>
          <p:cNvSpPr/>
          <p:nvPr/>
        </p:nvSpPr>
        <p:spPr>
          <a:xfrm>
            <a:off x="6204204" y="2743200"/>
            <a:ext cx="5198364" cy="502920"/>
          </a:xfrm>
          <a:prstGeom prst="rect">
            <a:avLst/>
          </a:prstGeom>
          <a:solidFill>
            <a:srgbClr val="F7E6E0"/>
          </a:solidFill>
          <a:ln>
            <a:noFill/>
          </a:ln>
        </p:spPr>
      </p:sp>
      <p:sp>
        <p:nvSpPr>
          <p:cNvPr id="215" name="Vis 215"/>
          <p:cNvSpPr/>
          <p:nvPr/>
        </p:nvSpPr>
        <p:spPr>
          <a:xfrm>
            <a:off x="6387084" y="2743200"/>
            <a:ext cx="4832604" cy="502920"/>
          </a:xfrm>
          <a:prstGeom prst="rect">
            <a:avLst/>
          </a:prstGeom>
          <a:noFill/>
          <a:ln>
            <a:noFill/>
          </a:ln>
        </p:spPr>
        <p:txBody>
          <a:bodyPr wrap="square" lIns="0" tIns="0" rIns="0" bIns="0" anchor="ctr">
            <a:noAutofit/>
          </a:bodyPr>
          <a:lstStyle/>
          <a:p>
            <a:pPr algn="l" indent="0" marL="0">
              <a:buNone/>
            </a:pPr>
            <a:r>
              <a:rPr lang="en-US" sz="1200" b="1" dirty="0">
                <a:solidFill>
                  <a:srgbClr val="C0402A"/>
                </a:solidFill>
                <a:latin typeface="Arial"/>
                <a:ea typeface="Arial"/>
                <a:cs typeface="Arial"/>
                <a:sym typeface="Arial"/>
              </a:rPr>
              <a:t xml:space="preserve">2  </a:t>
            </a:r>
            <a:r>
              <a:rPr lang="en-US" sz="1200" dirty="0">
                <a:solidFill>
                  <a:srgbClr val="141414"/>
                </a:solidFill>
                <a:latin typeface="Arial"/>
                <a:ea typeface="Arial"/>
                <a:cs typeface="Arial"/>
                <a:sym typeface="Arial"/>
              </a:rPr>
              <a:t>How many workshop posters in 2024?</a:t>
            </a:r>
          </a:p>
        </p:txBody>
      </p:sp>
      <p:cxnSp>
        <p:nvCxnSpPr>
          <p:cNvPr id="216" name="Line 216"/>
          <p:cNvCxnSpPr/>
          <p:nvPr/>
        </p:nvCxnSpPr>
        <p:spPr>
          <a:xfrm>
            <a:off x="8803386" y="3273552"/>
            <a:ext cx="0" cy="338328"/>
          </a:xfrm>
          <a:prstGeom prst="straightConnector1">
            <a:avLst/>
          </a:prstGeom>
          <a:ln w="19050">
            <a:solidFill>
              <a:srgbClr val="9C978E"/>
            </a:solidFill>
            <a:tailEnd type="triangle" w="med" len="med"/>
          </a:ln>
        </p:spPr>
      </p:cxnSp>
      <p:sp>
        <p:nvSpPr>
          <p:cNvPr id="217" name="Vis 217"/>
          <p:cNvSpPr/>
          <p:nvPr/>
        </p:nvSpPr>
        <p:spPr>
          <a:xfrm>
            <a:off x="6204204" y="3657600"/>
            <a:ext cx="5198364" cy="868680"/>
          </a:xfrm>
          <a:prstGeom prst="rect">
            <a:avLst/>
          </a:prstGeom>
          <a:solidFill>
            <a:srgbClr val="F2EFEA"/>
          </a:solidFill>
          <a:ln>
            <a:noFill/>
          </a:ln>
        </p:spPr>
      </p:sp>
      <p:sp>
        <p:nvSpPr>
          <p:cNvPr id="218" name="Vis 218"/>
          <p:cNvSpPr/>
          <p:nvPr/>
        </p:nvSpPr>
        <p:spPr>
          <a:xfrm>
            <a:off x="6387084" y="3657600"/>
            <a:ext cx="4009644" cy="868680"/>
          </a:xfrm>
          <a:prstGeom prst="rect">
            <a:avLst/>
          </a:prstGeom>
          <a:noFill/>
          <a:ln>
            <a:noFill/>
          </a:ln>
        </p:spPr>
        <p:txBody>
          <a:bodyPr wrap="square" lIns="0" tIns="0" rIns="0" bIns="0" anchor="ctr">
            <a:noAutofit/>
          </a:bodyPr>
          <a:lstStyle/>
          <a:p>
            <a:pPr algn="l" indent="0" marL="0">
              <a:buNone/>
            </a:pPr>
            <a:r>
              <a:rPr lang="en-US" sz="1050" dirty="0">
                <a:solidFill>
                  <a:srgbClr val="2A2724"/>
                </a:solidFill>
                <a:latin typeface="Courier New"/>
                <a:ea typeface="Courier New"/>
                <a:cs typeface="Courier New"/>
                <a:sym typeface="Courier New"/>
              </a:rPr>
              <a:t>answer_by_counting(q,</a:t>
            </a:r>
          </a:p>
          <a:p>
            <a:pPr algn="l" indent="0" marL="0">
              <a:buNone/>
            </a:pPr>
            <a:r>
              <a:rPr lang="en-US" sz="1050" dirty="0">
                <a:solidFill>
                  <a:srgbClr val="2A2724"/>
                </a:solidFill>
                <a:latin typeface="Courier New"/>
                <a:ea typeface="Courier New"/>
                <a:cs typeface="Courier New"/>
                <a:sym typeface="Courier New"/>
              </a:rPr>
              <a:t xml:space="preserve">  where={"year": "2024",</a:t>
            </a:r>
          </a:p>
          <a:p>
            <a:pPr algn="l" indent="0" marL="0">
              <a:buNone/>
            </a:pPr>
            <a:r>
              <a:rPr lang="en-US" sz="1050" dirty="0">
                <a:solidFill>
                  <a:srgbClr val="2A2724"/>
                </a:solidFill>
                <a:latin typeface="Courier New"/>
                <a:ea typeface="Courier New"/>
                <a:cs typeface="Courier New"/>
                <a:sym typeface="Courier New"/>
              </a:rPr>
              <a:t xml:space="preserve">         "type": "poster"})</a:t>
            </a:r>
          </a:p>
        </p:txBody>
      </p:sp>
      <p:sp>
        <p:nvSpPr>
          <p:cNvPr id="219" name="Vis 219"/>
          <p:cNvSpPr/>
          <p:nvPr/>
        </p:nvSpPr>
        <p:spPr>
          <a:xfrm>
            <a:off x="10396728" y="3657600"/>
            <a:ext cx="868680" cy="868680"/>
          </a:xfrm>
          <a:prstGeom prst="rect">
            <a:avLst/>
          </a:prstGeom>
          <a:noFill/>
          <a:ln>
            <a:noFill/>
          </a:ln>
        </p:spPr>
        <p:txBody>
          <a:bodyPr wrap="square" lIns="0" tIns="0" rIns="0" bIns="0" anchor="ctr">
            <a:noAutofit/>
          </a:bodyPr>
          <a:lstStyle/>
          <a:p>
            <a:pPr algn="ctr" indent="0" marL="0">
              <a:buNone/>
            </a:pPr>
            <a:r>
              <a:rPr lang="en-US" sz="2600" b="1" dirty="0">
                <a:solidFill>
                  <a:srgbClr val="6E6A63"/>
                </a:solidFill>
                <a:latin typeface="Arial"/>
                <a:ea typeface="Arial"/>
                <a:cs typeface="Arial"/>
                <a:sym typeface="Arial"/>
              </a:rPr>
              <a:t>N</a:t>
            </a:r>
          </a:p>
        </p:txBody>
      </p:sp>
      <p:cxnSp>
        <p:nvCxnSpPr>
          <p:cNvPr id="220" name="Line 220"/>
          <p:cNvCxnSpPr/>
          <p:nvPr/>
        </p:nvCxnSpPr>
        <p:spPr>
          <a:xfrm flipH="1">
            <a:off x="6094476" y="4553712"/>
            <a:ext cx="2708910" cy="320040"/>
          </a:xfrm>
          <a:prstGeom prst="straightConnector1">
            <a:avLst/>
          </a:prstGeom>
          <a:ln w="19050">
            <a:solidFill>
              <a:srgbClr val="9C978E"/>
            </a:solidFill>
            <a:tailEnd type="triangle" w="med" len="med"/>
          </a:ln>
        </p:spPr>
      </p:cxnSp>
      <p:sp>
        <p:nvSpPr>
          <p:cNvPr id="221" name="Vis 221"/>
          <p:cNvSpPr/>
          <p:nvPr/>
        </p:nvSpPr>
        <p:spPr>
          <a:xfrm>
            <a:off x="3717036" y="4892040"/>
            <a:ext cx="4754880" cy="502920"/>
          </a:xfrm>
          <a:prstGeom prst="rect">
            <a:avLst/>
          </a:prstGeom>
          <a:solidFill>
            <a:srgbClr val="2A2724"/>
          </a:solidFill>
          <a:ln>
            <a:noFill/>
          </a:ln>
        </p:spPr>
      </p:sp>
      <p:sp>
        <p:nvSpPr>
          <p:cNvPr id="222" name="Vis 222"/>
          <p:cNvSpPr/>
          <p:nvPr/>
        </p:nvSpPr>
        <p:spPr>
          <a:xfrm>
            <a:off x="3717036" y="4892040"/>
            <a:ext cx="4754880" cy="502920"/>
          </a:xfrm>
          <a:prstGeom prst="rect">
            <a:avLst/>
          </a:prstGeom>
          <a:noFill/>
          <a:ln>
            <a:noFill/>
          </a:ln>
        </p:spPr>
        <p:txBody>
          <a:bodyPr wrap="square" lIns="0" tIns="0" rIns="0" bIns="0" anchor="ctr">
            <a:noAutofit/>
          </a:bodyPr>
          <a:lstStyle/>
          <a:p>
            <a:pPr algn="ctr" indent="0" marL="0">
              <a:buNone/>
            </a:pPr>
            <a:r>
              <a:rPr lang="en-US" sz="1200" b="1" dirty="0">
                <a:solidFill>
                  <a:srgbClr val="F2B8AA"/>
                </a:solidFill>
                <a:latin typeface="Courier New"/>
                <a:ea typeface="Courier New"/>
                <a:cs typeface="Courier New"/>
                <a:sym typeface="Courier New"/>
              </a:rPr>
              <a:t>31 - N</a:t>
            </a:r>
            <a:r>
              <a:rPr lang="en-US" sz="1200" b="1" dirty="0">
                <a:solidFill>
                  <a:srgbClr val="FFFFFF"/>
                </a:solidFill>
                <a:latin typeface="Arial"/>
                <a:ea typeface="Arial"/>
                <a:cs typeface="Arial"/>
                <a:sym typeface="Arial"/>
              </a:rPr>
              <a:t xml:space="preserve">   computed in code</a:t>
            </a:r>
          </a:p>
        </p:txBody>
      </p:sp>
      <p:sp>
        <p:nvSpPr>
          <p:cNvPr id="223" name="Vis 223"/>
          <p:cNvSpPr/>
          <p:nvPr/>
        </p:nvSpPr>
        <p:spPr>
          <a:xfrm>
            <a:off x="786384" y="5559552"/>
            <a:ext cx="10616184" cy="502920"/>
          </a:xfrm>
          <a:prstGeom prst="rect">
            <a:avLst/>
          </a:prstGeom>
          <a:noFill/>
          <a:ln>
            <a:noFill/>
          </a:ln>
        </p:spPr>
        <p:txBody>
          <a:bodyPr wrap="square" lIns="0" tIns="0" rIns="0" bIns="0" anchor="t">
            <a:noAutofit/>
          </a:bodyPr>
          <a:lstStyle/>
          <a:p>
            <a:pPr algn="l" indent="0" marL="0">
              <a:buNone/>
            </a:pPr>
            <a:r>
              <a:rPr lang="en-US" sz="1150" b="1" dirty="0">
                <a:solidFill>
                  <a:srgbClr val="141414"/>
                </a:solidFill>
                <a:latin typeface="Arial"/>
                <a:ea typeface="Arial"/>
                <a:cs typeface="Arial"/>
                <a:sym typeface="Arial"/>
              </a:rPr>
              <a:t xml:space="preserve">Do the arithmetic in Python: </a:t>
            </a:r>
            <a:r>
              <a:rPr lang="en-US" sz="1150" dirty="0">
                <a:solidFill>
                  <a:srgbClr val="2A2724"/>
                </a:solidFill>
                <a:latin typeface="Arial"/>
                <a:ea typeface="Arial"/>
                <a:cs typeface="Arial"/>
                <a:sym typeface="Arial"/>
              </a:rPr>
              <a:t xml:space="preserve">models slip on subtraction. </a:t>
            </a:r>
            <a:r>
              <a:rPr lang="en-US" sz="1150" b="1" dirty="0">
                <a:solidFill>
                  <a:srgbClr val="C0402A"/>
                </a:solidFill>
                <a:latin typeface="Arial"/>
                <a:ea typeface="Arial"/>
                <a:cs typeface="Arial"/>
                <a:sym typeface="Arial"/>
              </a:rPr>
              <a:t xml:space="preserve">Only split when the count really has two parts; </a:t>
            </a:r>
            <a:r>
              <a:rPr lang="en-US" sz="1150" dirty="0">
                <a:solidFill>
                  <a:srgbClr val="2A2724"/>
                </a:solidFill>
                <a:latin typeface="Arial"/>
                <a:ea typeface="Arial"/>
                <a:cs typeface="Arial"/>
                <a:sym typeface="Arial"/>
              </a:rPr>
              <a:t>each part costs another filtered call.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0EA"/>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sp>
      <p:sp>
        <p:nvSpPr>
          <p:cNvPr id="4" name="Text 2"/>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Notes on Reasoning</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sp>
      <p:sp>
        <p:nvSpPr>
          <p:cNvPr id="6" name="Text 4"/>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7" name="Shape 5"/>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27</a:t>
            </a:r>
            <a:endParaRPr lang="en-US" sz="1200" dirty="0"/>
          </a:p>
        </p:txBody>
      </p:sp>
      <p:sp>
        <p:nvSpPr>
          <p:cNvPr id="9" name="Shape 7"/>
          <p:cNvSpPr/>
          <p:nvPr/>
        </p:nvSpPr>
        <p:spPr>
          <a:xfrm>
            <a:off x="786384" y="1823010"/>
            <a:ext cx="5227168" cy="20788"/>
          </a:xfrm>
          <a:prstGeom prst="rect">
            <a:avLst/>
          </a:prstGeom>
          <a:solidFill>
            <a:srgbClr val="141414"/>
          </a:solidFill>
          <a:ln/>
        </p:spPr>
      </p:sp>
      <p:sp>
        <p:nvSpPr>
          <p:cNvPr id="10" name="Text 8"/>
          <p:cNvSpPr/>
          <p:nvPr/>
        </p:nvSpPr>
        <p:spPr>
          <a:xfrm>
            <a:off x="786384" y="2007789"/>
            <a:ext cx="5227168" cy="434679"/>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Route before you reason</a:t>
            </a:r>
            <a:endParaRPr lang="en-US" sz="1950" dirty="0"/>
          </a:p>
        </p:txBody>
      </p:sp>
      <p:sp>
        <p:nvSpPr>
          <p:cNvPr id="11" name="Text 9"/>
          <p:cNvSpPr/>
          <p:nvPr/>
        </p:nvSpPr>
        <p:spPr>
          <a:xfrm>
            <a:off x="786384" y="2534858"/>
            <a:ext cx="5227168" cy="1068252"/>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One cheap call classifying the question level, then dispatch. Most questions are not counts, and a filter-and-list pass on all twenty wastes your time budget.</a:t>
            </a:r>
            <a:endParaRPr lang="en-US" sz="1400" dirty="0"/>
          </a:p>
        </p:txBody>
      </p:sp>
      <p:sp>
        <p:nvSpPr>
          <p:cNvPr id="12" name="Shape 10"/>
          <p:cNvSpPr/>
          <p:nvPr/>
        </p:nvSpPr>
        <p:spPr>
          <a:xfrm>
            <a:off x="6178144" y="1823010"/>
            <a:ext cx="5227168" cy="20788"/>
          </a:xfrm>
          <a:prstGeom prst="rect">
            <a:avLst/>
          </a:prstGeom>
          <a:solidFill>
            <a:srgbClr val="141414"/>
          </a:solidFill>
          <a:ln/>
        </p:spPr>
      </p:sp>
      <p:sp>
        <p:nvSpPr>
          <p:cNvPr id="13" name="Text 11"/>
          <p:cNvSpPr/>
          <p:nvPr/>
        </p:nvSpPr>
        <p:spPr>
          <a:xfrm>
            <a:off x="6178144" y="2007789"/>
            <a:ext cx="5227168" cy="434679"/>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Make it list evidence first</a:t>
            </a:r>
            <a:endParaRPr lang="en-US" sz="1950" dirty="0"/>
          </a:p>
        </p:txBody>
      </p:sp>
      <p:sp>
        <p:nvSpPr>
          <p:cNvPr id="14" name="Text 12"/>
          <p:cNvSpPr/>
          <p:nvPr/>
        </p:nvSpPr>
        <p:spPr>
          <a:xfrm>
            <a:off x="6178144" y="2534858"/>
            <a:ext cx="5227168" cy="1068252"/>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Instruct the model to write out the items it found before stating the answer. Counting accuracy improves, and when it is wrong you can see why.</a:t>
            </a:r>
            <a:endParaRPr lang="en-US" sz="1400" dirty="0"/>
          </a:p>
        </p:txBody>
      </p:sp>
      <p:sp>
        <p:nvSpPr>
          <p:cNvPr id="15" name="Shape 13"/>
          <p:cNvSpPr/>
          <p:nvPr/>
        </p:nvSpPr>
        <p:spPr>
          <a:xfrm>
            <a:off x="786384" y="4017258"/>
            <a:ext cx="5227168" cy="20788"/>
          </a:xfrm>
          <a:prstGeom prst="rect">
            <a:avLst/>
          </a:prstGeom>
          <a:solidFill>
            <a:srgbClr val="141414"/>
          </a:solidFill>
          <a:ln/>
        </p:spPr>
      </p:sp>
      <p:sp>
        <p:nvSpPr>
          <p:cNvPr id="16" name="Text 14"/>
          <p:cNvSpPr/>
          <p:nvPr/>
        </p:nvSpPr>
        <p:spPr>
          <a:xfrm>
            <a:off x="786384" y="4202037"/>
            <a:ext cx="5227168" cy="434679"/>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Deduplicate before you count</a:t>
            </a:r>
            <a:endParaRPr lang="en-US" sz="1950" dirty="0"/>
          </a:p>
        </p:txBody>
      </p:sp>
      <p:sp>
        <p:nvSpPr>
          <p:cNvPr id="17" name="Text 15"/>
          <p:cNvSpPr/>
          <p:nvPr/>
        </p:nvSpPr>
        <p:spPr>
          <a:xfrm>
            <a:off x="786384" y="4729106"/>
            <a:ext cx="5227168" cy="1068252"/>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The same poster often appears on a listing page and its own page. Key on the image URL, or 31 becomes 40.</a:t>
            </a:r>
            <a:endParaRPr lang="en-US" sz="1400" dirty="0"/>
          </a:p>
        </p:txBody>
      </p:sp>
      <p:sp>
        <p:nvSpPr>
          <p:cNvPr id="18" name="Shape 16"/>
          <p:cNvSpPr/>
          <p:nvPr/>
        </p:nvSpPr>
        <p:spPr>
          <a:xfrm>
            <a:off x="6178144" y="4017258"/>
            <a:ext cx="5227168" cy="2218950"/>
          </a:xfrm>
          <a:prstGeom prst="rect">
            <a:avLst/>
          </a:prstGeom>
          <a:solidFill>
            <a:srgbClr val="F7E6E0"/>
          </a:solidFill>
          <a:ln/>
        </p:spPr>
      </p:sp>
      <p:sp>
        <p:nvSpPr>
          <p:cNvPr id="19" name="Shape 17"/>
          <p:cNvSpPr/>
          <p:nvPr/>
        </p:nvSpPr>
        <p:spPr>
          <a:xfrm>
            <a:off x="6415888" y="4294427"/>
            <a:ext cx="4751680" cy="27717"/>
          </a:xfrm>
          <a:prstGeom prst="rect">
            <a:avLst/>
          </a:prstGeom>
          <a:solidFill>
            <a:srgbClr val="C0402A"/>
          </a:solidFill>
          <a:ln/>
        </p:spPr>
      </p:sp>
      <p:sp>
        <p:nvSpPr>
          <p:cNvPr id="20" name="Text 18"/>
          <p:cNvSpPr/>
          <p:nvPr/>
        </p:nvSpPr>
        <p:spPr>
          <a:xfrm>
            <a:off x="6415888" y="4479205"/>
            <a:ext cx="4751680" cy="434679"/>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Watch the clock, not the score</a:t>
            </a:r>
            <a:endParaRPr lang="en-US" sz="1950" dirty="0"/>
          </a:p>
        </p:txBody>
      </p:sp>
      <p:sp>
        <p:nvSpPr>
          <p:cNvPr id="21" name="Text 19"/>
          <p:cNvSpPr/>
          <p:nvPr/>
        </p:nvSpPr>
        <p:spPr>
          <a:xfrm>
            <a:off x="6415888" y="5006274"/>
            <a:ext cx="4751680" cy="1068252"/>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Listing every item costs tokens and seconds, and splitting a count doubles it. Thirty seconds is a hard limit; a timed-out question scores zero.</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212"/>
        </a:solidFill>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algn="r" indent="0" marL="0">
              <a:buNone/>
            </a:pPr>
            <a:r>
              <a:rPr lang="en-US" sz="9600" b="1" dirty="0">
                <a:solidFill>
                  <a:srgbClr val="3D3934"/>
                </a:solidFill>
                <a:latin typeface="Arial" pitchFamily="34" charset="0"/>
                <a:ea typeface="Arial" pitchFamily="34" charset="-122"/>
                <a:cs typeface="Arial" pitchFamily="34" charset="-120"/>
              </a:rPr>
              <a:t>5</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indent="0" marL="0">
              <a:buNone/>
            </a:pPr>
            <a:r>
              <a:rPr lang="en-US" sz="1200" b="1" spc="260" kern="0" dirty="0">
                <a:solidFill>
                  <a:srgbClr val="C0402A"/>
                </a:solidFill>
                <a:latin typeface="Arial" pitchFamily="34" charset="0"/>
                <a:ea typeface="Arial" pitchFamily="34" charset="-122"/>
                <a:cs typeface="Arial" pitchFamily="34" charset="-120"/>
              </a:rPr>
              <a:t>BLOCK 5</a:t>
            </a:r>
            <a:endParaRPr lang="en-US" sz="1200" dirty="0"/>
          </a:p>
        </p:txBody>
      </p:sp>
      <p:sp>
        <p:nvSpPr>
          <p:cNvPr id="4" name="Shape 2"/>
          <p:cNvSpPr/>
          <p:nvPr/>
        </p:nvSpPr>
        <p:spPr>
          <a:xfrm>
            <a:off x="786384" y="2377440"/>
            <a:ext cx="1371600" cy="20117"/>
          </a:xfrm>
          <a:prstGeom prst="rect">
            <a:avLst/>
          </a:prstGeom>
          <a:solidFill>
            <a:srgbClr val="C0402A"/>
          </a:solidFill>
          <a:ln/>
        </p:spPr>
      </p:sp>
      <p:sp>
        <p:nvSpPr>
          <p:cNvPr id="5" name="Text 3"/>
          <p:cNvSpPr/>
          <p:nvPr/>
        </p:nvSpPr>
        <p:spPr>
          <a:xfrm>
            <a:off x="786384" y="2596896"/>
            <a:ext cx="7024421" cy="1188720"/>
          </a:xfrm>
          <a:prstGeom prst="rect">
            <a:avLst/>
          </a:prstGeom>
          <a:noFill/>
          <a:ln/>
        </p:spPr>
        <p:txBody>
          <a:bodyPr wrap="square" lIns="0" tIns="0" rIns="0" bIns="0" rtlCol="0" anchor="ctr"/>
          <a:lstStyle/>
          <a:p>
            <a:pPr indent="0" marL="0">
              <a:lnSpc>
                <a:spcPts val="4000"/>
              </a:lnSpc>
              <a:buNone/>
            </a:pPr>
            <a:r>
              <a:rPr lang="en-US" sz="3600" b="1" dirty="0">
                <a:solidFill>
                  <a:srgbClr val="FAF8F5"/>
                </a:solidFill>
                <a:latin typeface="Arial" pitchFamily="34" charset="0"/>
                <a:ea typeface="Arial" pitchFamily="34" charset="-122"/>
                <a:cs typeface="Arial" pitchFamily="34" charset="-120"/>
              </a:rPr>
              <a:t>Deadlines &amp; Collection</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indent="0" marL="0">
              <a:lnSpc>
                <a:spcPts val="2300"/>
              </a:lnSpc>
              <a:buNone/>
            </a:pPr>
            <a:r>
              <a:rPr lang="en-US" sz="1750" dirty="0">
                <a:solidFill>
                  <a:srgbClr val="A8A39B"/>
                </a:solidFill>
                <a:latin typeface="Arial" pitchFamily="34" charset="0"/>
                <a:ea typeface="Arial" pitchFamily="34" charset="-122"/>
                <a:cs typeface="Arial" pitchFamily="34" charset="-120"/>
              </a:rPr>
              <a:t>Zone assignments and the written kit. The method is yours to work out.</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algn="r" indent="0" marL="0">
              <a:buNone/>
            </a:pPr>
            <a:r>
              <a:rPr lang="en-US" sz="1450" b="1" spc="180" kern="0" dirty="0">
                <a:solidFill>
                  <a:srgbClr val="C0402A"/>
                </a:solidFill>
                <a:latin typeface="Arial" pitchFamily="34" charset="0"/>
                <a:ea typeface="Arial" pitchFamily="34" charset="-122"/>
                <a:cs typeface="Arial" pitchFamily="34" charset="-120"/>
              </a:rPr>
              <a:t>5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sp>
      <p:sp>
        <p:nvSpPr>
          <p:cNvPr id="9" name="Text 7"/>
          <p:cNvSpPr/>
          <p:nvPr/>
        </p:nvSpPr>
        <p:spPr>
          <a:xfrm>
            <a:off x="786384" y="5358384"/>
            <a:ext cx="585216" cy="292608"/>
          </a:xfrm>
          <a:prstGeom prst="rect">
            <a:avLst/>
          </a:prstGeom>
          <a:noFill/>
          <a:ln/>
        </p:spPr>
        <p:txBody>
          <a:bodyPr wrap="square" lIns="0" tIns="0" rIns="0" bIns="0" rtlCol="0" anchor="ctr"/>
          <a:lstStyle/>
          <a:p>
            <a:pPr algn="ctr" indent="0" marL="0">
              <a:buNone/>
            </a:pPr>
            <a:r>
              <a:rPr lang="en-US" sz="1100" b="1" spc="60" kern="0" dirty="0">
                <a:solidFill>
                  <a:srgbClr val="B5B0A8"/>
                </a:solidFill>
                <a:latin typeface="Arial" pitchFamily="34" charset="0"/>
                <a:ea typeface="Arial" pitchFamily="34" charset="-122"/>
                <a:cs typeface="Arial" pitchFamily="34" charset="-120"/>
              </a:rPr>
              <a:t>LV5</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56534E"/>
                </a:solidFill>
                <a:latin typeface="Arial" pitchFamily="34" charset="0"/>
                <a:ea typeface="Arial" pitchFamily="34" charset="-122"/>
                <a:cs typeface="Arial" pitchFamily="34" charset="-120"/>
              </a:rPr>
              <a:t>28</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Level 5: Physical Data</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141414"/>
                </a:solidFill>
                <a:latin typeface="Arial" pitchFamily="34" charset="0"/>
                <a:ea typeface="Arial" pitchFamily="34" charset="-122"/>
                <a:cs typeface="Arial" pitchFamily="34" charset="-120"/>
              </a:rPr>
              <a:t>LV5</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29</a:t>
            </a:r>
            <a:endParaRPr lang="en-US" sz="1200" dirty="0"/>
          </a:p>
        </p:txBody>
      </p:sp>
      <p:sp>
        <p:nvSpPr>
          <p:cNvPr id="8" name="Text 6"/>
          <p:cNvSpPr/>
          <p:nvPr/>
        </p:nvSpPr>
        <p:spPr>
          <a:xfrm>
            <a:off x="786384" y="1827703"/>
            <a:ext cx="9769413" cy="1086307"/>
          </a:xfrm>
          <a:prstGeom prst="rect">
            <a:avLst/>
          </a:prstGeom>
          <a:noFill/>
          <a:ln/>
        </p:spPr>
        <p:txBody>
          <a:bodyPr wrap="square" lIns="0" tIns="0" rIns="0" bIns="0" rtlCol="0" anchor="ctr"/>
          <a:lstStyle/>
          <a:p>
            <a:pPr indent="0" marL="0">
              <a:lnSpc>
                <a:spcPts val="2500"/>
              </a:lnSpc>
              <a:buNone/>
            </a:pPr>
            <a:r>
              <a:rPr lang="en-US" sz="1700" dirty="0">
                <a:solidFill>
                  <a:srgbClr val="141414"/>
                </a:solidFill>
                <a:latin typeface="Arial" pitchFamily="34" charset="0"/>
                <a:ea typeface="Arial" pitchFamily="34" charset="-122"/>
                <a:cs typeface="Arial" pitchFamily="34" charset="-120"/>
              </a:rPr>
              <a:t>This data is not on any website and cannot be scraped. Every team starts from nothing, and it is around 40% of the final round.</a:t>
            </a:r>
            <a:endParaRPr lang="en-US" sz="1700" dirty="0"/>
          </a:p>
        </p:txBody>
      </p:sp>
      <p:sp>
        <p:nvSpPr>
          <p:cNvPr id="9" name="Shape 7"/>
          <p:cNvSpPr/>
          <p:nvPr/>
        </p:nvSpPr>
        <p:spPr>
          <a:xfrm>
            <a:off x="786384" y="3107131"/>
            <a:ext cx="5163160" cy="21726"/>
          </a:xfrm>
          <a:prstGeom prst="rect">
            <a:avLst/>
          </a:prstGeom>
          <a:solidFill>
            <a:srgbClr val="141414"/>
          </a:solidFill>
          <a:ln/>
        </p:spPr>
      </p:sp>
      <p:sp>
        <p:nvSpPr>
          <p:cNvPr id="10" name="Text 8"/>
          <p:cNvSpPr/>
          <p:nvPr/>
        </p:nvSpPr>
        <p:spPr>
          <a:xfrm>
            <a:off x="786384" y="3300252"/>
            <a:ext cx="5163160"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In scope</a:t>
            </a:r>
            <a:endParaRPr lang="en-US" sz="1950" dirty="0"/>
          </a:p>
        </p:txBody>
      </p:sp>
      <p:sp>
        <p:nvSpPr>
          <p:cNvPr id="11" name="Text 9"/>
          <p:cNvSpPr/>
          <p:nvPr/>
        </p:nvSpPr>
        <p:spPr>
          <a:xfrm>
            <a:off x="786384" y="3851118"/>
            <a:ext cx="5163160" cy="1502054"/>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The gallery outside the office, posters, venues excluding the machine workshop and event hall, and equipment.</a:t>
            </a:r>
            <a:endParaRPr lang="en-US" sz="1450" dirty="0"/>
          </a:p>
          <a:p>
            <a:pPr indent="0" marL="0">
              <a:lnSpc>
                <a:spcPts val="2150"/>
              </a:lnSpc>
              <a:buNone/>
            </a:pP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Your assigned zones are in the kit.</a:t>
            </a:r>
            <a:endParaRPr lang="en-US" sz="1450" dirty="0"/>
          </a:p>
        </p:txBody>
      </p:sp>
      <p:sp>
        <p:nvSpPr>
          <p:cNvPr id="12" name="Shape 10"/>
          <p:cNvSpPr/>
          <p:nvPr/>
        </p:nvSpPr>
        <p:spPr>
          <a:xfrm>
            <a:off x="6242152" y="3107131"/>
            <a:ext cx="5163160" cy="28968"/>
          </a:xfrm>
          <a:prstGeom prst="rect">
            <a:avLst/>
          </a:prstGeom>
          <a:solidFill>
            <a:srgbClr val="C0402A"/>
          </a:solidFill>
          <a:ln/>
        </p:spPr>
      </p:sp>
      <p:sp>
        <p:nvSpPr>
          <p:cNvPr id="13" name="Text 11"/>
          <p:cNvSpPr/>
          <p:nvPr/>
        </p:nvSpPr>
        <p:spPr>
          <a:xfrm>
            <a:off x="6242152" y="3300252"/>
            <a:ext cx="5163160"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Same pipeline as Level 3</a:t>
            </a:r>
            <a:endParaRPr lang="en-US" sz="1950" dirty="0"/>
          </a:p>
        </p:txBody>
      </p:sp>
      <p:sp>
        <p:nvSpPr>
          <p:cNvPr id="14" name="Text 12"/>
          <p:cNvSpPr/>
          <p:nvPr/>
        </p:nvSpPr>
        <p:spPr>
          <a:xfrm>
            <a:off x="6242152" y="3851118"/>
            <a:ext cx="5163160" cy="1141628"/>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Your photographs go through the same description prompt you wrote in block 3 and into the same index. Nothing new is required in the code.</a:t>
            </a:r>
            <a:endParaRPr lang="en-US" sz="1450" dirty="0"/>
          </a:p>
        </p:txBody>
      </p:sp>
      <p:sp>
        <p:nvSpPr>
          <p:cNvPr id="15" name="Text 13"/>
          <p:cNvSpPr/>
          <p:nvPr/>
        </p:nvSpPr>
        <p:spPr>
          <a:xfrm>
            <a:off x="786384" y="5328026"/>
            <a:ext cx="9769413" cy="844906"/>
          </a:xfrm>
          <a:prstGeom prst="rect">
            <a:avLst/>
          </a:prstGeom>
          <a:noFill/>
          <a:ln/>
        </p:spPr>
        <p:txBody>
          <a:bodyPr wrap="square" lIns="0" tIns="0" rIns="0" bIns="0" rtlCol="0" anchor="ctr"/>
          <a:lstStyle/>
          <a:p>
            <a:pPr indent="0" marL="0">
              <a:lnSpc>
                <a:spcPts val="2300"/>
              </a:lnSpc>
              <a:buNone/>
            </a:pPr>
            <a:r>
              <a:rPr lang="en-US" sz="1550" dirty="0">
                <a:solidFill>
                  <a:srgbClr val="141414"/>
                </a:solidFill>
                <a:latin typeface="Arial" pitchFamily="34" charset="0"/>
                <a:ea typeface="Arial" pitchFamily="34" charset="-122"/>
                <a:cs typeface="Arial" pitchFamily="34" charset="-120"/>
              </a:rPr>
              <a:t>Teams do not share collected data. The collection log records only which zones you have covered, so that two teams do not walk the same route.</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0EA"/>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sp>
      <p:sp>
        <p:nvSpPr>
          <p:cNvPr id="4" name="Text 2"/>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Planning Your Collection</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sp>
      <p:sp>
        <p:nvSpPr>
          <p:cNvPr id="6" name="Text 4"/>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141414"/>
                </a:solidFill>
                <a:latin typeface="Arial" pitchFamily="34" charset="0"/>
                <a:ea typeface="Arial" pitchFamily="34" charset="-122"/>
                <a:cs typeface="Arial" pitchFamily="34" charset="-120"/>
              </a:rPr>
              <a:t>LV5</a:t>
            </a:r>
            <a:endParaRPr lang="en-US" sz="1100" dirty="0"/>
          </a:p>
        </p:txBody>
      </p:sp>
      <p:sp>
        <p:nvSpPr>
          <p:cNvPr id="7" name="Shape 5"/>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30</a:t>
            </a:r>
            <a:endParaRPr lang="en-US" sz="1200" dirty="0"/>
          </a:p>
        </p:txBody>
      </p:sp>
      <p:sp>
        <p:nvSpPr>
          <p:cNvPr id="9" name="Shape 7"/>
          <p:cNvSpPr/>
          <p:nvPr/>
        </p:nvSpPr>
        <p:spPr>
          <a:xfrm>
            <a:off x="786384" y="1900123"/>
            <a:ext cx="10618927" cy="1810512"/>
          </a:xfrm>
          <a:prstGeom prst="roundRect">
            <a:avLst>
              <a:gd name="adj" fmla="val 2525"/>
            </a:avLst>
          </a:prstGeom>
          <a:solidFill>
            <a:srgbClr val="EEEBF5"/>
          </a:solidFill>
          <a:ln/>
        </p:spPr>
      </p:sp>
      <p:sp>
        <p:nvSpPr>
          <p:cNvPr id="10" name="Text 8"/>
          <p:cNvSpPr/>
          <p:nvPr/>
        </p:nvSpPr>
        <p:spPr>
          <a:xfrm>
            <a:off x="1060704" y="2165665"/>
            <a:ext cx="10070287" cy="1327709"/>
          </a:xfrm>
          <a:prstGeom prst="rect">
            <a:avLst/>
          </a:prstGeom>
          <a:noFill/>
          <a:ln/>
        </p:spPr>
        <p:txBody>
          <a:bodyPr wrap="square" lIns="0" tIns="0" rIns="0" bIns="0" rtlCol="0" anchor="ctr"/>
          <a:lstStyle/>
          <a:p>
            <a:pPr indent="0" marL="0">
              <a:lnSpc>
                <a:spcPts val="2800"/>
              </a:lnSpc>
              <a:buNone/>
            </a:pPr>
            <a:r>
              <a:rPr lang="en-US" sz="2000" b="1" dirty="0">
                <a:solidFill>
                  <a:srgbClr val="3A2F5C"/>
                </a:solidFill>
                <a:latin typeface="Arial" pitchFamily="34" charset="0"/>
                <a:ea typeface="Arial" pitchFamily="34" charset="-122"/>
                <a:cs typeface="Arial" pitchFamily="34" charset="-120"/>
              </a:rPr>
              <a:t>You cannot photograph everything. What would you need to have captured, and captured well enough to transcribe, for a question you have not seen yet to be answerable?</a:t>
            </a:r>
            <a:endParaRPr lang="en-US" sz="2000" dirty="0"/>
          </a:p>
        </p:txBody>
      </p:sp>
      <p:sp>
        <p:nvSpPr>
          <p:cNvPr id="11" name="Text 9"/>
          <p:cNvSpPr/>
          <p:nvPr/>
        </p:nvSpPr>
        <p:spPr>
          <a:xfrm>
            <a:off x="786384" y="3952037"/>
            <a:ext cx="9557034" cy="844906"/>
          </a:xfrm>
          <a:prstGeom prst="rect">
            <a:avLst/>
          </a:prstGeom>
          <a:noFill/>
          <a:ln/>
        </p:spPr>
        <p:txBody>
          <a:bodyPr wrap="square" lIns="0" tIns="0" rIns="0" bIns="0" rtlCol="0" anchor="ctr"/>
          <a:lstStyle/>
          <a:p>
            <a:pPr indent="0" marL="0">
              <a:lnSpc>
                <a:spcPts val="2400"/>
              </a:lnSpc>
              <a:buNone/>
            </a:pPr>
            <a:r>
              <a:rPr lang="en-US" sz="1600" dirty="0">
                <a:solidFill>
                  <a:srgbClr val="141414"/>
                </a:solidFill>
                <a:latin typeface="Arial" pitchFamily="34" charset="0"/>
                <a:ea typeface="Arial" pitchFamily="34" charset="-122"/>
                <a:cs typeface="Arial" pitchFamily="34" charset="-120"/>
              </a:rPr>
              <a:t>Decide your answer to this before the first visit. Details of the zone assignments and the file naming convention are in the written collection kit.</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Key Dates</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31</a:t>
            </a:r>
            <a:endParaRPr lang="en-US" sz="1200" dirty="0"/>
          </a:p>
        </p:txBody>
      </p:sp>
      <p:sp>
        <p:nvSpPr>
          <p:cNvPr id="5" name="Text 3"/>
          <p:cNvSpPr/>
          <p:nvPr/>
        </p:nvSpPr>
        <p:spPr>
          <a:xfrm>
            <a:off x="786384" y="1628983"/>
            <a:ext cx="1188720" cy="423383"/>
          </a:xfrm>
          <a:prstGeom prst="rect">
            <a:avLst/>
          </a:prstGeom>
          <a:noFill/>
          <a:ln/>
        </p:spPr>
        <p:txBody>
          <a:bodyPr wrap="square" lIns="0" tIns="0" rIns="0" bIns="0" rtlCol="0" anchor="ctr"/>
          <a:lstStyle/>
          <a:p>
            <a:pPr indent="0" marL="0">
              <a:buNone/>
            </a:pPr>
            <a:r>
              <a:rPr lang="en-US" sz="1700" b="1" dirty="0">
                <a:solidFill>
                  <a:srgbClr val="C0402A"/>
                </a:solidFill>
                <a:latin typeface="Arial" pitchFamily="34" charset="0"/>
                <a:ea typeface="Arial" pitchFamily="34" charset="-122"/>
                <a:cs typeface="Arial" pitchFamily="34" charset="-120"/>
              </a:rPr>
              <a:t>7 Oct</a:t>
            </a:r>
            <a:endParaRPr lang="en-US" sz="1700" dirty="0"/>
          </a:p>
        </p:txBody>
      </p:sp>
      <p:sp>
        <p:nvSpPr>
          <p:cNvPr id="6" name="Text 4"/>
          <p:cNvSpPr/>
          <p:nvPr/>
        </p:nvSpPr>
        <p:spPr>
          <a:xfrm>
            <a:off x="2157984" y="1628983"/>
            <a:ext cx="9247327" cy="423383"/>
          </a:xfrm>
          <a:prstGeom prst="rect">
            <a:avLst/>
          </a:prstGeom>
          <a:noFill/>
          <a:ln/>
        </p:spPr>
        <p:txBody>
          <a:bodyPr wrap="square" lIns="0" tIns="0" rIns="0" bIns="0" rtlCol="0" anchor="ctr"/>
          <a:lstStyle/>
          <a:p>
            <a:pPr indent="0" marL="0">
              <a:buNone/>
            </a:pPr>
            <a:r>
              <a:rPr lang="en-US" sz="1600" dirty="0">
                <a:solidFill>
                  <a:srgbClr val="141414"/>
                </a:solidFill>
                <a:latin typeface="Arial" pitchFamily="34" charset="0"/>
                <a:ea typeface="Arial" pitchFamily="34" charset="-122"/>
                <a:cs typeface="Arial" pitchFamily="34" charset="-120"/>
              </a:rPr>
              <a:t>Collection log entry for your assigned zones</a:t>
            </a:r>
            <a:endParaRPr lang="en-US" sz="1600" dirty="0"/>
          </a:p>
        </p:txBody>
      </p:sp>
      <p:sp>
        <p:nvSpPr>
          <p:cNvPr id="7" name="Text 5"/>
          <p:cNvSpPr/>
          <p:nvPr/>
        </p:nvSpPr>
        <p:spPr>
          <a:xfrm>
            <a:off x="786384" y="2358142"/>
            <a:ext cx="1188720" cy="423383"/>
          </a:xfrm>
          <a:prstGeom prst="rect">
            <a:avLst/>
          </a:prstGeom>
          <a:noFill/>
          <a:ln/>
        </p:spPr>
        <p:txBody>
          <a:bodyPr wrap="square" lIns="0" tIns="0" rIns="0" bIns="0" rtlCol="0" anchor="ctr"/>
          <a:lstStyle/>
          <a:p>
            <a:pPr indent="0" marL="0">
              <a:buNone/>
            </a:pPr>
            <a:r>
              <a:rPr lang="en-US" sz="1700" b="1" dirty="0">
                <a:solidFill>
                  <a:srgbClr val="C0402A"/>
                </a:solidFill>
                <a:latin typeface="Arial" pitchFamily="34" charset="0"/>
                <a:ea typeface="Arial" pitchFamily="34" charset="-122"/>
                <a:cs typeface="Arial" pitchFamily="34" charset="-120"/>
              </a:rPr>
              <a:t>14 Oct</a:t>
            </a:r>
            <a:endParaRPr lang="en-US" sz="1700" dirty="0"/>
          </a:p>
        </p:txBody>
      </p:sp>
      <p:sp>
        <p:nvSpPr>
          <p:cNvPr id="8" name="Text 6"/>
          <p:cNvSpPr/>
          <p:nvPr/>
        </p:nvSpPr>
        <p:spPr>
          <a:xfrm>
            <a:off x="2157984" y="2358142"/>
            <a:ext cx="9247327" cy="423383"/>
          </a:xfrm>
          <a:prstGeom prst="rect">
            <a:avLst/>
          </a:prstGeom>
          <a:noFill/>
          <a:ln/>
        </p:spPr>
        <p:txBody>
          <a:bodyPr wrap="square" lIns="0" tIns="0" rIns="0" bIns="0" rtlCol="0" anchor="ctr"/>
          <a:lstStyle/>
          <a:p>
            <a:pPr indent="0" marL="0">
              <a:buNone/>
            </a:pPr>
            <a:r>
              <a:rPr lang="en-US" sz="1600" dirty="0">
                <a:solidFill>
                  <a:srgbClr val="141414"/>
                </a:solidFill>
                <a:latin typeface="Arial" pitchFamily="34" charset="0"/>
                <a:ea typeface="Arial" pitchFamily="34" charset="-122"/>
                <a:cs typeface="Arial" pitchFamily="34" charset="-120"/>
              </a:rPr>
              <a:t>Image descriptions indexed, scoring above zero on Lv3</a:t>
            </a:r>
            <a:endParaRPr lang="en-US" sz="1600" dirty="0"/>
          </a:p>
        </p:txBody>
      </p:sp>
      <p:sp>
        <p:nvSpPr>
          <p:cNvPr id="9" name="Text 7"/>
          <p:cNvSpPr/>
          <p:nvPr/>
        </p:nvSpPr>
        <p:spPr>
          <a:xfrm>
            <a:off x="786384" y="3087300"/>
            <a:ext cx="1188720" cy="423383"/>
          </a:xfrm>
          <a:prstGeom prst="rect">
            <a:avLst/>
          </a:prstGeom>
          <a:noFill/>
          <a:ln/>
        </p:spPr>
        <p:txBody>
          <a:bodyPr wrap="square" lIns="0" tIns="0" rIns="0" bIns="0" rtlCol="0" anchor="ctr"/>
          <a:lstStyle/>
          <a:p>
            <a:pPr indent="0" marL="0">
              <a:buNone/>
            </a:pPr>
            <a:r>
              <a:rPr lang="en-US" sz="1700" b="1" dirty="0">
                <a:solidFill>
                  <a:srgbClr val="C0402A"/>
                </a:solidFill>
                <a:latin typeface="Arial" pitchFamily="34" charset="0"/>
                <a:ea typeface="Arial" pitchFamily="34" charset="-122"/>
                <a:cs typeface="Arial" pitchFamily="34" charset="-120"/>
              </a:rPr>
              <a:t>21 Oct</a:t>
            </a:r>
            <a:endParaRPr lang="en-US" sz="1700" dirty="0"/>
          </a:p>
        </p:txBody>
      </p:sp>
      <p:sp>
        <p:nvSpPr>
          <p:cNvPr id="10" name="Text 8"/>
          <p:cNvSpPr/>
          <p:nvPr/>
        </p:nvSpPr>
        <p:spPr>
          <a:xfrm>
            <a:off x="2157984" y="3087300"/>
            <a:ext cx="9247327" cy="423383"/>
          </a:xfrm>
          <a:prstGeom prst="rect">
            <a:avLst/>
          </a:prstGeom>
          <a:noFill/>
          <a:ln/>
        </p:spPr>
        <p:txBody>
          <a:bodyPr wrap="square" lIns="0" tIns="0" rIns="0" bIns="0" rtlCol="0" anchor="ctr"/>
          <a:lstStyle/>
          <a:p>
            <a:pPr indent="0" marL="0">
              <a:buNone/>
            </a:pPr>
            <a:r>
              <a:rPr lang="en-US" sz="1600" dirty="0">
                <a:solidFill>
                  <a:srgbClr val="141414"/>
                </a:solidFill>
                <a:latin typeface="Arial" pitchFamily="34" charset="0"/>
                <a:ea typeface="Arial" pitchFamily="34" charset="-122"/>
                <a:cs typeface="Arial" pitchFamily="34" charset="-120"/>
              </a:rPr>
              <a:t>Preliminary submission: code and vector database</a:t>
            </a:r>
            <a:endParaRPr lang="en-US" sz="1600" dirty="0"/>
          </a:p>
        </p:txBody>
      </p:sp>
      <p:sp>
        <p:nvSpPr>
          <p:cNvPr id="11" name="Text 9"/>
          <p:cNvSpPr/>
          <p:nvPr/>
        </p:nvSpPr>
        <p:spPr>
          <a:xfrm>
            <a:off x="786384" y="3816459"/>
            <a:ext cx="1188720" cy="423383"/>
          </a:xfrm>
          <a:prstGeom prst="rect">
            <a:avLst/>
          </a:prstGeom>
          <a:noFill/>
          <a:ln/>
        </p:spPr>
        <p:txBody>
          <a:bodyPr wrap="square" lIns="0" tIns="0" rIns="0" bIns="0" rtlCol="0" anchor="ctr"/>
          <a:lstStyle/>
          <a:p>
            <a:pPr indent="0" marL="0">
              <a:buNone/>
            </a:pPr>
            <a:r>
              <a:rPr lang="en-US" sz="1700" b="1" dirty="0">
                <a:solidFill>
                  <a:srgbClr val="C0402A"/>
                </a:solidFill>
                <a:latin typeface="Arial" pitchFamily="34" charset="0"/>
                <a:ea typeface="Arial" pitchFamily="34" charset="-122"/>
                <a:cs typeface="Arial" pitchFamily="34" charset="-120"/>
              </a:rPr>
              <a:t>28 Oct</a:t>
            </a:r>
            <a:endParaRPr lang="en-US" sz="1700" dirty="0"/>
          </a:p>
        </p:txBody>
      </p:sp>
      <p:sp>
        <p:nvSpPr>
          <p:cNvPr id="12" name="Text 10"/>
          <p:cNvSpPr/>
          <p:nvPr/>
        </p:nvSpPr>
        <p:spPr>
          <a:xfrm>
            <a:off x="2157984" y="3816459"/>
            <a:ext cx="9247327" cy="423383"/>
          </a:xfrm>
          <a:prstGeom prst="rect">
            <a:avLst/>
          </a:prstGeom>
          <a:noFill/>
          <a:ln/>
        </p:spPr>
        <p:txBody>
          <a:bodyPr wrap="square" lIns="0" tIns="0" rIns="0" bIns="0" rtlCol="0" anchor="ctr"/>
          <a:lstStyle/>
          <a:p>
            <a:pPr indent="0" marL="0">
              <a:buNone/>
            </a:pPr>
            <a:r>
              <a:rPr lang="en-US" sz="1600" dirty="0">
                <a:solidFill>
                  <a:srgbClr val="141414"/>
                </a:solidFill>
                <a:latin typeface="Arial" pitchFamily="34" charset="0"/>
                <a:ea typeface="Arial" pitchFamily="34" charset="-122"/>
                <a:cs typeface="Arial" pitchFamily="34" charset="-120"/>
              </a:rPr>
              <a:t>Final, live in Inno Wing</a:t>
            </a:r>
            <a:endParaRPr lang="en-US" sz="1600" dirty="0"/>
          </a:p>
        </p:txBody>
      </p:sp>
      <p:sp>
        <p:nvSpPr>
          <p:cNvPr id="13" name="Shape 11"/>
          <p:cNvSpPr/>
          <p:nvPr/>
        </p:nvSpPr>
        <p:spPr>
          <a:xfrm>
            <a:off x="786384" y="4733788"/>
            <a:ext cx="10618927" cy="21169"/>
          </a:xfrm>
          <a:prstGeom prst="rect">
            <a:avLst/>
          </a:prstGeom>
          <a:solidFill>
            <a:srgbClr val="141414"/>
          </a:solidFill>
          <a:ln/>
        </p:spPr>
      </p:sp>
      <p:sp>
        <p:nvSpPr>
          <p:cNvPr id="14" name="Text 12"/>
          <p:cNvSpPr/>
          <p:nvPr/>
        </p:nvSpPr>
        <p:spPr>
          <a:xfrm>
            <a:off x="786384" y="4921958"/>
            <a:ext cx="10618927" cy="442657"/>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Plan a second visit</a:t>
            </a:r>
            <a:endParaRPr lang="en-US" sz="1950" dirty="0"/>
          </a:p>
        </p:txBody>
      </p:sp>
      <p:sp>
        <p:nvSpPr>
          <p:cNvPr id="15" name="Text 13"/>
          <p:cNvSpPr/>
          <p:nvPr/>
        </p:nvSpPr>
        <p:spPr>
          <a:xfrm>
            <a:off x="786384" y="5458700"/>
            <a:ext cx="10618927" cy="777508"/>
          </a:xfrm>
          <a:prstGeom prst="rect">
            <a:avLst/>
          </a:prstGeom>
          <a:noFill/>
          <a:ln/>
        </p:spPr>
        <p:txBody>
          <a:bodyPr wrap="square" lIns="0" tIns="0" rIns="0" bIns="0" rtlCol="0" anchor="t"/>
          <a:lstStyle/>
          <a:p>
            <a:pPr indent="0" marL="0">
              <a:lnSpc>
                <a:spcPts val="2200"/>
              </a:lnSpc>
              <a:buNone/>
            </a:pPr>
            <a:r>
              <a:rPr lang="en-US" sz="1500" dirty="0">
                <a:solidFill>
                  <a:srgbClr val="141414"/>
                </a:solidFill>
                <a:latin typeface="Arial" pitchFamily="34" charset="0"/>
                <a:ea typeface="Arial" pitchFamily="34" charset="-122"/>
                <a:cs typeface="Arial" pitchFamily="34" charset="-120"/>
              </a:rPr>
              <a:t>After indexing your first batch, write your own Lv5 questions and run them. Note which ones fail, then go back for exactly those. The building is open and the data does not change.</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The Complete Pipeline</a:t>
            </a:r>
            <a:endParaRPr lang="en-US" sz="2900" dirty="0"/>
          </a:p>
        </p:txBody>
      </p:sp>
      <p:sp>
        <p:nvSpPr>
          <p:cNvPr id="4" name="Shape 2"/>
          <p:cNvSpPr/>
          <p:nvPr/>
        </p:nvSpPr>
        <p:spPr>
          <a:xfrm>
            <a:off x="786384" y="1426464"/>
            <a:ext cx="10618927" cy="10973"/>
          </a:xfrm>
          <a:prstGeom prst="rect">
            <a:avLst/>
          </a:prstGeom>
          <a:solidFill>
            <a:srgbClr val="D5D1CA"/>
          </a:solidFill>
          <a:ln/>
        </p:spPr>
      </p:sp>
      <p:sp>
        <p:nvSpPr>
          <p:cNvPr id="5" name="Text 3"/>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32</a:t>
            </a:r>
            <a:endParaRPr lang="en-US" sz="1200" dirty="0"/>
          </a:p>
        </p:txBody>
      </p:sp>
      <p:sp>
        <p:nvSpPr>
          <p:cNvPr id="6" name="Text 4"/>
          <p:cNvSpPr/>
          <p:nvPr/>
        </p:nvSpPr>
        <p:spPr>
          <a:xfrm>
            <a:off x="786384" y="1768711"/>
            <a:ext cx="10618927" cy="357400"/>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Built once, in advance</a:t>
            </a:r>
            <a:endParaRPr lang="en-US" sz="1700" dirty="0"/>
          </a:p>
        </p:txBody>
      </p:sp>
      <p:sp>
        <p:nvSpPr>
          <p:cNvPr id="7" name="Shape 5"/>
          <p:cNvSpPr/>
          <p:nvPr/>
        </p:nvSpPr>
        <p:spPr>
          <a:xfrm>
            <a:off x="786384" y="2205533"/>
            <a:ext cx="1904329" cy="21841"/>
          </a:xfrm>
          <a:prstGeom prst="rect">
            <a:avLst/>
          </a:prstGeom>
          <a:solidFill>
            <a:srgbClr val="141414"/>
          </a:solidFill>
          <a:ln/>
        </p:spPr>
      </p:sp>
      <p:sp>
        <p:nvSpPr>
          <p:cNvPr id="8" name="Text 6"/>
          <p:cNvSpPr/>
          <p:nvPr/>
        </p:nvSpPr>
        <p:spPr>
          <a:xfrm>
            <a:off x="786384" y="236437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Crawl</a:t>
            </a:r>
            <a:endParaRPr lang="en-US" sz="1750" dirty="0"/>
          </a:p>
        </p:txBody>
      </p:sp>
      <p:sp>
        <p:nvSpPr>
          <p:cNvPr id="9" name="Text 7"/>
          <p:cNvSpPr/>
          <p:nvPr/>
        </p:nvSpPr>
        <p:spPr>
          <a:xfrm>
            <a:off x="786384" y="288062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Both sites</a:t>
            </a:r>
            <a:endParaRPr lang="en-US" sz="1350" dirty="0"/>
          </a:p>
        </p:txBody>
      </p:sp>
      <p:sp>
        <p:nvSpPr>
          <p:cNvPr id="10" name="Text 8"/>
          <p:cNvSpPr/>
          <p:nvPr/>
        </p:nvSpPr>
        <p:spPr>
          <a:xfrm>
            <a:off x="2690713" y="2364377"/>
            <a:ext cx="274320" cy="476533"/>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11" name="Shape 9"/>
          <p:cNvSpPr/>
          <p:nvPr/>
        </p:nvSpPr>
        <p:spPr>
          <a:xfrm>
            <a:off x="2965033" y="2205533"/>
            <a:ext cx="1904329" cy="21841"/>
          </a:xfrm>
          <a:prstGeom prst="rect">
            <a:avLst/>
          </a:prstGeom>
          <a:solidFill>
            <a:srgbClr val="141414"/>
          </a:solidFill>
          <a:ln/>
        </p:spPr>
      </p:sp>
      <p:sp>
        <p:nvSpPr>
          <p:cNvPr id="12" name="Text 10"/>
          <p:cNvSpPr/>
          <p:nvPr/>
        </p:nvSpPr>
        <p:spPr>
          <a:xfrm>
            <a:off x="2965033" y="236437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Extract</a:t>
            </a:r>
            <a:endParaRPr lang="en-US" sz="1750" dirty="0"/>
          </a:p>
        </p:txBody>
      </p:sp>
      <p:sp>
        <p:nvSpPr>
          <p:cNvPr id="13" name="Text 11"/>
          <p:cNvSpPr/>
          <p:nvPr/>
        </p:nvSpPr>
        <p:spPr>
          <a:xfrm>
            <a:off x="2965033" y="288062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Text and image URLs</a:t>
            </a:r>
            <a:endParaRPr lang="en-US" sz="1350" dirty="0"/>
          </a:p>
        </p:txBody>
      </p:sp>
      <p:sp>
        <p:nvSpPr>
          <p:cNvPr id="14" name="Text 12"/>
          <p:cNvSpPr/>
          <p:nvPr/>
        </p:nvSpPr>
        <p:spPr>
          <a:xfrm>
            <a:off x="4869363" y="2364377"/>
            <a:ext cx="274320" cy="476533"/>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15" name="Shape 13"/>
          <p:cNvSpPr/>
          <p:nvPr/>
        </p:nvSpPr>
        <p:spPr>
          <a:xfrm>
            <a:off x="5143683" y="2205533"/>
            <a:ext cx="1904329" cy="21841"/>
          </a:xfrm>
          <a:prstGeom prst="rect">
            <a:avLst/>
          </a:prstGeom>
          <a:solidFill>
            <a:srgbClr val="141414"/>
          </a:solidFill>
          <a:ln/>
        </p:spPr>
      </p:sp>
      <p:sp>
        <p:nvSpPr>
          <p:cNvPr id="16" name="Text 14"/>
          <p:cNvSpPr/>
          <p:nvPr/>
        </p:nvSpPr>
        <p:spPr>
          <a:xfrm>
            <a:off x="5143683" y="236437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Describe</a:t>
            </a:r>
            <a:endParaRPr lang="en-US" sz="1750" dirty="0"/>
          </a:p>
        </p:txBody>
      </p:sp>
      <p:sp>
        <p:nvSpPr>
          <p:cNvPr id="17" name="Text 15"/>
          <p:cNvSpPr/>
          <p:nvPr/>
        </p:nvSpPr>
        <p:spPr>
          <a:xfrm>
            <a:off x="5143683" y="288062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Vision model, cached</a:t>
            </a:r>
            <a:endParaRPr lang="en-US" sz="1350" dirty="0"/>
          </a:p>
        </p:txBody>
      </p:sp>
      <p:sp>
        <p:nvSpPr>
          <p:cNvPr id="18" name="Text 16"/>
          <p:cNvSpPr/>
          <p:nvPr/>
        </p:nvSpPr>
        <p:spPr>
          <a:xfrm>
            <a:off x="7048012" y="2364377"/>
            <a:ext cx="274320" cy="476533"/>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7322332" y="2205533"/>
            <a:ext cx="1904329" cy="21841"/>
          </a:xfrm>
          <a:prstGeom prst="rect">
            <a:avLst/>
          </a:prstGeom>
          <a:solidFill>
            <a:srgbClr val="141414"/>
          </a:solidFill>
          <a:ln/>
        </p:spPr>
      </p:sp>
      <p:sp>
        <p:nvSpPr>
          <p:cNvPr id="20" name="Text 18"/>
          <p:cNvSpPr/>
          <p:nvPr/>
        </p:nvSpPr>
        <p:spPr>
          <a:xfrm>
            <a:off x="7322332" y="236437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Photograph</a:t>
            </a:r>
            <a:endParaRPr lang="en-US" sz="1750" dirty="0"/>
          </a:p>
        </p:txBody>
      </p:sp>
      <p:sp>
        <p:nvSpPr>
          <p:cNvPr id="21" name="Text 19"/>
          <p:cNvSpPr/>
          <p:nvPr/>
        </p:nvSpPr>
        <p:spPr>
          <a:xfrm>
            <a:off x="7322332" y="288062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Your zones</a:t>
            </a:r>
            <a:endParaRPr lang="en-US" sz="1350" dirty="0"/>
          </a:p>
        </p:txBody>
      </p:sp>
      <p:sp>
        <p:nvSpPr>
          <p:cNvPr id="22" name="Text 20"/>
          <p:cNvSpPr/>
          <p:nvPr/>
        </p:nvSpPr>
        <p:spPr>
          <a:xfrm>
            <a:off x="9226662" y="2364377"/>
            <a:ext cx="274320" cy="476533"/>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23" name="Shape 21"/>
          <p:cNvSpPr/>
          <p:nvPr/>
        </p:nvSpPr>
        <p:spPr>
          <a:xfrm>
            <a:off x="9500982" y="2205533"/>
            <a:ext cx="1904329" cy="21841"/>
          </a:xfrm>
          <a:prstGeom prst="rect">
            <a:avLst/>
          </a:prstGeom>
          <a:solidFill>
            <a:srgbClr val="141414"/>
          </a:solidFill>
          <a:ln/>
        </p:spPr>
      </p:sp>
      <p:sp>
        <p:nvSpPr>
          <p:cNvPr id="24" name="Text 22"/>
          <p:cNvSpPr/>
          <p:nvPr/>
        </p:nvSpPr>
        <p:spPr>
          <a:xfrm>
            <a:off x="9500982" y="236437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Chunk &amp; embed</a:t>
            </a:r>
            <a:endParaRPr lang="en-US" sz="1750" dirty="0"/>
          </a:p>
        </p:txBody>
      </p:sp>
      <p:sp>
        <p:nvSpPr>
          <p:cNvPr id="25" name="Text 23"/>
          <p:cNvSpPr/>
          <p:nvPr/>
        </p:nvSpPr>
        <p:spPr>
          <a:xfrm>
            <a:off x="9500982" y="288062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Metadata attached</a:t>
            </a:r>
            <a:endParaRPr lang="en-US" sz="1350" dirty="0"/>
          </a:p>
        </p:txBody>
      </p:sp>
      <p:sp>
        <p:nvSpPr>
          <p:cNvPr id="26" name="Text 24"/>
          <p:cNvSpPr/>
          <p:nvPr/>
        </p:nvSpPr>
        <p:spPr>
          <a:xfrm>
            <a:off x="786384" y="3595421"/>
            <a:ext cx="10618927" cy="357400"/>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Run once per question, inside 30 seconds</a:t>
            </a:r>
            <a:endParaRPr lang="en-US" sz="1700" dirty="0"/>
          </a:p>
        </p:txBody>
      </p:sp>
      <p:sp>
        <p:nvSpPr>
          <p:cNvPr id="27" name="Shape 25"/>
          <p:cNvSpPr/>
          <p:nvPr/>
        </p:nvSpPr>
        <p:spPr>
          <a:xfrm>
            <a:off x="786384" y="4032243"/>
            <a:ext cx="1904329" cy="21841"/>
          </a:xfrm>
          <a:prstGeom prst="rect">
            <a:avLst/>
          </a:prstGeom>
          <a:solidFill>
            <a:srgbClr val="141414"/>
          </a:solidFill>
          <a:ln/>
        </p:spPr>
      </p:sp>
      <p:sp>
        <p:nvSpPr>
          <p:cNvPr id="28" name="Text 26"/>
          <p:cNvSpPr/>
          <p:nvPr/>
        </p:nvSpPr>
        <p:spPr>
          <a:xfrm>
            <a:off x="786384" y="419108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Classify</a:t>
            </a:r>
            <a:endParaRPr lang="en-US" sz="1750" dirty="0"/>
          </a:p>
        </p:txBody>
      </p:sp>
      <p:sp>
        <p:nvSpPr>
          <p:cNvPr id="29" name="Text 27"/>
          <p:cNvSpPr/>
          <p:nvPr/>
        </p:nvSpPr>
        <p:spPr>
          <a:xfrm>
            <a:off x="786384" y="470733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Which level is this</a:t>
            </a:r>
            <a:endParaRPr lang="en-US" sz="1350" dirty="0"/>
          </a:p>
        </p:txBody>
      </p:sp>
      <p:sp>
        <p:nvSpPr>
          <p:cNvPr id="30" name="Text 28"/>
          <p:cNvSpPr/>
          <p:nvPr/>
        </p:nvSpPr>
        <p:spPr>
          <a:xfrm>
            <a:off x="2690713" y="4191087"/>
            <a:ext cx="274320" cy="476533"/>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31" name="Shape 29"/>
          <p:cNvSpPr/>
          <p:nvPr/>
        </p:nvSpPr>
        <p:spPr>
          <a:xfrm>
            <a:off x="2965033" y="4032243"/>
            <a:ext cx="1904329" cy="21841"/>
          </a:xfrm>
          <a:prstGeom prst="rect">
            <a:avLst/>
          </a:prstGeom>
          <a:solidFill>
            <a:srgbClr val="141414"/>
          </a:solidFill>
          <a:ln/>
        </p:spPr>
      </p:sp>
      <p:sp>
        <p:nvSpPr>
          <p:cNvPr id="32" name="Text 30"/>
          <p:cNvSpPr/>
          <p:nvPr/>
        </p:nvSpPr>
        <p:spPr>
          <a:xfrm>
            <a:off x="2965033" y="419108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Decompose</a:t>
            </a:r>
            <a:endParaRPr lang="en-US" sz="1750" dirty="0"/>
          </a:p>
        </p:txBody>
      </p:sp>
      <p:sp>
        <p:nvSpPr>
          <p:cNvPr id="33" name="Text 31"/>
          <p:cNvSpPr/>
          <p:nvPr/>
        </p:nvSpPr>
        <p:spPr>
          <a:xfrm>
            <a:off x="2965033" y="470733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If it needs it</a:t>
            </a:r>
            <a:endParaRPr lang="en-US" sz="1350" dirty="0"/>
          </a:p>
        </p:txBody>
      </p:sp>
      <p:sp>
        <p:nvSpPr>
          <p:cNvPr id="34" name="Text 32"/>
          <p:cNvSpPr/>
          <p:nvPr/>
        </p:nvSpPr>
        <p:spPr>
          <a:xfrm>
            <a:off x="4869363" y="4191087"/>
            <a:ext cx="274320" cy="476533"/>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35" name="Shape 33"/>
          <p:cNvSpPr/>
          <p:nvPr/>
        </p:nvSpPr>
        <p:spPr>
          <a:xfrm>
            <a:off x="5143683" y="4032243"/>
            <a:ext cx="1904329" cy="21841"/>
          </a:xfrm>
          <a:prstGeom prst="rect">
            <a:avLst/>
          </a:prstGeom>
          <a:solidFill>
            <a:srgbClr val="141414"/>
          </a:solidFill>
          <a:ln/>
        </p:spPr>
      </p:sp>
      <p:sp>
        <p:nvSpPr>
          <p:cNvPr id="36" name="Text 34"/>
          <p:cNvSpPr/>
          <p:nvPr/>
        </p:nvSpPr>
        <p:spPr>
          <a:xfrm>
            <a:off x="5143683" y="419108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Filter and search</a:t>
            </a:r>
            <a:endParaRPr lang="en-US" sz="1750" dirty="0"/>
          </a:p>
        </p:txBody>
      </p:sp>
      <p:sp>
        <p:nvSpPr>
          <p:cNvPr id="37" name="Text 35"/>
          <p:cNvSpPr/>
          <p:nvPr/>
        </p:nvSpPr>
        <p:spPr>
          <a:xfrm>
            <a:off x="5143683" y="470733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Metadata plus vectors</a:t>
            </a:r>
            <a:endParaRPr lang="en-US" sz="1350" dirty="0"/>
          </a:p>
        </p:txBody>
      </p:sp>
      <p:sp>
        <p:nvSpPr>
          <p:cNvPr id="38" name="Text 36"/>
          <p:cNvSpPr/>
          <p:nvPr/>
        </p:nvSpPr>
        <p:spPr>
          <a:xfrm>
            <a:off x="7048012" y="4191087"/>
            <a:ext cx="274320" cy="476533"/>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39" name="Shape 37"/>
          <p:cNvSpPr/>
          <p:nvPr/>
        </p:nvSpPr>
        <p:spPr>
          <a:xfrm>
            <a:off x="7322332" y="4032243"/>
            <a:ext cx="1904329" cy="21841"/>
          </a:xfrm>
          <a:prstGeom prst="rect">
            <a:avLst/>
          </a:prstGeom>
          <a:solidFill>
            <a:srgbClr val="141414"/>
          </a:solidFill>
          <a:ln/>
        </p:spPr>
      </p:sp>
      <p:sp>
        <p:nvSpPr>
          <p:cNvPr id="40" name="Text 38"/>
          <p:cNvSpPr/>
          <p:nvPr/>
        </p:nvSpPr>
        <p:spPr>
          <a:xfrm>
            <a:off x="7322332" y="419108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Assemble</a:t>
            </a:r>
            <a:endParaRPr lang="en-US" sz="1750" dirty="0"/>
          </a:p>
        </p:txBody>
      </p:sp>
      <p:sp>
        <p:nvSpPr>
          <p:cNvPr id="41" name="Text 39"/>
          <p:cNvSpPr/>
          <p:nvPr/>
        </p:nvSpPr>
        <p:spPr>
          <a:xfrm>
            <a:off x="7322332" y="470733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Context and question</a:t>
            </a:r>
            <a:endParaRPr lang="en-US" sz="1350" dirty="0"/>
          </a:p>
        </p:txBody>
      </p:sp>
      <p:sp>
        <p:nvSpPr>
          <p:cNvPr id="42" name="Text 40"/>
          <p:cNvSpPr/>
          <p:nvPr/>
        </p:nvSpPr>
        <p:spPr>
          <a:xfrm>
            <a:off x="9226662" y="4191087"/>
            <a:ext cx="274320" cy="476533"/>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43" name="Shape 41"/>
          <p:cNvSpPr/>
          <p:nvPr/>
        </p:nvSpPr>
        <p:spPr>
          <a:xfrm>
            <a:off x="9500982" y="4032243"/>
            <a:ext cx="1904329" cy="21841"/>
          </a:xfrm>
          <a:prstGeom prst="rect">
            <a:avLst/>
          </a:prstGeom>
          <a:solidFill>
            <a:srgbClr val="141414"/>
          </a:solidFill>
          <a:ln/>
        </p:spPr>
      </p:sp>
      <p:sp>
        <p:nvSpPr>
          <p:cNvPr id="44" name="Text 42"/>
          <p:cNvSpPr/>
          <p:nvPr/>
        </p:nvSpPr>
        <p:spPr>
          <a:xfrm>
            <a:off x="9500982" y="419108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Answer</a:t>
            </a:r>
            <a:endParaRPr lang="en-US" sz="1750" dirty="0"/>
          </a:p>
        </p:txBody>
      </p:sp>
      <p:sp>
        <p:nvSpPr>
          <p:cNvPr id="45" name="Text 43"/>
          <p:cNvSpPr/>
          <p:nvPr/>
        </p:nvSpPr>
        <p:spPr>
          <a:xfrm>
            <a:off x="9500982" y="470733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Directly, and always</a:t>
            </a:r>
            <a:endParaRPr lang="en-US" sz="1350" dirty="0"/>
          </a:p>
        </p:txBody>
      </p:sp>
      <p:sp>
        <p:nvSpPr>
          <p:cNvPr id="46" name="Text 44"/>
          <p:cNvSpPr/>
          <p:nvPr/>
        </p:nvSpPr>
        <p:spPr>
          <a:xfrm>
            <a:off x="786384" y="5441986"/>
            <a:ext cx="9981792" cy="794222"/>
          </a:xfrm>
          <a:prstGeom prst="rect">
            <a:avLst/>
          </a:prstGeom>
          <a:noFill/>
          <a:ln/>
        </p:spPr>
        <p:txBody>
          <a:bodyPr wrap="square" lIns="0" tIns="0" rIns="0" bIns="0" rtlCol="0" anchor="ctr"/>
          <a:lstStyle/>
          <a:p>
            <a:pPr indent="0" marL="0">
              <a:lnSpc>
                <a:spcPts val="2300"/>
              </a:lnSpc>
              <a:buNone/>
            </a:pPr>
            <a:r>
              <a:rPr lang="en-US" sz="1550" dirty="0">
                <a:solidFill>
                  <a:srgbClr val="141414"/>
                </a:solidFill>
                <a:latin typeface="Arial" pitchFamily="34" charset="0"/>
                <a:ea typeface="Arial" pitchFamily="34" charset="-122"/>
                <a:cs typeface="Arial" pitchFamily="34" charset="-120"/>
              </a:rPr>
              <a:t>Scraped text, website image descriptions and your own photographs all go into one index and are retrieved by the same query. Levels 3 and 5 do not need separate systems.</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Open Lab</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33</a:t>
            </a:r>
            <a:endParaRPr lang="en-US" sz="1200" dirty="0"/>
          </a:p>
        </p:txBody>
      </p:sp>
      <p:sp>
        <p:nvSpPr>
          <p:cNvPr id="5" name="Text 3"/>
          <p:cNvSpPr/>
          <p:nvPr/>
        </p:nvSpPr>
        <p:spPr>
          <a:xfrm>
            <a:off x="786384" y="1680667"/>
            <a:ext cx="9344656" cy="965606"/>
          </a:xfrm>
          <a:prstGeom prst="rect">
            <a:avLst/>
          </a:prstGeom>
          <a:noFill/>
          <a:ln/>
        </p:spPr>
        <p:txBody>
          <a:bodyPr wrap="square" lIns="0" tIns="0" rIns="0" bIns="0" rtlCol="0" anchor="ctr"/>
          <a:lstStyle/>
          <a:p>
            <a:pPr indent="0" marL="0">
              <a:lnSpc>
                <a:spcPts val="2600"/>
              </a:lnSpc>
              <a:buNone/>
            </a:pPr>
            <a:r>
              <a:rPr lang="en-US" sz="1700" dirty="0">
                <a:solidFill>
                  <a:srgbClr val="141414"/>
                </a:solidFill>
                <a:latin typeface="Arial" pitchFamily="34" charset="0"/>
                <a:ea typeface="Arial" pitchFamily="34" charset="-122"/>
                <a:cs typeface="Arial" pitchFamily="34" charset="-120"/>
              </a:rPr>
              <a:t>Thirty minutes, immediately after this session. Mentors stay in the room, and the collection zones are in the building around you.</a:t>
            </a:r>
            <a:endParaRPr lang="en-US" sz="1700" dirty="0"/>
          </a:p>
        </p:txBody>
      </p:sp>
      <p:sp>
        <p:nvSpPr>
          <p:cNvPr id="6" name="Shape 4"/>
          <p:cNvSpPr/>
          <p:nvPr/>
        </p:nvSpPr>
        <p:spPr>
          <a:xfrm>
            <a:off x="786384" y="3170316"/>
            <a:ext cx="155448" cy="24140"/>
          </a:xfrm>
          <a:prstGeom prst="rect">
            <a:avLst/>
          </a:prstGeom>
          <a:solidFill>
            <a:srgbClr val="C0402A"/>
          </a:solidFill>
          <a:ln/>
        </p:spPr>
      </p:sp>
      <p:sp>
        <p:nvSpPr>
          <p:cNvPr id="7" name="Text 5"/>
          <p:cNvSpPr/>
          <p:nvPr/>
        </p:nvSpPr>
        <p:spPr>
          <a:xfrm>
            <a:off x="1097280" y="3008376"/>
            <a:ext cx="9246138" cy="457992"/>
          </a:xfrm>
          <a:prstGeom prst="rect">
            <a:avLst/>
          </a:prstGeom>
          <a:noFill/>
          <a:ln/>
        </p:spPr>
        <p:txBody>
          <a:bodyPr wrap="square" lIns="0" tIns="0" rIns="0" bIns="0" rtlCol="0" anchor="t"/>
          <a:lstStyle/>
          <a:p>
            <a:pPr indent="0" marL="0">
              <a:lnSpc>
                <a:spcPts val="2300"/>
              </a:lnSpc>
              <a:buNone/>
            </a:pPr>
            <a:r>
              <a:rPr lang="en-US" sz="1600" dirty="0">
                <a:solidFill>
                  <a:srgbClr val="141414"/>
                </a:solidFill>
                <a:latin typeface="Arial" pitchFamily="34" charset="0"/>
                <a:ea typeface="Arial" pitchFamily="34" charset="-122"/>
                <a:cs typeface="Arial" pitchFamily="34" charset="-120"/>
              </a:rPr>
              <a:t>Finish the block 3 or block 4 lab if you did not complete it.</a:t>
            </a:r>
            <a:endParaRPr lang="en-US" sz="1600" dirty="0"/>
          </a:p>
        </p:txBody>
      </p:sp>
      <p:sp>
        <p:nvSpPr>
          <p:cNvPr id="8" name="Shape 6"/>
          <p:cNvSpPr/>
          <p:nvPr/>
        </p:nvSpPr>
        <p:spPr>
          <a:xfrm>
            <a:off x="786384" y="3773820"/>
            <a:ext cx="155448" cy="24140"/>
          </a:xfrm>
          <a:prstGeom prst="rect">
            <a:avLst/>
          </a:prstGeom>
          <a:solidFill>
            <a:srgbClr val="C0402A"/>
          </a:solidFill>
          <a:ln/>
        </p:spPr>
      </p:sp>
      <p:sp>
        <p:nvSpPr>
          <p:cNvPr id="9" name="Text 7"/>
          <p:cNvSpPr/>
          <p:nvPr/>
        </p:nvSpPr>
        <p:spPr>
          <a:xfrm>
            <a:off x="1097280" y="3611880"/>
            <a:ext cx="9246138" cy="457992"/>
          </a:xfrm>
          <a:prstGeom prst="rect">
            <a:avLst/>
          </a:prstGeom>
          <a:noFill/>
          <a:ln/>
        </p:spPr>
        <p:txBody>
          <a:bodyPr wrap="square" lIns="0" tIns="0" rIns="0" bIns="0" rtlCol="0" anchor="t"/>
          <a:lstStyle/>
          <a:p>
            <a:pPr indent="0" marL="0">
              <a:lnSpc>
                <a:spcPts val="2300"/>
              </a:lnSpc>
              <a:buNone/>
            </a:pPr>
            <a:r>
              <a:rPr lang="en-US" sz="1600" dirty="0">
                <a:solidFill>
                  <a:srgbClr val="141414"/>
                </a:solidFill>
                <a:latin typeface="Arial" pitchFamily="34" charset="0"/>
                <a:ea typeface="Arial" pitchFamily="34" charset="-122"/>
                <a:cs typeface="Arial" pitchFamily="34" charset="-120"/>
              </a:rPr>
              <a:t>Start photographing your assigned zones while mentors are available.</a:t>
            </a:r>
            <a:endParaRPr lang="en-US" sz="1600" dirty="0"/>
          </a:p>
        </p:txBody>
      </p:sp>
      <p:sp>
        <p:nvSpPr>
          <p:cNvPr id="10" name="Shape 8"/>
          <p:cNvSpPr/>
          <p:nvPr/>
        </p:nvSpPr>
        <p:spPr>
          <a:xfrm>
            <a:off x="786384" y="4377324"/>
            <a:ext cx="155448" cy="24140"/>
          </a:xfrm>
          <a:prstGeom prst="rect">
            <a:avLst/>
          </a:prstGeom>
          <a:solidFill>
            <a:srgbClr val="C0402A"/>
          </a:solidFill>
          <a:ln/>
        </p:spPr>
      </p:sp>
      <p:sp>
        <p:nvSpPr>
          <p:cNvPr id="11" name="Text 9"/>
          <p:cNvSpPr/>
          <p:nvPr/>
        </p:nvSpPr>
        <p:spPr>
          <a:xfrm>
            <a:off x="1097280" y="4215384"/>
            <a:ext cx="9246138" cy="457992"/>
          </a:xfrm>
          <a:prstGeom prst="rect">
            <a:avLst/>
          </a:prstGeom>
          <a:noFill/>
          <a:ln/>
        </p:spPr>
        <p:txBody>
          <a:bodyPr wrap="square" lIns="0" tIns="0" rIns="0" bIns="0" rtlCol="0" anchor="t"/>
          <a:lstStyle/>
          <a:p>
            <a:pPr indent="0" marL="0">
              <a:lnSpc>
                <a:spcPts val="2300"/>
              </a:lnSpc>
              <a:buNone/>
            </a:pPr>
            <a:r>
              <a:rPr lang="en-US" sz="1600" dirty="0">
                <a:solidFill>
                  <a:srgbClr val="141414"/>
                </a:solidFill>
                <a:latin typeface="Arial" pitchFamily="34" charset="0"/>
                <a:ea typeface="Arial" pitchFamily="34" charset="-122"/>
                <a:cs typeface="Arial" pitchFamily="34" charset="-120"/>
              </a:rPr>
              <a:t>Ask about OCR, tiling or routing if you want to try any of them.</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7">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FOR SHARING</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Bad Examples From a Real Run</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08</a:t>
            </a:r>
            <a:endParaRPr lang="en-US" sz="1200" dirty="0"/>
          </a:p>
        </p:txBody>
      </p:sp>
      <p:sp>
        <p:nvSpPr>
          <p:cNvPr id="201" name="Vis 201"/>
          <p:cNvSpPr/>
          <p:nvPr/>
        </p:nvSpPr>
        <p:spPr>
          <a:xfrm>
            <a:off x="786384" y="1554480"/>
            <a:ext cx="10616184" cy="548640"/>
          </a:xfrm>
          <a:prstGeom prst="rect">
            <a:avLst/>
          </a:prstGeom>
          <a:noFill/>
          <a:ln>
            <a:noFill/>
          </a:ln>
        </p:spPr>
        <p:txBody>
          <a:bodyPr wrap="square" lIns="0" tIns="0" rIns="0" bIns="0" anchor="t">
            <a:noAutofit/>
          </a:bodyPr>
          <a:lstStyle/>
          <a:p>
            <a:pPr algn="l" indent="0" marL="0">
              <a:lnSpc>
                <a:spcPts val="1700"/>
              </a:lnSpc>
              <a:buNone/>
            </a:pPr>
            <a:r>
              <a:rPr lang="en-US" sz="1250" dirty="0">
                <a:solidFill>
                  <a:srgbClr val="6E6A63"/>
                </a:solidFill>
                <a:latin typeface="Arial"/>
                <a:ea typeface="Arial"/>
                <a:cs typeface="Arial"/>
                <a:sym typeface="Arial"/>
              </a:rPr>
              <a:t>Every quote below came back from gpt-5-mini in our own test run of lab 4, while DESCRIPTION_PROMPT was still the TODO placeholder. All of it would have gone into the index.</a:t>
            </a:r>
          </a:p>
        </p:txBody>
      </p:sp>
      <p:sp>
        <p:nvSpPr>
          <p:cNvPr id="202" name="Vis 202"/>
          <p:cNvSpPr/>
          <p:nvPr/>
        </p:nvSpPr>
        <p:spPr>
          <a:xfrm>
            <a:off x="786384" y="2212848"/>
            <a:ext cx="5193792" cy="1874520"/>
          </a:xfrm>
          <a:prstGeom prst="rect">
            <a:avLst/>
          </a:prstGeom>
          <a:solidFill>
            <a:srgbClr val="F2EFEA"/>
          </a:solidFill>
          <a:ln>
            <a:noFill/>
          </a:ln>
        </p:spPr>
      </p:sp>
      <p:pic>
        <p:nvPicPr>
          <p:cNvPr id="203" name="Picture 203" descr="screen_crop.jpg"/>
          <p:cNvPicPr>
            <a:picLocks noChangeAspect="1"/>
          </p:cNvPicPr>
          <p:nvPr/>
        </p:nvPicPr>
        <p:blipFill>
          <a:blip r:embed="rId2"/>
          <a:srcRect l="11727" t="0" r="11727" b="0"/>
          <a:stretch>
            <a:fillRect/>
          </a:stretch>
        </p:blipFill>
        <p:spPr>
          <a:xfrm>
            <a:off x="786384" y="2212848"/>
            <a:ext cx="1600200" cy="1874520"/>
          </a:xfrm>
          <a:prstGeom prst="rect">
            <a:avLst/>
          </a:prstGeom>
        </p:spPr>
      </p:pic>
      <p:sp>
        <p:nvSpPr>
          <p:cNvPr id="204" name="Vis 204"/>
          <p:cNvSpPr/>
          <p:nvPr/>
        </p:nvSpPr>
        <p:spPr>
          <a:xfrm>
            <a:off x="2569464" y="2331720"/>
            <a:ext cx="3273552" cy="1691640"/>
          </a:xfrm>
          <a:prstGeom prst="rect">
            <a:avLst/>
          </a:prstGeom>
          <a:noFill/>
          <a:ln>
            <a:noFill/>
          </a:ln>
        </p:spPr>
        <p:txBody>
          <a:bodyPr wrap="square" lIns="0" tIns="0" rIns="0" bIns="0" anchor="t">
            <a:noAutofit/>
          </a:bodyPr>
          <a:lstStyle/>
          <a:p>
            <a:pPr algn="l" indent="0" marL="0">
              <a:spcAft>
                <a:spcPts val="400"/>
              </a:spcAft>
              <a:buNone/>
            </a:pPr>
            <a:r>
              <a:rPr lang="en-US" sz="1250" b="1" dirty="0">
                <a:solidFill>
                  <a:srgbClr val="C0402A"/>
                </a:solidFill>
                <a:latin typeface="Arial"/>
                <a:ea typeface="Arial"/>
                <a:cs typeface="Arial"/>
                <a:sym typeface="Arial"/>
              </a:rPr>
              <a:t>Misread the text</a:t>
            </a:r>
          </a:p>
          <a:p>
            <a:pPr algn="l" indent="0" marL="0">
              <a:lnSpc>
                <a:spcPts val="1350"/>
              </a:lnSpc>
              <a:spcAft>
                <a:spcPts val="400"/>
              </a:spcAft>
              <a:buNone/>
            </a:pPr>
            <a:r>
              <a:rPr lang="en-US" sz="1050" i="1" dirty="0">
                <a:solidFill>
                  <a:srgbClr val="2A2724"/>
                </a:solidFill>
                <a:latin typeface="Arial"/>
                <a:ea typeface="Arial"/>
                <a:cs typeface="Arial"/>
                <a:sym typeface="Arial"/>
              </a:rPr>
              <a:t>a slide titled "Building PAG with Image Data"</a:t>
            </a:r>
          </a:p>
          <a:p>
            <a:pPr algn="l" indent="0" marL="0">
              <a:lnSpc>
                <a:spcPts val="1350"/>
              </a:lnSpc>
              <a:spcAft>
                <a:spcPts val="400"/>
              </a:spcAft>
              <a:buNone/>
            </a:pPr>
            <a:r>
              <a:rPr lang="en-US" sz="1050" b="1" dirty="0">
                <a:solidFill>
                  <a:srgbClr val="141414"/>
                </a:solidFill>
                <a:latin typeface="Arial"/>
                <a:ea typeface="Arial"/>
                <a:cs typeface="Arial"/>
                <a:sym typeface="Arial"/>
              </a:rPr>
              <a:t>On screen:  Building RAG with Image Data</a:t>
            </a:r>
          </a:p>
          <a:p>
            <a:pPr algn="l" indent="0" marL="0">
              <a:lnSpc>
                <a:spcPts val="1300"/>
              </a:lnSpc>
              <a:buNone/>
            </a:pPr>
            <a:r>
              <a:rPr lang="en-US" sz="1000" dirty="0">
                <a:solidFill>
                  <a:srgbClr val="6E6A63"/>
                </a:solidFill>
                <a:latin typeface="Arial"/>
                <a:ea typeface="Arial"/>
                <a:cs typeface="Arial"/>
                <a:sym typeface="Arial"/>
              </a:rPr>
              <a:t>One wrong letter. It then offered four made-up bullet points for the slide.</a:t>
            </a:r>
          </a:p>
        </p:txBody>
      </p:sp>
      <p:sp>
        <p:nvSpPr>
          <p:cNvPr id="205" name="Vis 205"/>
          <p:cNvSpPr/>
          <p:nvPr/>
        </p:nvSpPr>
        <p:spPr>
          <a:xfrm>
            <a:off x="6208776" y="2212848"/>
            <a:ext cx="5193792" cy="1874520"/>
          </a:xfrm>
          <a:prstGeom prst="rect">
            <a:avLst/>
          </a:prstGeom>
          <a:solidFill>
            <a:srgbClr val="F2EFEA"/>
          </a:solidFill>
          <a:ln>
            <a:noFill/>
          </a:ln>
        </p:spPr>
      </p:sp>
      <p:pic>
        <p:nvPicPr>
          <p:cNvPr id="206" name="Picture 206" descr="openB_43.jpg"/>
          <p:cNvPicPr>
            <a:picLocks noChangeAspect="1"/>
          </p:cNvPicPr>
          <p:nvPr/>
        </p:nvPicPr>
        <p:blipFill>
          <a:blip r:embed="rId3"/>
          <a:srcRect l="10792" t="0" r="25182" b="0"/>
          <a:stretch>
            <a:fillRect/>
          </a:stretch>
        </p:blipFill>
        <p:spPr>
          <a:xfrm>
            <a:off x="6208776" y="2212848"/>
            <a:ext cx="1600200" cy="1874520"/>
          </a:xfrm>
          <a:prstGeom prst="rect">
            <a:avLst/>
          </a:prstGeom>
        </p:spPr>
      </p:pic>
      <p:sp>
        <p:nvSpPr>
          <p:cNvPr id="207" name="Vis 207"/>
          <p:cNvSpPr/>
          <p:nvPr/>
        </p:nvSpPr>
        <p:spPr>
          <a:xfrm>
            <a:off x="7991856" y="2331720"/>
            <a:ext cx="3273552" cy="1691640"/>
          </a:xfrm>
          <a:prstGeom prst="rect">
            <a:avLst/>
          </a:prstGeom>
          <a:noFill/>
          <a:ln>
            <a:noFill/>
          </a:ln>
        </p:spPr>
        <p:txBody>
          <a:bodyPr wrap="square" lIns="0" tIns="0" rIns="0" bIns="0" anchor="t">
            <a:noAutofit/>
          </a:bodyPr>
          <a:lstStyle/>
          <a:p>
            <a:pPr algn="l" indent="0" marL="0">
              <a:spcAft>
                <a:spcPts val="400"/>
              </a:spcAft>
              <a:buNone/>
            </a:pPr>
            <a:r>
              <a:rPr lang="en-US" sz="1250" b="1" dirty="0">
                <a:solidFill>
                  <a:srgbClr val="C0402A"/>
                </a:solidFill>
                <a:latin typeface="Arial"/>
                <a:ea typeface="Arial"/>
                <a:cs typeface="Arial"/>
                <a:sym typeface="Arial"/>
              </a:rPr>
              <a:t>Named the wrong room</a:t>
            </a:r>
          </a:p>
          <a:p>
            <a:pPr algn="l" indent="0" marL="0">
              <a:lnSpc>
                <a:spcPts val="1350"/>
              </a:lnSpc>
              <a:spcAft>
                <a:spcPts val="400"/>
              </a:spcAft>
              <a:buNone/>
            </a:pPr>
            <a:r>
              <a:rPr lang="en-US" sz="1050" i="1" dirty="0">
                <a:solidFill>
                  <a:srgbClr val="2A2724"/>
                </a:solidFill>
                <a:latin typeface="Arial"/>
                <a:ea typeface="Arial"/>
                <a:cs typeface="Arial"/>
                <a:sym typeface="Arial"/>
              </a:rPr>
              <a:t>"Quiet study space ready for group work and late-night brainstorming."</a:t>
            </a:r>
          </a:p>
          <a:p>
            <a:pPr algn="l" indent="0" marL="0">
              <a:lnSpc>
                <a:spcPts val="1350"/>
              </a:lnSpc>
              <a:spcAft>
                <a:spcPts val="400"/>
              </a:spcAft>
              <a:buNone/>
            </a:pPr>
            <a:r>
              <a:rPr lang="en-US" sz="1050" b="1" dirty="0">
                <a:solidFill>
                  <a:srgbClr val="141414"/>
                </a:solidFill>
                <a:latin typeface="Arial"/>
                <a:ea typeface="Arial"/>
                <a:cs typeface="Arial"/>
                <a:sym typeface="Arial"/>
              </a:rPr>
              <a:t>On the wall:  Open Event Area</a:t>
            </a:r>
          </a:p>
          <a:p>
            <a:pPr algn="l" indent="0" marL="0">
              <a:lnSpc>
                <a:spcPts val="1300"/>
              </a:lnSpc>
              <a:buNone/>
            </a:pPr>
            <a:r>
              <a:rPr lang="en-US" sz="1000" dirty="0">
                <a:solidFill>
                  <a:srgbClr val="6E6A63"/>
                </a:solidFill>
                <a:latin typeface="Arial"/>
                <a:ea typeface="Arial"/>
                <a:cs typeface="Arial"/>
                <a:sym typeface="Arial"/>
              </a:rPr>
              <a:t>The signage names the room. Nothing asked the model to read it.</a:t>
            </a:r>
          </a:p>
        </p:txBody>
      </p:sp>
      <p:sp>
        <p:nvSpPr>
          <p:cNvPr id="208" name="Vis 208"/>
          <p:cNvSpPr/>
          <p:nvPr/>
        </p:nvSpPr>
        <p:spPr>
          <a:xfrm>
            <a:off x="786384" y="4270248"/>
            <a:ext cx="5193792" cy="1874520"/>
          </a:xfrm>
          <a:prstGeom prst="rect">
            <a:avLst/>
          </a:prstGeom>
          <a:solidFill>
            <a:srgbClr val="F2EFEA"/>
          </a:solidFill>
          <a:ln>
            <a:noFill/>
          </a:ln>
        </p:spPr>
      </p:sp>
      <p:pic>
        <p:nvPicPr>
          <p:cNvPr id="209" name="Picture 209" descr="oe_sign.jpg"/>
          <p:cNvPicPr>
            <a:picLocks noChangeAspect="1"/>
          </p:cNvPicPr>
          <p:nvPr/>
        </p:nvPicPr>
        <p:blipFill>
          <a:blip r:embed="rId4"/>
          <a:srcRect l="20819" t="0" r="6939" b="0"/>
          <a:stretch>
            <a:fillRect/>
          </a:stretch>
        </p:blipFill>
        <p:spPr>
          <a:xfrm>
            <a:off x="786384" y="4270248"/>
            <a:ext cx="1600200" cy="1874520"/>
          </a:xfrm>
          <a:prstGeom prst="rect">
            <a:avLst/>
          </a:prstGeom>
        </p:spPr>
      </p:pic>
      <p:sp>
        <p:nvSpPr>
          <p:cNvPr id="210" name="Vis 210"/>
          <p:cNvSpPr/>
          <p:nvPr/>
        </p:nvSpPr>
        <p:spPr>
          <a:xfrm>
            <a:off x="2569464" y="4389120"/>
            <a:ext cx="3273552" cy="1691640"/>
          </a:xfrm>
          <a:prstGeom prst="rect">
            <a:avLst/>
          </a:prstGeom>
          <a:noFill/>
          <a:ln>
            <a:noFill/>
          </a:ln>
        </p:spPr>
        <p:txBody>
          <a:bodyPr wrap="square" lIns="0" tIns="0" rIns="0" bIns="0" anchor="t">
            <a:noAutofit/>
          </a:bodyPr>
          <a:lstStyle/>
          <a:p>
            <a:pPr algn="l" indent="0" marL="0">
              <a:spcAft>
                <a:spcPts val="400"/>
              </a:spcAft>
              <a:buNone/>
            </a:pPr>
            <a:r>
              <a:rPr lang="en-US" sz="1250" b="1" dirty="0">
                <a:solidFill>
                  <a:srgbClr val="C0402A"/>
                </a:solidFill>
                <a:latin typeface="Arial"/>
                <a:ea typeface="Arial"/>
                <a:cs typeface="Arial"/>
                <a:sym typeface="Arial"/>
              </a:rPr>
              <a:t>Paraphrased a sign</a:t>
            </a:r>
          </a:p>
          <a:p>
            <a:pPr algn="l" indent="0" marL="0">
              <a:lnSpc>
                <a:spcPts val="1350"/>
              </a:lnSpc>
              <a:spcAft>
                <a:spcPts val="400"/>
              </a:spcAft>
              <a:buNone/>
            </a:pPr>
            <a:r>
              <a:rPr lang="en-US" sz="1050" i="1" dirty="0">
                <a:solidFill>
                  <a:srgbClr val="2A2724"/>
                </a:solidFill>
                <a:latin typeface="Arial"/>
                <a:ea typeface="Arial"/>
                <a:cs typeface="Arial"/>
                <a:sym typeface="Arial"/>
              </a:rPr>
              <a:t>"Please keep this area tidy... return them to their original configuration."</a:t>
            </a:r>
          </a:p>
          <a:p>
            <a:pPr algn="l" indent="0" marL="0">
              <a:lnSpc>
                <a:spcPts val="1350"/>
              </a:lnSpc>
              <a:spcAft>
                <a:spcPts val="400"/>
              </a:spcAft>
              <a:buNone/>
            </a:pPr>
            <a:r>
              <a:rPr lang="en-US" sz="1050" b="1" dirty="0">
                <a:solidFill>
                  <a:srgbClr val="141414"/>
                </a:solidFill>
                <a:latin typeface="Arial"/>
                <a:ea typeface="Arial"/>
                <a:cs typeface="Arial"/>
                <a:sym typeface="Arial"/>
              </a:rPr>
              <a:t>On the sign:  KEEP CLEAN. DO NOT REARRANGE THE TABLE SET</a:t>
            </a:r>
          </a:p>
          <a:p>
            <a:pPr algn="l" indent="0" marL="0">
              <a:lnSpc>
                <a:spcPts val="1300"/>
              </a:lnSpc>
              <a:buNone/>
            </a:pPr>
            <a:r>
              <a:rPr lang="en-US" sz="1000" dirty="0">
                <a:solidFill>
                  <a:srgbClr val="6E6A63"/>
                </a:solidFill>
                <a:latin typeface="Arial"/>
                <a:ea typeface="Arial"/>
                <a:cs typeface="Arial"/>
                <a:sym typeface="Arial"/>
              </a:rPr>
              <a:t>Close in meaning, useless for a question that wants the exact words.</a:t>
            </a:r>
          </a:p>
        </p:txBody>
      </p:sp>
      <p:sp>
        <p:nvSpPr>
          <p:cNvPr id="211" name="Vis 211"/>
          <p:cNvSpPr/>
          <p:nvPr/>
        </p:nvSpPr>
        <p:spPr>
          <a:xfrm>
            <a:off x="6208776" y="4270248"/>
            <a:ext cx="5193792" cy="1874520"/>
          </a:xfrm>
          <a:prstGeom prst="rect">
            <a:avLst/>
          </a:prstGeom>
          <a:solidFill>
            <a:srgbClr val="F2EFEA"/>
          </a:solidFill>
          <a:ln>
            <a:noFill/>
          </a:ln>
        </p:spPr>
      </p:sp>
      <p:pic>
        <p:nvPicPr>
          <p:cNvPr id="212" name="Picture 212" descr="openA_43.jpg"/>
          <p:cNvPicPr>
            <a:picLocks noChangeAspect="1"/>
          </p:cNvPicPr>
          <p:nvPr/>
        </p:nvPicPr>
        <p:blipFill>
          <a:blip r:embed="rId5"/>
          <a:srcRect l="17987" t="0" r="17987" b="0"/>
          <a:stretch>
            <a:fillRect/>
          </a:stretch>
        </p:blipFill>
        <p:spPr>
          <a:xfrm>
            <a:off x="6208776" y="4270248"/>
            <a:ext cx="1600200" cy="1874520"/>
          </a:xfrm>
          <a:prstGeom prst="rect">
            <a:avLst/>
          </a:prstGeom>
        </p:spPr>
      </p:pic>
      <p:sp>
        <p:nvSpPr>
          <p:cNvPr id="213" name="Vis 213"/>
          <p:cNvSpPr/>
          <p:nvPr/>
        </p:nvSpPr>
        <p:spPr>
          <a:xfrm>
            <a:off x="7991856" y="4389120"/>
            <a:ext cx="3273552" cy="1691640"/>
          </a:xfrm>
          <a:prstGeom prst="rect">
            <a:avLst/>
          </a:prstGeom>
          <a:noFill/>
          <a:ln>
            <a:noFill/>
          </a:ln>
        </p:spPr>
        <p:txBody>
          <a:bodyPr wrap="square" lIns="0" tIns="0" rIns="0" bIns="0" anchor="t">
            <a:noAutofit/>
          </a:bodyPr>
          <a:lstStyle/>
          <a:p>
            <a:pPr algn="l" indent="0" marL="0">
              <a:spcAft>
                <a:spcPts val="400"/>
              </a:spcAft>
              <a:buNone/>
            </a:pPr>
            <a:r>
              <a:rPr lang="en-US" sz="1250" b="1" dirty="0">
                <a:solidFill>
                  <a:srgbClr val="C0402A"/>
                </a:solidFill>
                <a:latin typeface="Arial"/>
                <a:ea typeface="Arial"/>
                <a:cs typeface="Arial"/>
                <a:sym typeface="Arial"/>
              </a:rPr>
              <a:t>Answered the prompt, not the photo</a:t>
            </a:r>
          </a:p>
          <a:p>
            <a:pPr algn="l" indent="0" marL="0">
              <a:lnSpc>
                <a:spcPts val="1350"/>
              </a:lnSpc>
              <a:spcAft>
                <a:spcPts val="400"/>
              </a:spcAft>
              <a:buNone/>
            </a:pPr>
            <a:r>
              <a:rPr lang="en-US" sz="1050" i="1" dirty="0">
                <a:solidFill>
                  <a:srgbClr val="2A2724"/>
                </a:solidFill>
                <a:latin typeface="Arial"/>
                <a:ea typeface="Arial"/>
                <a:cs typeface="Arial"/>
                <a:sym typeface="Arial"/>
              </a:rPr>
              <a:t>"Here are a few ready-to-use text options you can drop in where it says TODO: write yours here."</a:t>
            </a:r>
          </a:p>
          <a:p>
            <a:pPr algn="l" indent="0" marL="0">
              <a:lnSpc>
                <a:spcPts val="1350"/>
              </a:lnSpc>
              <a:spcAft>
                <a:spcPts val="400"/>
              </a:spcAft>
              <a:buNone/>
            </a:pPr>
            <a:r>
              <a:rPr lang="en-US" sz="1050" b="1" dirty="0">
                <a:solidFill>
                  <a:srgbClr val="141414"/>
                </a:solidFill>
                <a:latin typeface="Arial"/>
                <a:ea typeface="Arial"/>
                <a:cs typeface="Arial"/>
                <a:sym typeface="Arial"/>
              </a:rPr>
              <a:t>Prompt:  still the TODO placeholder</a:t>
            </a:r>
          </a:p>
          <a:p>
            <a:pPr algn="l" indent="0" marL="0">
              <a:lnSpc>
                <a:spcPts val="1300"/>
              </a:lnSpc>
              <a:buNone/>
            </a:pPr>
            <a:r>
              <a:rPr lang="en-US" sz="1000" dirty="0">
                <a:solidFill>
                  <a:srgbClr val="6E6A63"/>
                </a:solidFill>
                <a:latin typeface="Arial"/>
                <a:ea typeface="Arial"/>
                <a:cs typeface="Arial"/>
                <a:sym typeface="Arial"/>
              </a:rPr>
              <a:t>So it wrote alt text, tweets and signs. Check the prompt before anything else.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9">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When Metadata Is Not Enough</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23</a:t>
            </a:r>
            <a:endParaRPr lang="en-US" sz="1200" dirty="0"/>
          </a:p>
        </p:txBody>
      </p:sp>
      <p:sp>
        <p:nvSpPr>
          <p:cNvPr id="201" name="Vis 201"/>
          <p:cNvSpPr/>
          <p:nvPr/>
        </p:nvSpPr>
        <p:spPr>
          <a:xfrm>
            <a:off x="786384" y="1572768"/>
            <a:ext cx="10616184" cy="548640"/>
          </a:xfrm>
          <a:prstGeom prst="rect">
            <a:avLst/>
          </a:prstGeom>
          <a:noFill/>
          <a:ln>
            <a:noFill/>
          </a:ln>
        </p:spPr>
        <p:txBody>
          <a:bodyPr wrap="square" lIns="0" tIns="0" rIns="0" bIns="0" anchor="t">
            <a:noAutofit/>
          </a:bodyPr>
          <a:lstStyle/>
          <a:p>
            <a:pPr algn="l" indent="0" marL="0">
              <a:lnSpc>
                <a:spcPts val="1700"/>
              </a:lnSpc>
              <a:buNone/>
            </a:pPr>
            <a:r>
              <a:rPr lang="en-US" sz="1300" dirty="0">
                <a:solidFill>
                  <a:srgbClr val="6E6A63"/>
                </a:solidFill>
                <a:latin typeface="Arial"/>
                <a:ea typeface="Arial"/>
                <a:cs typeface="Arial"/>
                <a:sym typeface="Arial"/>
              </a:rPr>
              <a:t>A poster that was never tagged with year and type is invisible to the filter. Fall back to retrieving wide and letting the model judge each item.</a:t>
            </a:r>
          </a:p>
        </p:txBody>
      </p:sp>
      <p:sp>
        <p:nvSpPr>
          <p:cNvPr id="202" name="Vis 202"/>
          <p:cNvSpPr/>
          <p:nvPr/>
        </p:nvSpPr>
        <p:spPr>
          <a:xfrm>
            <a:off x="786384" y="2240280"/>
            <a:ext cx="5760720" cy="274320"/>
          </a:xfrm>
          <a:prstGeom prst="rect">
            <a:avLst/>
          </a:prstGeom>
          <a:noFill/>
          <a:ln>
            <a:noFill/>
          </a:ln>
        </p:spPr>
        <p:txBody>
          <a:bodyPr wrap="square" lIns="0" tIns="0" rIns="0" bIns="0" anchor="t">
            <a:noAutofit/>
          </a:bodyPr>
          <a:lstStyle/>
          <a:p>
            <a:pPr algn="l" indent="0" marL="0">
              <a:buNone/>
            </a:pPr>
            <a:r>
              <a:rPr lang="en-US" sz="1050" b="1" dirty="0">
                <a:solidFill>
                  <a:srgbClr val="141414"/>
                </a:solidFill>
                <a:latin typeface="Courier New"/>
                <a:ea typeface="Courier New"/>
                <a:cs typeface="Courier New"/>
                <a:sym typeface="Courier New"/>
              </a:rPr>
              <a:t>query(store, q, k=50)</a:t>
            </a:r>
            <a:r>
              <a:rPr lang="en-US" sz="1000" dirty="0">
                <a:solidFill>
                  <a:srgbClr val="6E6A63"/>
                </a:solidFill>
                <a:latin typeface="Arial"/>
                <a:ea typeface="Arial"/>
                <a:cs typeface="Arial"/>
                <a:sym typeface="Arial"/>
              </a:rPr>
              <a:t xml:space="preserve">   no filter, illustrative results</a:t>
            </a:r>
          </a:p>
        </p:txBody>
      </p:sp>
      <p:sp>
        <p:nvSpPr>
          <p:cNvPr id="203" name="Vis 203"/>
          <p:cNvSpPr/>
          <p:nvPr/>
        </p:nvSpPr>
        <p:spPr>
          <a:xfrm>
            <a:off x="786384" y="2560320"/>
            <a:ext cx="5760720" cy="329184"/>
          </a:xfrm>
          <a:prstGeom prst="rect">
            <a:avLst/>
          </a:prstGeom>
          <a:solidFill>
            <a:srgbClr val="F2EFEA"/>
          </a:solidFill>
          <a:ln>
            <a:noFill/>
          </a:ln>
        </p:spPr>
      </p:sp>
      <p:sp>
        <p:nvSpPr>
          <p:cNvPr id="204" name="Vis 204"/>
          <p:cNvSpPr/>
          <p:nvPr/>
        </p:nvSpPr>
        <p:spPr>
          <a:xfrm>
            <a:off x="877824" y="2560320"/>
            <a:ext cx="365760" cy="329184"/>
          </a:xfrm>
          <a:prstGeom prst="rect">
            <a:avLst/>
          </a:prstGeom>
          <a:noFill/>
          <a:ln>
            <a:noFill/>
          </a:ln>
        </p:spPr>
        <p:txBody>
          <a:bodyPr wrap="square" lIns="0" tIns="0" rIns="0" bIns="0" anchor="ctr">
            <a:noAutofit/>
          </a:bodyPr>
          <a:lstStyle/>
          <a:p>
            <a:pPr algn="ctr" indent="0" marL="0">
              <a:buNone/>
            </a:pPr>
            <a:r>
              <a:rPr lang="en-US" sz="1300" b="1" dirty="0">
                <a:solidFill>
                  <a:srgbClr val="2F7D5B"/>
                </a:solidFill>
                <a:latin typeface="Segoe UI Symbol"/>
                <a:ea typeface="Segoe UI Symbol"/>
                <a:cs typeface="Segoe UI Symbol"/>
                <a:sym typeface="Segoe UI Symbol"/>
              </a:rPr>
              <a:t>✓</a:t>
            </a:r>
          </a:p>
        </p:txBody>
      </p:sp>
      <p:sp>
        <p:nvSpPr>
          <p:cNvPr id="205" name="Vis 205"/>
          <p:cNvSpPr/>
          <p:nvPr/>
        </p:nvSpPr>
        <p:spPr>
          <a:xfrm>
            <a:off x="1335024" y="2560320"/>
            <a:ext cx="5120640" cy="329184"/>
          </a:xfrm>
          <a:prstGeom prst="rect">
            <a:avLst/>
          </a:prstGeom>
          <a:noFill/>
          <a:ln>
            <a:noFill/>
          </a:ln>
        </p:spPr>
        <p:txBody>
          <a:bodyPr wrap="square" lIns="0" tIns="0" rIns="0" bIns="0" anchor="ctr">
            <a:noAutofit/>
          </a:bodyPr>
          <a:lstStyle/>
          <a:p>
            <a:pPr algn="l" indent="0" marL="0">
              <a:buNone/>
            </a:pPr>
            <a:r>
              <a:rPr lang="en-US" sz="1100" dirty="0">
                <a:solidFill>
                  <a:srgbClr val="2A2724"/>
                </a:solidFill>
                <a:latin typeface="Arial"/>
                <a:ea typeface="Arial"/>
                <a:cs typeface="Arial"/>
                <a:sym typeface="Arial"/>
              </a:rPr>
              <a:t>Workshop poster: 3D printing basics, Oct 2025</a:t>
            </a:r>
          </a:p>
        </p:txBody>
      </p:sp>
      <p:sp>
        <p:nvSpPr>
          <p:cNvPr id="206" name="Vis 206"/>
          <p:cNvSpPr/>
          <p:nvPr/>
        </p:nvSpPr>
        <p:spPr>
          <a:xfrm>
            <a:off x="786384" y="2944368"/>
            <a:ext cx="5760720" cy="329184"/>
          </a:xfrm>
          <a:prstGeom prst="rect">
            <a:avLst/>
          </a:prstGeom>
          <a:solidFill>
            <a:srgbClr val="F2EFEA"/>
          </a:solidFill>
          <a:ln>
            <a:noFill/>
          </a:ln>
        </p:spPr>
      </p:sp>
      <p:sp>
        <p:nvSpPr>
          <p:cNvPr id="207" name="Vis 207"/>
          <p:cNvSpPr/>
          <p:nvPr/>
        </p:nvSpPr>
        <p:spPr>
          <a:xfrm>
            <a:off x="877824" y="2944368"/>
            <a:ext cx="365760" cy="329184"/>
          </a:xfrm>
          <a:prstGeom prst="rect">
            <a:avLst/>
          </a:prstGeom>
          <a:noFill/>
          <a:ln>
            <a:noFill/>
          </a:ln>
        </p:spPr>
        <p:txBody>
          <a:bodyPr wrap="square" lIns="0" tIns="0" rIns="0" bIns="0" anchor="ctr">
            <a:noAutofit/>
          </a:bodyPr>
          <a:lstStyle/>
          <a:p>
            <a:pPr algn="ctr" indent="0" marL="0">
              <a:buNone/>
            </a:pPr>
            <a:r>
              <a:rPr lang="en-US" sz="1300" b="1" dirty="0">
                <a:solidFill>
                  <a:srgbClr val="C0402A"/>
                </a:solidFill>
                <a:latin typeface="Segoe UI Symbol"/>
                <a:ea typeface="Segoe UI Symbol"/>
                <a:cs typeface="Segoe UI Symbol"/>
                <a:sym typeface="Segoe UI Symbol"/>
              </a:rPr>
              <a:t>✗</a:t>
            </a:r>
          </a:p>
        </p:txBody>
      </p:sp>
      <p:sp>
        <p:nvSpPr>
          <p:cNvPr id="208" name="Vis 208"/>
          <p:cNvSpPr/>
          <p:nvPr/>
        </p:nvSpPr>
        <p:spPr>
          <a:xfrm>
            <a:off x="1335024" y="2944368"/>
            <a:ext cx="5120640" cy="329184"/>
          </a:xfrm>
          <a:prstGeom prst="rect">
            <a:avLst/>
          </a:prstGeom>
          <a:noFill/>
          <a:ln>
            <a:noFill/>
          </a:ln>
        </p:spPr>
        <p:txBody>
          <a:bodyPr wrap="square" lIns="0" tIns="0" rIns="0" bIns="0" anchor="ctr">
            <a:noAutofit/>
          </a:bodyPr>
          <a:lstStyle/>
          <a:p>
            <a:pPr algn="l" indent="0" marL="0">
              <a:buNone/>
            </a:pPr>
            <a:r>
              <a:rPr lang="en-US" sz="1100" dirty="0">
                <a:solidFill>
                  <a:srgbClr val="2A2724"/>
                </a:solidFill>
                <a:latin typeface="Arial"/>
                <a:ea typeface="Arial"/>
                <a:cs typeface="Arial"/>
                <a:sym typeface="Arial"/>
              </a:rPr>
              <a:t>News: Inno Show 2024 highlights</a:t>
            </a:r>
          </a:p>
        </p:txBody>
      </p:sp>
      <p:sp>
        <p:nvSpPr>
          <p:cNvPr id="209" name="Vis 209"/>
          <p:cNvSpPr/>
          <p:nvPr/>
        </p:nvSpPr>
        <p:spPr>
          <a:xfrm>
            <a:off x="786384" y="3328416"/>
            <a:ext cx="5760720" cy="329184"/>
          </a:xfrm>
          <a:prstGeom prst="rect">
            <a:avLst/>
          </a:prstGeom>
          <a:solidFill>
            <a:srgbClr val="F2EFEA"/>
          </a:solidFill>
          <a:ln>
            <a:noFill/>
          </a:ln>
        </p:spPr>
      </p:sp>
      <p:sp>
        <p:nvSpPr>
          <p:cNvPr id="210" name="Vis 210"/>
          <p:cNvSpPr/>
          <p:nvPr/>
        </p:nvSpPr>
        <p:spPr>
          <a:xfrm>
            <a:off x="877824" y="3328416"/>
            <a:ext cx="365760" cy="329184"/>
          </a:xfrm>
          <a:prstGeom prst="rect">
            <a:avLst/>
          </a:prstGeom>
          <a:noFill/>
          <a:ln>
            <a:noFill/>
          </a:ln>
        </p:spPr>
        <p:txBody>
          <a:bodyPr wrap="square" lIns="0" tIns="0" rIns="0" bIns="0" anchor="ctr">
            <a:noAutofit/>
          </a:bodyPr>
          <a:lstStyle/>
          <a:p>
            <a:pPr algn="ctr" indent="0" marL="0">
              <a:buNone/>
            </a:pPr>
            <a:r>
              <a:rPr lang="en-US" sz="1300" b="1" dirty="0">
                <a:solidFill>
                  <a:srgbClr val="2F7D5B"/>
                </a:solidFill>
                <a:latin typeface="Segoe UI Symbol"/>
                <a:ea typeface="Segoe UI Symbol"/>
                <a:cs typeface="Segoe UI Symbol"/>
                <a:sym typeface="Segoe UI Symbol"/>
              </a:rPr>
              <a:t>✓</a:t>
            </a:r>
          </a:p>
        </p:txBody>
      </p:sp>
      <p:sp>
        <p:nvSpPr>
          <p:cNvPr id="211" name="Vis 211"/>
          <p:cNvSpPr/>
          <p:nvPr/>
        </p:nvSpPr>
        <p:spPr>
          <a:xfrm>
            <a:off x="1335024" y="3328416"/>
            <a:ext cx="5120640" cy="329184"/>
          </a:xfrm>
          <a:prstGeom prst="rect">
            <a:avLst/>
          </a:prstGeom>
          <a:noFill/>
          <a:ln>
            <a:noFill/>
          </a:ln>
        </p:spPr>
        <p:txBody>
          <a:bodyPr wrap="square" lIns="0" tIns="0" rIns="0" bIns="0" anchor="ctr">
            <a:noAutofit/>
          </a:bodyPr>
          <a:lstStyle/>
          <a:p>
            <a:pPr algn="l" indent="0" marL="0">
              <a:buNone/>
            </a:pPr>
            <a:r>
              <a:rPr lang="en-US" sz="1100" dirty="0">
                <a:solidFill>
                  <a:srgbClr val="2A2724"/>
                </a:solidFill>
                <a:latin typeface="Arial"/>
                <a:ea typeface="Arial"/>
                <a:cs typeface="Arial"/>
                <a:sym typeface="Arial"/>
              </a:rPr>
              <a:t>Workshop poster: Arduino for beginners, 2025</a:t>
            </a:r>
          </a:p>
        </p:txBody>
      </p:sp>
      <p:sp>
        <p:nvSpPr>
          <p:cNvPr id="212" name="Vis 212"/>
          <p:cNvSpPr/>
          <p:nvPr/>
        </p:nvSpPr>
        <p:spPr>
          <a:xfrm>
            <a:off x="786384" y="3712464"/>
            <a:ext cx="5760720" cy="329184"/>
          </a:xfrm>
          <a:prstGeom prst="rect">
            <a:avLst/>
          </a:prstGeom>
          <a:solidFill>
            <a:srgbClr val="F2EFEA"/>
          </a:solidFill>
          <a:ln>
            <a:noFill/>
          </a:ln>
        </p:spPr>
      </p:sp>
      <p:sp>
        <p:nvSpPr>
          <p:cNvPr id="213" name="Vis 213"/>
          <p:cNvSpPr/>
          <p:nvPr/>
        </p:nvSpPr>
        <p:spPr>
          <a:xfrm>
            <a:off x="877824" y="3712464"/>
            <a:ext cx="365760" cy="329184"/>
          </a:xfrm>
          <a:prstGeom prst="rect">
            <a:avLst/>
          </a:prstGeom>
          <a:noFill/>
          <a:ln>
            <a:noFill/>
          </a:ln>
        </p:spPr>
        <p:txBody>
          <a:bodyPr wrap="square" lIns="0" tIns="0" rIns="0" bIns="0" anchor="ctr">
            <a:noAutofit/>
          </a:bodyPr>
          <a:lstStyle/>
          <a:p>
            <a:pPr algn="ctr" indent="0" marL="0">
              <a:buNone/>
            </a:pPr>
            <a:r>
              <a:rPr lang="en-US" sz="1300" b="1" dirty="0">
                <a:solidFill>
                  <a:srgbClr val="C0402A"/>
                </a:solidFill>
                <a:latin typeface="Segoe UI Symbol"/>
                <a:ea typeface="Segoe UI Symbol"/>
                <a:cs typeface="Segoe UI Symbol"/>
                <a:sym typeface="Segoe UI Symbol"/>
              </a:rPr>
              <a:t>✗</a:t>
            </a:r>
          </a:p>
        </p:txBody>
      </p:sp>
      <p:sp>
        <p:nvSpPr>
          <p:cNvPr id="214" name="Vis 214"/>
          <p:cNvSpPr/>
          <p:nvPr/>
        </p:nvSpPr>
        <p:spPr>
          <a:xfrm>
            <a:off x="1335024" y="3712464"/>
            <a:ext cx="5120640" cy="329184"/>
          </a:xfrm>
          <a:prstGeom prst="rect">
            <a:avLst/>
          </a:prstGeom>
          <a:noFill/>
          <a:ln>
            <a:noFill/>
          </a:ln>
        </p:spPr>
        <p:txBody>
          <a:bodyPr wrap="square" lIns="0" tIns="0" rIns="0" bIns="0" anchor="ctr">
            <a:noAutofit/>
          </a:bodyPr>
          <a:lstStyle/>
          <a:p>
            <a:pPr algn="l" indent="0" marL="0">
              <a:buNone/>
            </a:pPr>
            <a:r>
              <a:rPr lang="en-US" sz="1100" dirty="0">
                <a:solidFill>
                  <a:srgbClr val="2A2724"/>
                </a:solidFill>
                <a:latin typeface="Arial"/>
                <a:ea typeface="Arial"/>
                <a:cs typeface="Arial"/>
                <a:sym typeface="Arial"/>
              </a:rPr>
              <a:t>Venue page: Makerspace A booking rules</a:t>
            </a:r>
          </a:p>
        </p:txBody>
      </p:sp>
      <p:sp>
        <p:nvSpPr>
          <p:cNvPr id="215" name="Vis 215"/>
          <p:cNvSpPr/>
          <p:nvPr/>
        </p:nvSpPr>
        <p:spPr>
          <a:xfrm>
            <a:off x="786384" y="4096512"/>
            <a:ext cx="5760720" cy="329184"/>
          </a:xfrm>
          <a:prstGeom prst="rect">
            <a:avLst/>
          </a:prstGeom>
          <a:solidFill>
            <a:srgbClr val="F2EFEA"/>
          </a:solidFill>
          <a:ln>
            <a:noFill/>
          </a:ln>
        </p:spPr>
      </p:sp>
      <p:sp>
        <p:nvSpPr>
          <p:cNvPr id="216" name="Vis 216"/>
          <p:cNvSpPr/>
          <p:nvPr/>
        </p:nvSpPr>
        <p:spPr>
          <a:xfrm>
            <a:off x="832104" y="4096512"/>
            <a:ext cx="457200" cy="329184"/>
          </a:xfrm>
          <a:prstGeom prst="rect">
            <a:avLst/>
          </a:prstGeom>
          <a:noFill/>
          <a:ln>
            <a:noFill/>
          </a:ln>
        </p:spPr>
        <p:txBody>
          <a:bodyPr wrap="square" lIns="0" tIns="0" rIns="0" bIns="0" anchor="ctr">
            <a:noAutofit/>
          </a:bodyPr>
          <a:lstStyle/>
          <a:p>
            <a:pPr algn="ctr" indent="0" marL="0">
              <a:buNone/>
            </a:pPr>
            <a:r>
              <a:rPr lang="en-US" sz="900" b="1" dirty="0">
                <a:solidFill>
                  <a:srgbClr val="6E6A63"/>
                </a:solidFill>
                <a:latin typeface="Arial"/>
                <a:ea typeface="Arial"/>
                <a:cs typeface="Arial"/>
                <a:sym typeface="Arial"/>
              </a:rPr>
              <a:t>dup</a:t>
            </a:r>
          </a:p>
        </p:txBody>
      </p:sp>
      <p:sp>
        <p:nvSpPr>
          <p:cNvPr id="217" name="Vis 217"/>
          <p:cNvSpPr/>
          <p:nvPr/>
        </p:nvSpPr>
        <p:spPr>
          <a:xfrm>
            <a:off x="1335024" y="4096512"/>
            <a:ext cx="5120640" cy="329184"/>
          </a:xfrm>
          <a:prstGeom prst="rect">
            <a:avLst/>
          </a:prstGeom>
          <a:noFill/>
          <a:ln>
            <a:noFill/>
          </a:ln>
        </p:spPr>
        <p:txBody>
          <a:bodyPr wrap="square" lIns="0" tIns="0" rIns="0" bIns="0" anchor="ctr">
            <a:noAutofit/>
          </a:bodyPr>
          <a:lstStyle/>
          <a:p>
            <a:pPr algn="l" indent="0" marL="0">
              <a:buNone/>
            </a:pPr>
            <a:r>
              <a:rPr lang="en-US" sz="1100" dirty="0">
                <a:solidFill>
                  <a:srgbClr val="6E6A63"/>
                </a:solidFill>
                <a:latin typeface="Arial"/>
                <a:ea typeface="Arial"/>
                <a:cs typeface="Arial"/>
                <a:sym typeface="Arial"/>
              </a:rPr>
              <a:t>Workshop poster: 3D printing basics (second page)</a:t>
            </a:r>
          </a:p>
        </p:txBody>
      </p:sp>
      <p:sp>
        <p:nvSpPr>
          <p:cNvPr id="218" name="Vis 218"/>
          <p:cNvSpPr/>
          <p:nvPr/>
        </p:nvSpPr>
        <p:spPr>
          <a:xfrm>
            <a:off x="786384" y="4480560"/>
            <a:ext cx="5760720" cy="329184"/>
          </a:xfrm>
          <a:prstGeom prst="rect">
            <a:avLst/>
          </a:prstGeom>
          <a:solidFill>
            <a:srgbClr val="F2EFEA"/>
          </a:solidFill>
          <a:ln>
            <a:noFill/>
          </a:ln>
        </p:spPr>
      </p:sp>
      <p:sp>
        <p:nvSpPr>
          <p:cNvPr id="219" name="Vis 219"/>
          <p:cNvSpPr/>
          <p:nvPr/>
        </p:nvSpPr>
        <p:spPr>
          <a:xfrm>
            <a:off x="877824" y="4480560"/>
            <a:ext cx="365760" cy="329184"/>
          </a:xfrm>
          <a:prstGeom prst="rect">
            <a:avLst/>
          </a:prstGeom>
          <a:noFill/>
          <a:ln>
            <a:noFill/>
          </a:ln>
        </p:spPr>
        <p:txBody>
          <a:bodyPr wrap="square" lIns="0" tIns="0" rIns="0" bIns="0" anchor="ctr">
            <a:noAutofit/>
          </a:bodyPr>
          <a:lstStyle/>
          <a:p>
            <a:pPr algn="ctr" indent="0" marL="0">
              <a:buNone/>
            </a:pPr>
            <a:r>
              <a:rPr lang="en-US" sz="1300" b="1" dirty="0">
                <a:solidFill>
                  <a:srgbClr val="2F7D5B"/>
                </a:solidFill>
                <a:latin typeface="Segoe UI Symbol"/>
                <a:ea typeface="Segoe UI Symbol"/>
                <a:cs typeface="Segoe UI Symbol"/>
                <a:sym typeface="Segoe UI Symbol"/>
              </a:rPr>
              <a:t>✓</a:t>
            </a:r>
          </a:p>
        </p:txBody>
      </p:sp>
      <p:sp>
        <p:nvSpPr>
          <p:cNvPr id="220" name="Vis 220"/>
          <p:cNvSpPr/>
          <p:nvPr/>
        </p:nvSpPr>
        <p:spPr>
          <a:xfrm>
            <a:off x="1335024" y="4480560"/>
            <a:ext cx="5120640" cy="329184"/>
          </a:xfrm>
          <a:prstGeom prst="rect">
            <a:avLst/>
          </a:prstGeom>
          <a:noFill/>
          <a:ln>
            <a:noFill/>
          </a:ln>
        </p:spPr>
        <p:txBody>
          <a:bodyPr wrap="square" lIns="0" tIns="0" rIns="0" bIns="0" anchor="ctr">
            <a:noAutofit/>
          </a:bodyPr>
          <a:lstStyle/>
          <a:p>
            <a:pPr algn="l" indent="0" marL="0">
              <a:buNone/>
            </a:pPr>
            <a:r>
              <a:rPr lang="en-US" sz="1100" dirty="0">
                <a:solidFill>
                  <a:srgbClr val="2A2724"/>
                </a:solidFill>
                <a:latin typeface="Arial"/>
                <a:ea typeface="Arial"/>
                <a:cs typeface="Arial"/>
                <a:sym typeface="Arial"/>
              </a:rPr>
              <a:t>Workshop poster: Laser cutting safety, 2025</a:t>
            </a:r>
          </a:p>
        </p:txBody>
      </p:sp>
      <p:sp>
        <p:nvSpPr>
          <p:cNvPr id="221" name="Vis 221"/>
          <p:cNvSpPr/>
          <p:nvPr/>
        </p:nvSpPr>
        <p:spPr>
          <a:xfrm>
            <a:off x="786384" y="4864608"/>
            <a:ext cx="5760720" cy="329184"/>
          </a:xfrm>
          <a:prstGeom prst="rect">
            <a:avLst/>
          </a:prstGeom>
          <a:solidFill>
            <a:srgbClr val="F2EFEA"/>
          </a:solidFill>
          <a:ln>
            <a:noFill/>
          </a:ln>
        </p:spPr>
      </p:sp>
      <p:sp>
        <p:nvSpPr>
          <p:cNvPr id="222" name="Vis 222"/>
          <p:cNvSpPr/>
          <p:nvPr/>
        </p:nvSpPr>
        <p:spPr>
          <a:xfrm>
            <a:off x="877824" y="4864608"/>
            <a:ext cx="365760" cy="329184"/>
          </a:xfrm>
          <a:prstGeom prst="rect">
            <a:avLst/>
          </a:prstGeom>
          <a:noFill/>
          <a:ln>
            <a:noFill/>
          </a:ln>
        </p:spPr>
        <p:txBody>
          <a:bodyPr wrap="square" lIns="0" tIns="0" rIns="0" bIns="0" anchor="ctr">
            <a:noAutofit/>
          </a:bodyPr>
          <a:lstStyle/>
          <a:p>
            <a:pPr algn="ctr" indent="0" marL="0">
              <a:buNone/>
            </a:pPr>
            <a:r>
              <a:rPr lang="en-US" sz="1300" b="1" dirty="0">
                <a:solidFill>
                  <a:srgbClr val="C0402A"/>
                </a:solidFill>
                <a:latin typeface="Segoe UI Symbol"/>
                <a:ea typeface="Segoe UI Symbol"/>
                <a:cs typeface="Segoe UI Symbol"/>
                <a:sym typeface="Segoe UI Symbol"/>
              </a:rPr>
              <a:t>✗</a:t>
            </a:r>
          </a:p>
        </p:txBody>
      </p:sp>
      <p:sp>
        <p:nvSpPr>
          <p:cNvPr id="223" name="Vis 223"/>
          <p:cNvSpPr/>
          <p:nvPr/>
        </p:nvSpPr>
        <p:spPr>
          <a:xfrm>
            <a:off x="1335024" y="4864608"/>
            <a:ext cx="5120640" cy="329184"/>
          </a:xfrm>
          <a:prstGeom prst="rect">
            <a:avLst/>
          </a:prstGeom>
          <a:noFill/>
          <a:ln>
            <a:noFill/>
          </a:ln>
        </p:spPr>
        <p:txBody>
          <a:bodyPr wrap="square" lIns="0" tIns="0" rIns="0" bIns="0" anchor="ctr">
            <a:noAutofit/>
          </a:bodyPr>
          <a:lstStyle/>
          <a:p>
            <a:pPr algn="l" indent="0" marL="0">
              <a:buNone/>
            </a:pPr>
            <a:r>
              <a:rPr lang="en-US" sz="1100" dirty="0">
                <a:solidFill>
                  <a:srgbClr val="2A2724"/>
                </a:solidFill>
                <a:latin typeface="Arial"/>
                <a:ea typeface="Arial"/>
                <a:cs typeface="Arial"/>
                <a:sym typeface="Arial"/>
              </a:rPr>
              <a:t>Workshop poster: Robotics bootcamp, 2024</a:t>
            </a:r>
          </a:p>
        </p:txBody>
      </p:sp>
      <p:sp>
        <p:nvSpPr>
          <p:cNvPr id="224" name="Vis 224"/>
          <p:cNvSpPr/>
          <p:nvPr/>
        </p:nvSpPr>
        <p:spPr>
          <a:xfrm>
            <a:off x="786384" y="5248656"/>
            <a:ext cx="5760720" cy="329184"/>
          </a:xfrm>
          <a:prstGeom prst="rect">
            <a:avLst/>
          </a:prstGeom>
          <a:noFill/>
          <a:ln>
            <a:noFill/>
          </a:ln>
        </p:spPr>
      </p:sp>
      <p:sp>
        <p:nvSpPr>
          <p:cNvPr id="225" name="Vis 225"/>
          <p:cNvSpPr/>
          <p:nvPr/>
        </p:nvSpPr>
        <p:spPr>
          <a:xfrm>
            <a:off x="1335024" y="5248656"/>
            <a:ext cx="5120640" cy="329184"/>
          </a:xfrm>
          <a:prstGeom prst="rect">
            <a:avLst/>
          </a:prstGeom>
          <a:noFill/>
          <a:ln>
            <a:noFill/>
          </a:ln>
        </p:spPr>
        <p:txBody>
          <a:bodyPr wrap="square" lIns="0" tIns="0" rIns="0" bIns="0" anchor="ctr">
            <a:noAutofit/>
          </a:bodyPr>
          <a:lstStyle/>
          <a:p>
            <a:pPr algn="l" indent="0" marL="0">
              <a:buNone/>
            </a:pPr>
            <a:r>
              <a:rPr lang="en-US" sz="1100" i="1" dirty="0">
                <a:solidFill>
                  <a:srgbClr val="2A2724"/>
                </a:solidFill>
                <a:latin typeface="Arial"/>
                <a:ea typeface="Arial"/>
                <a:cs typeface="Arial"/>
                <a:sym typeface="Arial"/>
              </a:rPr>
              <a:t>... 43 more</a:t>
            </a:r>
          </a:p>
        </p:txBody>
      </p:sp>
      <p:sp>
        <p:nvSpPr>
          <p:cNvPr id="226" name="Vis 226"/>
          <p:cNvSpPr/>
          <p:nvPr/>
        </p:nvSpPr>
        <p:spPr>
          <a:xfrm>
            <a:off x="6912864" y="2276856"/>
            <a:ext cx="292608" cy="292608"/>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100" b="1" dirty="0">
                <a:solidFill>
                  <a:srgbClr val="FFFFFF"/>
                </a:solidFill>
                <a:latin typeface="Arial"/>
                <a:ea typeface="Arial"/>
                <a:cs typeface="Arial"/>
                <a:sym typeface="Arial"/>
              </a:rPr>
              <a:t>1</a:t>
            </a:r>
          </a:p>
        </p:txBody>
      </p:sp>
      <p:sp>
        <p:nvSpPr>
          <p:cNvPr id="227" name="Vis 227"/>
          <p:cNvSpPr/>
          <p:nvPr/>
        </p:nvSpPr>
        <p:spPr>
          <a:xfrm>
            <a:off x="7360920" y="2240280"/>
            <a:ext cx="4041648" cy="685800"/>
          </a:xfrm>
          <a:prstGeom prst="rect">
            <a:avLst/>
          </a:prstGeom>
          <a:noFill/>
          <a:ln>
            <a:noFill/>
          </a:ln>
        </p:spPr>
        <p:txBody>
          <a:bodyPr wrap="square" lIns="0" tIns="0" rIns="0" bIns="0" anchor="t">
            <a:noAutofit/>
          </a:bodyPr>
          <a:lstStyle/>
          <a:p>
            <a:pPr algn="l" indent="0" marL="0">
              <a:spcAft>
                <a:spcPts val="200"/>
              </a:spcAft>
              <a:buNone/>
            </a:pPr>
            <a:r>
              <a:rPr lang="en-US" sz="1250" b="1" dirty="0">
                <a:solidFill>
                  <a:srgbClr val="141414"/>
                </a:solidFill>
                <a:latin typeface="Arial"/>
                <a:ea typeface="Arial"/>
                <a:cs typeface="Arial"/>
                <a:sym typeface="Arial"/>
              </a:rPr>
              <a:t>Retrieve wide</a:t>
            </a:r>
          </a:p>
          <a:p>
            <a:pPr algn="l" indent="0" marL="0">
              <a:lnSpc>
                <a:spcPts val="1300"/>
              </a:lnSpc>
              <a:buNone/>
            </a:pPr>
            <a:r>
              <a:rPr lang="en-US" sz="1050" dirty="0">
                <a:solidFill>
                  <a:srgbClr val="2A2724"/>
                </a:solidFill>
                <a:latin typeface="Arial"/>
                <a:ea typeface="Arial"/>
                <a:cs typeface="Arial"/>
                <a:sym typeface="Arial"/>
              </a:rPr>
              <a:t>k=30 to 50, no filter. The posters are somewhere in there.</a:t>
            </a:r>
          </a:p>
        </p:txBody>
      </p:sp>
      <p:sp>
        <p:nvSpPr>
          <p:cNvPr id="228" name="Vis 228"/>
          <p:cNvSpPr/>
          <p:nvPr/>
        </p:nvSpPr>
        <p:spPr>
          <a:xfrm>
            <a:off x="6912864" y="2990088"/>
            <a:ext cx="292608" cy="292608"/>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100" b="1" dirty="0">
                <a:solidFill>
                  <a:srgbClr val="FFFFFF"/>
                </a:solidFill>
                <a:latin typeface="Arial"/>
                <a:ea typeface="Arial"/>
                <a:cs typeface="Arial"/>
                <a:sym typeface="Arial"/>
              </a:rPr>
              <a:t>2</a:t>
            </a:r>
          </a:p>
        </p:txBody>
      </p:sp>
      <p:sp>
        <p:nvSpPr>
          <p:cNvPr id="229" name="Vis 229"/>
          <p:cNvSpPr/>
          <p:nvPr/>
        </p:nvSpPr>
        <p:spPr>
          <a:xfrm>
            <a:off x="7360920" y="2953512"/>
            <a:ext cx="4041648" cy="685800"/>
          </a:xfrm>
          <a:prstGeom prst="rect">
            <a:avLst/>
          </a:prstGeom>
          <a:noFill/>
          <a:ln>
            <a:noFill/>
          </a:ln>
        </p:spPr>
        <p:txBody>
          <a:bodyPr wrap="square" lIns="0" tIns="0" rIns="0" bIns="0" anchor="t">
            <a:noAutofit/>
          </a:bodyPr>
          <a:lstStyle/>
          <a:p>
            <a:pPr algn="l" indent="0" marL="0">
              <a:spcAft>
                <a:spcPts val="200"/>
              </a:spcAft>
              <a:buNone/>
            </a:pPr>
            <a:r>
              <a:rPr lang="en-US" sz="1250" b="1" dirty="0">
                <a:solidFill>
                  <a:srgbClr val="141414"/>
                </a:solidFill>
                <a:latin typeface="Arial"/>
                <a:ea typeface="Arial"/>
                <a:cs typeface="Arial"/>
                <a:sym typeface="Arial"/>
              </a:rPr>
              <a:t>Judge each item</a:t>
            </a:r>
          </a:p>
          <a:p>
            <a:pPr algn="l" indent="0" marL="0">
              <a:lnSpc>
                <a:spcPts val="1300"/>
              </a:lnSpc>
              <a:buNone/>
            </a:pPr>
            <a:r>
              <a:rPr lang="en-US" sz="1050" dirty="0">
                <a:solidFill>
                  <a:srgbClr val="2A2724"/>
                </a:solidFill>
                <a:latin typeface="Arial"/>
                <a:ea typeface="Arial"/>
                <a:cs typeface="Arial"/>
                <a:sym typeface="Arial"/>
              </a:rPr>
              <a:t>One call: "For each item, yes or no: is this a 2025 workshop poster?"</a:t>
            </a:r>
          </a:p>
        </p:txBody>
      </p:sp>
      <p:sp>
        <p:nvSpPr>
          <p:cNvPr id="230" name="Vis 230"/>
          <p:cNvSpPr/>
          <p:nvPr/>
        </p:nvSpPr>
        <p:spPr>
          <a:xfrm>
            <a:off x="6912864" y="3703320"/>
            <a:ext cx="292608" cy="292608"/>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100" b="1" dirty="0">
                <a:solidFill>
                  <a:srgbClr val="FFFFFF"/>
                </a:solidFill>
                <a:latin typeface="Arial"/>
                <a:ea typeface="Arial"/>
                <a:cs typeface="Arial"/>
                <a:sym typeface="Arial"/>
              </a:rPr>
              <a:t>3</a:t>
            </a:r>
          </a:p>
        </p:txBody>
      </p:sp>
      <p:sp>
        <p:nvSpPr>
          <p:cNvPr id="231" name="Vis 231"/>
          <p:cNvSpPr/>
          <p:nvPr/>
        </p:nvSpPr>
        <p:spPr>
          <a:xfrm>
            <a:off x="7360920" y="3666744"/>
            <a:ext cx="4041648" cy="685800"/>
          </a:xfrm>
          <a:prstGeom prst="rect">
            <a:avLst/>
          </a:prstGeom>
          <a:noFill/>
          <a:ln>
            <a:noFill/>
          </a:ln>
        </p:spPr>
        <p:txBody>
          <a:bodyPr wrap="square" lIns="0" tIns="0" rIns="0" bIns="0" anchor="t">
            <a:noAutofit/>
          </a:bodyPr>
          <a:lstStyle/>
          <a:p>
            <a:pPr algn="l" indent="0" marL="0">
              <a:spcAft>
                <a:spcPts val="200"/>
              </a:spcAft>
              <a:buNone/>
            </a:pPr>
            <a:r>
              <a:rPr lang="en-US" sz="1250" b="1" dirty="0">
                <a:solidFill>
                  <a:srgbClr val="141414"/>
                </a:solidFill>
                <a:latin typeface="Arial"/>
                <a:ea typeface="Arial"/>
                <a:cs typeface="Arial"/>
                <a:sym typeface="Arial"/>
              </a:rPr>
              <a:t>Drop duplicates</a:t>
            </a:r>
          </a:p>
          <a:p>
            <a:pPr algn="l" indent="0" marL="0">
              <a:lnSpc>
                <a:spcPts val="1300"/>
              </a:lnSpc>
              <a:buNone/>
            </a:pPr>
            <a:r>
              <a:rPr lang="en-US" sz="1050" dirty="0">
                <a:solidFill>
                  <a:srgbClr val="2A2724"/>
                </a:solidFill>
                <a:latin typeface="Arial"/>
                <a:ea typeface="Arial"/>
                <a:cs typeface="Arial"/>
                <a:sym typeface="Arial"/>
              </a:rPr>
              <a:t>The same poster can appear on two pages. Dedupe by image URL.</a:t>
            </a:r>
          </a:p>
        </p:txBody>
      </p:sp>
      <p:sp>
        <p:nvSpPr>
          <p:cNvPr id="232" name="Vis 232"/>
          <p:cNvSpPr/>
          <p:nvPr/>
        </p:nvSpPr>
        <p:spPr>
          <a:xfrm>
            <a:off x="6912864" y="4416552"/>
            <a:ext cx="292608" cy="292608"/>
          </a:xfrm>
          <a:prstGeom prst="ellipse">
            <a:avLst/>
          </a:prstGeom>
          <a:solidFill>
            <a:srgbClr val="C0402A"/>
          </a:solidFill>
          <a:ln w="19050">
            <a:solidFill>
              <a:srgbClr val="FFFFFF"/>
            </a:solidFill>
          </a:ln>
        </p:spPr>
        <p:txBody>
          <a:bodyPr wrap="square" lIns="0" tIns="0" rIns="0" bIns="0" anchor="ctr">
            <a:noAutofit/>
          </a:bodyPr>
          <a:lstStyle/>
          <a:p>
            <a:pPr algn="ctr" indent="0" marL="0">
              <a:buNone/>
            </a:pPr>
            <a:r>
              <a:rPr lang="en-US" sz="1100" b="1" dirty="0">
                <a:solidFill>
                  <a:srgbClr val="FFFFFF"/>
                </a:solidFill>
                <a:latin typeface="Arial"/>
                <a:ea typeface="Arial"/>
                <a:cs typeface="Arial"/>
                <a:sym typeface="Arial"/>
              </a:rPr>
              <a:t>4</a:t>
            </a:r>
          </a:p>
        </p:txBody>
      </p:sp>
      <p:sp>
        <p:nvSpPr>
          <p:cNvPr id="233" name="Vis 233"/>
          <p:cNvSpPr/>
          <p:nvPr/>
        </p:nvSpPr>
        <p:spPr>
          <a:xfrm>
            <a:off x="7360920" y="4379976"/>
            <a:ext cx="4041648" cy="685800"/>
          </a:xfrm>
          <a:prstGeom prst="rect">
            <a:avLst/>
          </a:prstGeom>
          <a:noFill/>
          <a:ln>
            <a:noFill/>
          </a:ln>
        </p:spPr>
        <p:txBody>
          <a:bodyPr wrap="square" lIns="0" tIns="0" rIns="0" bIns="0" anchor="t">
            <a:noAutofit/>
          </a:bodyPr>
          <a:lstStyle/>
          <a:p>
            <a:pPr algn="l" indent="0" marL="0">
              <a:spcAft>
                <a:spcPts val="200"/>
              </a:spcAft>
              <a:buNone/>
            </a:pPr>
            <a:r>
              <a:rPr lang="en-US" sz="1250" b="1" dirty="0">
                <a:solidFill>
                  <a:srgbClr val="141414"/>
                </a:solidFill>
                <a:latin typeface="Arial"/>
                <a:ea typeface="Arial"/>
                <a:cs typeface="Arial"/>
                <a:sym typeface="Arial"/>
              </a:rPr>
              <a:t>Count the yeses</a:t>
            </a:r>
          </a:p>
          <a:p>
            <a:pPr algn="l" indent="0" marL="0">
              <a:lnSpc>
                <a:spcPts val="1300"/>
              </a:lnSpc>
              <a:buNone/>
            </a:pPr>
            <a:r>
              <a:rPr lang="en-US" sz="1050" dirty="0">
                <a:solidFill>
                  <a:srgbClr val="2A2724"/>
                </a:solidFill>
                <a:latin typeface="Arial"/>
                <a:ea typeface="Arial"/>
                <a:cs typeface="Arial"/>
                <a:sym typeface="Arial"/>
              </a:rPr>
              <a:t>In code, not in the model's head.</a:t>
            </a:r>
          </a:p>
        </p:txBody>
      </p:sp>
      <p:sp>
        <p:nvSpPr>
          <p:cNvPr id="234" name="Vis 234"/>
          <p:cNvSpPr/>
          <p:nvPr/>
        </p:nvSpPr>
        <p:spPr>
          <a:xfrm>
            <a:off x="6903720" y="5138928"/>
            <a:ext cx="4498848" cy="868680"/>
          </a:xfrm>
          <a:prstGeom prst="rect">
            <a:avLst/>
          </a:prstGeom>
          <a:solidFill>
            <a:srgbClr val="F7E6E0"/>
          </a:solidFill>
          <a:ln>
            <a:noFill/>
          </a:ln>
        </p:spPr>
      </p:sp>
      <p:sp>
        <p:nvSpPr>
          <p:cNvPr id="235" name="Vis 235"/>
          <p:cNvSpPr/>
          <p:nvPr/>
        </p:nvSpPr>
        <p:spPr>
          <a:xfrm>
            <a:off x="7068312" y="5157216"/>
            <a:ext cx="4169664" cy="832104"/>
          </a:xfrm>
          <a:prstGeom prst="rect">
            <a:avLst/>
          </a:prstGeom>
          <a:noFill/>
          <a:ln>
            <a:noFill/>
          </a:ln>
        </p:spPr>
        <p:txBody>
          <a:bodyPr wrap="square" lIns="0" tIns="0" rIns="0" bIns="0" anchor="ctr">
            <a:noAutofit/>
          </a:bodyPr>
          <a:lstStyle/>
          <a:p>
            <a:pPr algn="l" indent="0" marL="0">
              <a:lnSpc>
                <a:spcPts val="1350"/>
              </a:lnSpc>
              <a:spcAft>
                <a:spcPts val="300"/>
              </a:spcAft>
              <a:buNone/>
            </a:pPr>
            <a:r>
              <a:rPr lang="en-US" sz="1050" dirty="0">
                <a:solidFill>
                  <a:srgbClr val="141414"/>
                </a:solidFill>
                <a:latin typeface="Arial"/>
                <a:ea typeface="Arial"/>
                <a:cs typeface="Arial"/>
                <a:sym typeface="Arial"/>
              </a:rPr>
              <a:t>Still capped by k: 50 wide cannot count 60. It also costs one long call, so time it.</a:t>
            </a:r>
          </a:p>
          <a:p>
            <a:pPr algn="l" indent="0" marL="0">
              <a:lnSpc>
                <a:spcPts val="1350"/>
              </a:lnSpc>
              <a:buNone/>
            </a:pPr>
            <a:r>
              <a:rPr lang="en-US" sz="1050" b="1" dirty="0">
                <a:solidFill>
                  <a:srgbClr val="C0402A"/>
                </a:solidFill>
                <a:latin typeface="Arial"/>
                <a:ea typeface="Arial"/>
                <a:cs typeface="Arial"/>
                <a:sym typeface="Arial"/>
              </a:rPr>
              <a:t>The better fix is to store year and type at build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Chatbot Challenge 2026: Workshop 2</dc:title>
  <dc:subject>PptxGenJS Presentation</dc:subject>
  <dc:creator>Tam Wing Fan Innovation Wing</dc:creator>
  <cp:lastModifiedBy>Tam Wing Fan Innovation Wing</cp:lastModifiedBy>
  <cp:revision>1</cp:revision>
  <dcterms:created xsi:type="dcterms:W3CDTF">2026-09-07T08:42:44Z</dcterms:created>
  <dcterms:modified xsi:type="dcterms:W3CDTF">2026-09-07T08:42:44Z</dcterms:modified>
</cp:coreProperties>
</file>